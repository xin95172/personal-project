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金融數據分析　期中報告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48A81"/>
                </a:solidFill>
              </a:rPr>
              <a:t>共同三家標的 + 個別第四家標的之效率前緣比較與整合分析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F0F4F8"/>
                </a:solidFill>
              </a:rPr>
              <a:t>共同三家：AAPL</a:t>
            </a:r>
            <a:r>
              <a:rPr sz="1600" b="0" dirty="0">
                <a:solidFill>
                  <a:srgbClr val="F0F4F8"/>
                </a:solidFill>
              </a:rPr>
              <a:t>　JPM　XOM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F0F4F8"/>
                </a:solidFill>
              </a:rPr>
              <a:t>第四家：GLD｜TLT｜VNQ｜DJP</a:t>
            </a:r>
            <a:endParaRPr sz="1600" b="0" dirty="0">
              <a:solidFill>
                <a:srgbClr val="F0F4F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366768"/>
            <a:ext cx="10972800" cy="225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97"/>
              </a:lnSpc>
            </a:pP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611436002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財碩一</a:t>
            </a: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孔亭諭</a:t>
            </a:r>
            <a:endParaRPr lang="en-US" altLang="zh-TW" sz="1400" dirty="0">
              <a:solidFill>
                <a:srgbClr val="F0F4F8"/>
              </a:solidFill>
              <a:sym typeface="Quicksand"/>
            </a:endParaRPr>
          </a:p>
          <a:p>
            <a:pPr algn="ctr">
              <a:lnSpc>
                <a:spcPts val="4397"/>
              </a:lnSpc>
            </a:pP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611436003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財碩一</a:t>
            </a: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蕭靖諠</a:t>
            </a:r>
            <a:endParaRPr lang="en-US" altLang="zh-TW" sz="1400" dirty="0">
              <a:solidFill>
                <a:srgbClr val="F0F4F8"/>
              </a:solidFill>
              <a:sym typeface="Quicksand"/>
            </a:endParaRPr>
          </a:p>
          <a:p>
            <a:pPr algn="ctr">
              <a:lnSpc>
                <a:spcPts val="4397"/>
              </a:lnSpc>
            </a:pP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611436004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財碩一</a:t>
            </a: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李宜璇</a:t>
            </a:r>
            <a:endParaRPr lang="en-US" altLang="zh-TW" sz="1400" dirty="0">
              <a:solidFill>
                <a:srgbClr val="F0F4F8"/>
              </a:solidFill>
              <a:sym typeface="Quicksand"/>
            </a:endParaRPr>
          </a:p>
          <a:p>
            <a:pPr lvl="0" algn="ctr">
              <a:lnSpc>
                <a:spcPts val="4397"/>
              </a:lnSpc>
              <a:spcBef>
                <a:spcPct val="0"/>
              </a:spcBef>
            </a:pP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611436006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財碩一</a:t>
            </a:r>
            <a:r>
              <a:rPr lang="en-US" altLang="zh-TW" sz="1400" dirty="0">
                <a:solidFill>
                  <a:srgbClr val="F0F4F8"/>
                </a:solidFill>
                <a:sym typeface="Quicksand"/>
              </a:rPr>
              <a:t> </a:t>
            </a:r>
            <a:r>
              <a:rPr lang="en-US" altLang="zh-TW" sz="1400" dirty="0" err="1">
                <a:solidFill>
                  <a:srgbClr val="F0F4F8"/>
                </a:solidFill>
                <a:sym typeface="Quicksand"/>
              </a:rPr>
              <a:t>葉竹芸</a:t>
            </a:r>
            <a:endParaRPr lang="en-US" altLang="zh-TW" sz="1400" dirty="0">
              <a:solidFill>
                <a:srgbClr val="F0F4F8"/>
              </a:solidFill>
              <a:sym typeface="Quicks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一、研究動機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• 以 Markowitz 效率前緣理論為核心，探討加入不同第四家標的後投資組合的改善效果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• 共同三家（AAPL、JPM、XOM）分屬科技、金融、能源，彼此相關性中等，具備分散化基礎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• 四位組員各自加入一家第四家標的，代表不同資產類別：避險、債券、房地產、原物料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• 研究核心問題：哪一個第四家標的對共同三家的效率前緣改善效果最佳？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二、研究設計與分工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57200" cy="73152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第一階段：全組共同選定三家標的，統一資料設定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457200" cy="73152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第二階段：每人各選一家第四家標的（不重複）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457200" cy="73152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第三階段：各自完成三家vs四家效率前緣分析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457200" cy="73152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第四階段：整合比較四種第四家標的之效果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2E4057"/>
                </a:solidFill>
              </a:defRPr>
            </a:lvl1pPr>
          </a:lstStyle>
          <a:p>
            <a:r>
              <a:rPr dirty="0" err="1"/>
              <a:t>GLD（</a:t>
            </a:r>
            <a:r>
              <a:rPr lang="en-US" altLang="zh-TW" dirty="0" err="1">
                <a:sym typeface="Quicksand"/>
              </a:rPr>
              <a:t>孔亭諭</a:t>
            </a:r>
            <a:r>
              <a:rPr dirty="0"/>
              <a:t>）｜</a:t>
            </a:r>
            <a:r>
              <a:rPr dirty="0" err="1"/>
              <a:t>TLT（</a:t>
            </a:r>
            <a:r>
              <a:rPr lang="en-US" altLang="zh-TW" dirty="0" err="1">
                <a:sym typeface="Quicksand"/>
              </a:rPr>
              <a:t>李宜璇</a:t>
            </a:r>
            <a:r>
              <a:rPr dirty="0"/>
              <a:t>）｜</a:t>
            </a:r>
            <a:r>
              <a:rPr dirty="0" err="1"/>
              <a:t>VNQ（</a:t>
            </a:r>
            <a:r>
              <a:rPr lang="en-US" altLang="zh-TW" dirty="0" err="1">
                <a:sym typeface="Quicksand"/>
              </a:rPr>
              <a:t>蕭靖諠</a:t>
            </a:r>
            <a:r>
              <a:rPr dirty="0"/>
              <a:t>）｜</a:t>
            </a:r>
            <a:r>
              <a:rPr dirty="0" err="1"/>
              <a:t>DJP（</a:t>
            </a:r>
            <a:r>
              <a:rPr lang="en-US" altLang="zh-TW" dirty="0" err="1">
                <a:sym typeface="Quicksand"/>
              </a:rPr>
              <a:t>葉竹芸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三、資料來源與衡量方法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68580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資料來源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Yahoo Finance（Python yfinance 套件抓取）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560320" cy="68580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資料期間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2020年1月 至 2024年12月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2560320" cy="68580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資料頻率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461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月資料（共60期，報酬率59筆）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2560320" cy="68580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報酬率定義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605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R_t = (P_t - P_{t-1}) / P_{t-1}　（簡單報酬率）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2560320" cy="68580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效率前緣建構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74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最小化投資組合變異數，限制 0 ≤ w_i ≤ 1，Σw_i =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四、相關係數矩陣</a:t>
            </a:r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80160"/>
            <a:ext cx="5943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4057"/>
                </a:solidFill>
              </a:rPr>
              <a:t>GLD 與三家相關性極低（最高 0.23），與 XOM 呈負相關（-0.08）→ 分散效果最強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五、效率前緣比較圖</a:t>
            </a:r>
          </a:p>
        </p:txBody>
      </p:sp>
      <p:pic>
        <p:nvPicPr>
          <p:cNvPr id="4" name="Picture 3" descr="efficient_frontier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六、MVP 數字比較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7830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第四家標的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280160"/>
            <a:ext cx="17830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39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三家MVP報酬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280160"/>
            <a:ext cx="17830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三家MVP風險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280160"/>
            <a:ext cx="17830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四家MVP報酬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280160"/>
            <a:ext cx="17830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四家MVP風險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280160"/>
            <a:ext cx="242316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風險下降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0240"/>
            <a:ext cx="1783080" cy="7315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1965960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dirty="0" err="1">
                <a:solidFill>
                  <a:srgbClr val="1A1A2E"/>
                </a:solidFill>
              </a:rPr>
              <a:t>GLD（</a:t>
            </a:r>
            <a:r>
              <a:rPr lang="en-US" altLang="zh-TW" sz="1300" dirty="0" err="1">
                <a:solidFill>
                  <a:srgbClr val="1A1A2E"/>
                </a:solidFill>
                <a:sym typeface="Quicksand"/>
              </a:rPr>
              <a:t>孔亭諭</a:t>
            </a:r>
            <a:r>
              <a:rPr sz="1300" b="0" dirty="0">
                <a:solidFill>
                  <a:srgbClr val="1A1A2E"/>
                </a:solidFill>
              </a:rPr>
              <a:t>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920240"/>
            <a:ext cx="1783080" cy="7315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39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1920240"/>
            <a:ext cx="1783080" cy="7315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77639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0.0646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920240"/>
            <a:ext cx="1783080" cy="7315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0644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0.0114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1920240"/>
            <a:ext cx="1783080" cy="7315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3524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0.0360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1920240"/>
            <a:ext cx="2423160" cy="7315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404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44.32%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4320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2788920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dirty="0" err="1">
                <a:solidFill>
                  <a:srgbClr val="1A1A2E"/>
                </a:solidFill>
              </a:rPr>
              <a:t>TLT（</a:t>
            </a:r>
            <a:r>
              <a:rPr lang="en-US" altLang="zh-TW" sz="1300" dirty="0" err="1">
                <a:solidFill>
                  <a:srgbClr val="1A1A2E"/>
                </a:solidFill>
                <a:sym typeface="Quicksand"/>
              </a:rPr>
              <a:t>李宜璇</a:t>
            </a:r>
            <a:r>
              <a:rPr sz="1300" dirty="0">
                <a:solidFill>
                  <a:srgbClr val="1A1A2E"/>
                </a:solidFill>
              </a:rPr>
              <a:t>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74320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48839" y="2788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274320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7639" y="2788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0.0646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74320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06440" y="2788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74320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35240" y="2788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0.0374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2743200"/>
            <a:ext cx="2423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42.09%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56616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3611880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dirty="0" err="1">
                <a:solidFill>
                  <a:srgbClr val="1A1A2E"/>
                </a:solidFill>
              </a:rPr>
              <a:t>VNQ（</a:t>
            </a:r>
            <a:r>
              <a:rPr lang="en-US" altLang="zh-TW" sz="1300" dirty="0" err="1">
                <a:solidFill>
                  <a:srgbClr val="1A1A2E"/>
                </a:solidFill>
                <a:sym typeface="Quicksand"/>
              </a:rPr>
              <a:t>蕭靖諠</a:t>
            </a:r>
            <a:r>
              <a:rPr sz="1300" dirty="0">
                <a:solidFill>
                  <a:srgbClr val="1A1A2E"/>
                </a:solidFill>
              </a:rPr>
              <a:t>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356616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48839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0.0200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356616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39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0.0646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356616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064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0.0149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356616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352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0.0614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18320" y="3566160"/>
            <a:ext cx="2423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64040" y="3611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5.04%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38912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4434840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dirty="0" err="1">
                <a:solidFill>
                  <a:srgbClr val="1A1A2E"/>
                </a:solidFill>
              </a:rPr>
              <a:t>DJP（</a:t>
            </a:r>
            <a:r>
              <a:rPr lang="en-US" altLang="zh-TW" sz="1300" dirty="0" err="1">
                <a:solidFill>
                  <a:srgbClr val="1A1A2E"/>
                </a:solidFill>
                <a:sym typeface="Quicksand"/>
              </a:rPr>
              <a:t>葉竹芸</a:t>
            </a:r>
            <a:r>
              <a:rPr sz="1300" dirty="0">
                <a:solidFill>
                  <a:srgbClr val="1A1A2E"/>
                </a:solidFill>
              </a:rPr>
              <a:t>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438912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148839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0.0200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0" y="438912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77639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0.0646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438912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806440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0.0122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438912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35240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0.0482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4389120"/>
            <a:ext cx="2423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64040" y="4434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</a:rPr>
              <a:t>25.41%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860B"/>
                </a:solidFill>
              </a:rPr>
              <a:t>★ GLD 列為金色標示（風險下降幅度最大）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七、小組整合比較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1546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第四家標的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280160"/>
            <a:ext cx="26974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39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風險下降幅度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242316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報酬變化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280160"/>
            <a:ext cx="3154680" cy="5486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綜合評估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20240"/>
            <a:ext cx="3154680" cy="7772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659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GLD 黃金ETF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920240"/>
            <a:ext cx="2697480" cy="7772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39" y="19659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44.32%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423160" cy="7772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-43.16%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920240"/>
            <a:ext cx="3154680" cy="7772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19659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★ 最佳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34640"/>
            <a:ext cx="3154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8803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TLT 債券ETF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83464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39" y="28803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42.09%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34640"/>
            <a:ext cx="24231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-99.23%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834640"/>
            <a:ext cx="3154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2520" y="28803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報酬犧牲過大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49039"/>
            <a:ext cx="3154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37947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VNQ 房地產ETF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749039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39" y="37947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5.04%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24231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37947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-25.48%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3749039"/>
            <a:ext cx="3154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37947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改善效果最小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63440"/>
            <a:ext cx="3154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47091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DJP 原物料ETF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66344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20439" y="47091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25.41%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663440"/>
            <a:ext cx="24231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47091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-38.94%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4663440"/>
            <a:ext cx="3154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32520" y="47091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中等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5760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4057"/>
                </a:solidFill>
              </a:rPr>
              <a:t>結論：GLD 風險下降幅度最大（44.32%），且無 TLT 報酬幾乎歸零的問題，為最佳第四家標的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八、結論與反思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✦ GLD 黃金ETF 為最佳第四家標的，風險下降 44.32%，相關性結構是關鍵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✦ 資產相關性是決定分散效果的核心：GLD vs XOM 呈負相關（-0.08）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✦ TLT 雖風險下降 42%，但升息環境下報酬幾乎歸零，不具投資效率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✦ VNQ 與三家高度相關（0.61、0.65），邊際分散效果最小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</a:rPr>
              <a:t>✦ 方法限制：歷史資料不保證未來、未考慮交易成本、不允許放空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</a:rPr>
              <a:t>✦ AI 協作效益：提升程式效率，但金融邏輯判斷仍需研究者自行驗證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380</Words>
  <Application>Microsoft Office PowerPoint</Application>
  <PresentationFormat>自訂</PresentationFormat>
  <Paragraphs>94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Quicksand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汝貴 蕭</cp:lastModifiedBy>
  <cp:revision>4</cp:revision>
  <dcterms:created xsi:type="dcterms:W3CDTF">2013-01-27T09:14:00Z</dcterms:created>
  <dcterms:modified xsi:type="dcterms:W3CDTF">2026-05-01T04:00:23Z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2E2E10CBA7EC4B509F275EE3135C489C_13</vt:lpwstr>
  </property>
  <property fmtid="{D5CDD505-2E9C-101B-9397-08002B2CF9AE}" pid="3" name="KSOProductBuildVer">
    <vt:lpwstr>1033-12.2.0.22549</vt:lpwstr>
  </property>
</Properties>
</file>