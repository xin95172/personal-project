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1.xml" ContentType="application/vnd.openxmlformats-officedocument.drawingml.chart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20" d="100"/>
          <a:sy n="120" d="100"/>
        </p:scale>
        <p:origin x="8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v>Direct SVM − MNIR</c:v>
          </c:tx>
          <c:spPr>
            <a:solidFill>
              <a:srgbClr val="3D8DFF"/>
            </a:solidFill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 anchorCtr="1"/>
              <a:lstStyle/>
              <a:p>
                <a:pPr>
                  <a:defRPr sz="1275" b="1">
                    <a:solidFill>
                      <a:srgbClr val="111827"/>
                    </a:solidFill>
                  </a:defRPr>
                </a:pPr>
                <a:endParaRPr lang="en-TW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4"/>
              <c:pt idx="0">
                <c:v>行政</c:v>
              </c:pt>
              <c:pt idx="1">
                <c:v>民事</c:v>
              </c:pt>
              <c:pt idx="2">
                <c:v>刑事</c:v>
              </c:pt>
              <c:pt idx="3">
                <c:v>刑事附帶民事</c:v>
              </c:pt>
            </c:strLit>
          </c:cat>
          <c:val>
            <c:numLit>
              <c:formatCode>General</c:formatCode>
              <c:ptCount val="4"/>
              <c:pt idx="0">
                <c:v>7.2999999999999995E-2</c:v>
              </c:pt>
              <c:pt idx="1">
                <c:v>7.4999999999999997E-2</c:v>
              </c:pt>
              <c:pt idx="2">
                <c:v>0.187</c:v>
              </c:pt>
              <c:pt idx="3">
                <c:v>0.109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EC99-0B46-A83D-E661C9518470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  <a:endParaRPr lang="en-TW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C6CCD3"/>
            </a:solidFill>
            <a:prstDash val="solid"/>
          </a:ln>
        </c:spPr>
        <c:txPr>
          <a:bodyPr anchorCtr="1"/>
          <a:lstStyle/>
          <a:p>
            <a:pPr>
              <a:defRPr sz="1350">
                <a:solidFill>
                  <a:srgbClr val="111827"/>
                </a:solidFill>
              </a:defRPr>
            </a:pPr>
            <a:endParaRPr lang="en-TW"/>
          </a:p>
        </c:txPr>
        <c:crossAx val="48650112"/>
        <c:crosses val="autoZero"/>
        <c:crossBetween val="between"/>
      </c:valAx>
    </c:plotArea>
    <c:plotVisOnly val="1"/>
    <c:dispBlanksAs val="zero"/>
    <c:showDLblsOverMax val="1"/>
  </c:chart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各位評審好。本研究面對的是超過四萬五千篇的法律裁判書。每天閱讀 10 篇，讀完這些裁判書會需要超過 12 年。面對這麼大量的文本，我想問的是：即使不逐句理解每一份裁判書的完整意義，只觀察詞彙出現的分布，能不能區分案件最後是敗訴、部分勝訴，還是勝訴？這就是我的論文題目「判決文本會說話嗎？以臺灣智慧財產權判決文本分類為例」。</a:t>
            </a:r>
          </a:p>
          <a:p>
            <a:endParaRPr/>
          </a:p>
          <a:p>
            <a:r>
              <a:t>[Sources]</a:t>
            </a:r>
          </a:p>
          <a:p>
            <a:r>
              <a:t>- 研究講稿：判決文本會說話嗎_崇越決賽_10分鐘講稿.md</a:t>
            </a:r>
          </a:p>
          <a:p>
            <a:r>
              <a:t>- 原始論文：判決文本會說話嗎？.docx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法院公開大量判決書，但資料主要以文章的方式存在。要進行大規模實證分析，仍需要建立一致、可運算的文本特徵與評估流程。所以這份研究以 BoW、TF 與 TF-IDF 把文字轉換為可比較的特徵，並觀察詞彙分布是否足以區分裁判結果。不同程序的智慧財產權案件，即使都屬於同一領域，文本結構與結果分布也不一定相同。因此，這份研究更想比較不同案件類型、不同文字表示與不同模型流程，會不會得到不同的分類效果。</a:t>
            </a:r>
          </a:p>
          <a:p>
            <a:endParaRPr/>
          </a:p>
          <a:p>
            <a:r>
              <a:t>[Sources]</a:t>
            </a:r>
          </a:p>
          <a:p>
            <a:r>
              <a:t>- 研究講稿：判決文本會說話嗎_崇越決賽_10分鐘講稿.md</a:t>
            </a:r>
          </a:p>
          <a:p>
            <a:r>
              <a:t>- 原始論文：判決文本會說話嗎？.docx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本研究蒐集 1996 年至 2024 年的臺灣智慧財產權相關裁判書。原始資料共有 90,027 篇，經過案件篩選後，最後保留 45,344 篇判決。案件分為行政、民事、刑事與刑事附帶民事四種類型；裁判結果整理為敗訴、部分勝訴與勝訴三類。值得注意的是，刑事附帶民事案件有逐年成長的趨勢。這邊的推測是部分權利人會在提告時傾向先提出刑事，增加威嚇力。</a:t>
            </a:r>
          </a:p>
          <a:p>
            <a:endParaRPr/>
          </a:p>
          <a:p>
            <a:r>
              <a:t>[Sources]</a:t>
            </a:r>
          </a:p>
          <a:p>
            <a:r>
              <a:t>- 研究講稿：判決文本會說話嗎_崇越決賽_10分鐘講稿.md</a:t>
            </a:r>
          </a:p>
          <a:p>
            <a:r>
              <a:t>- 原始論文：判決文本會說話嗎？.docx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研究流程首先進行文本清理與中文斷詞，並將判決結果整理為三類標籤。為了降低模型直接依賴結論用語的可能性，我先把「駁回」、「准許」、「有理由」這些詞彙移除掉。接著，分別使用 BoW、TF 與 TF-IDF，將文字轉換成模型可以處理的數值特徵。在模型流程上，比較兩種方法：第一種是經過卡方特徵選擇後，直接使用 SVM；第二種是在卡方選擇後加入 MNIR 監督式特徵轉換和降維，再使用 SVM。資料分成訓練集、驗證集與測試集。</a:t>
            </a:r>
          </a:p>
          <a:p>
            <a:endParaRPr/>
          </a:p>
          <a:p>
            <a:r>
              <a:t>[Sources]</a:t>
            </a:r>
          </a:p>
          <a:p>
            <a:r>
              <a:t>- 研究講稿：判決文本會說話嗎_崇越決賽_10分鐘講稿.md</a:t>
            </a:r>
          </a:p>
          <a:p>
            <a:r>
              <a:t>- 原始論文：判決文本會說話嗎？.docx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第一個發現相當反直覺。在四類案件中，在卡方篩選後，直接使用 SVM 的 Macro F1 都高於有加入 MNIR 的流程。而且四個資料集的 95% paired bootstrap 信賴區間皆未跨越零。這表示，在本研究的資料與設定下，增加 MNIR 特徵轉換，並沒有帶來額外的加分效果。一個可能的解釋是，SVM 的優勢是可以找到一個高維平面做分類，但 MNIR 先把這些特徵壓縮為二維分數，反而讓一些可以提供分類的訊號無法再被利用。這仍然是推論，而不是已經確立的結論。</a:t>
            </a:r>
          </a:p>
          <a:p>
            <a:endParaRPr/>
          </a:p>
          <a:p>
            <a:r>
              <a:t>[Sources]</a:t>
            </a:r>
          </a:p>
          <a:p>
            <a:r>
              <a:t>- 研究講稿：判決文本會說話嗎_崇越決賽_10分鐘講稿.md</a:t>
            </a:r>
          </a:p>
          <a:p>
            <a:r>
              <a:t>- 原始論文：判決文本會說話嗎？.docx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第二個發現是最佳文字表示依案件而異：行政為 BoW、民事為 TF-IDF、刑事為 TF、刑事附帶民事為 BoW。模型效果不只由演算法決定，也受到制度程序與文本生成方式影響。</a:t>
            </a:r>
          </a:p>
          <a:p>
            <a:endParaRPr/>
          </a:p>
          <a:p>
            <a:r>
              <a:t>[Sources]</a:t>
            </a:r>
          </a:p>
          <a:p>
            <a:r>
              <a:t>- 研究講稿：判決文本會說話嗎_崇越決賽_10分鐘講稿.md</a:t>
            </a:r>
          </a:p>
          <a:p>
            <a:r>
              <a:t>- 原始論文：判決文本會說話嗎？.docx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第三個發現是類別不平衡的問題。以民事案件最佳模型為例，Accuracy 是 0.680，但 Macro F1 只有 0.428。敗訴的 F1 是 0.802，部分勝訴是 0.352，勝訴則只有 0.130。測試集中實際勝訴的 86 件案件裡，只有 7 件被正確辨識為勝訴。這代表模型主要學到的是最常見的結果，也就是敗訴。下一步不該只是換更複雜模型，而要拆解高度異質的 Mixed 標籤、採用類別權重或重抽樣。</a:t>
            </a:r>
          </a:p>
          <a:p>
            <a:endParaRPr/>
          </a:p>
          <a:p>
            <a:r>
              <a:t>[Sources]</a:t>
            </a:r>
          </a:p>
          <a:p>
            <a:r>
              <a:t>- 研究講稿：判決文本會說話嗎_崇越決賽_10分鐘講稿.md</a:t>
            </a:r>
          </a:p>
          <a:p>
            <a:r>
              <a:t>- 原始論文：判決文本會說話嗎？.docx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模型最直接的輸出是敗訴、部分勝訴與勝訴三類標籤。但本研究處理的是已完成判決的文本分類，不是事前預測個案勝敗，當然也拿不到告訴人事前準備的法律材料。標籤可以協助大量判決的初步整理、資料結構化、樣本篩選與案件分布掌握。研究價值不只在產生標籤：建立可重複比較的智慧財產權判決分類流程；發現案件類型適合的文字特徵不同；Direct SVM 提供後續模型一個比較基準；並指出模型改善不能只追求 Accuracy，而要同時處理少數類別樣本不足與標籤不平衡。</a:t>
            </a:r>
          </a:p>
          <a:p>
            <a:endParaRPr/>
          </a:p>
          <a:p>
            <a:r>
              <a:t>[Sources]</a:t>
            </a:r>
          </a:p>
          <a:p>
            <a:r>
              <a:t>- 研究講稿：判決文本會說話嗎_崇越決賽_10分鐘講稿.md</a:t>
            </a:r>
          </a:p>
          <a:p>
            <a:r>
              <a:t>- 原始論文：判決文本會說話嗎？.docx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最後回到題目：判決文本確實會說話，移除明顯結果詞後仍有一定分類訊號。但它是有條件的：案件類型不同、複雜方法不一定較佳，而且 Accuracy 可能遮蔽少數類別失敗。這些結果是後續使用深度學習與預訓練模型時的比較基礎。</a:t>
            </a:r>
          </a:p>
          <a:p>
            <a:endParaRPr/>
          </a:p>
          <a:p>
            <a:r>
              <a:t>[Sources]</a:t>
            </a:r>
          </a:p>
          <a:p>
            <a:r>
              <a:t>- 研究講稿：判決文本會說話嗎_崇越決賽_10分鐘講稿.md</a:t>
            </a:r>
          </a:p>
          <a:p>
            <a:r>
              <a:t>- 原始論文：判決文本會說話嗎？.docx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ver-title">
            <a:extLst>
              <a:ext uri="{FF2B5EF4-FFF2-40B4-BE49-F238E27FC236}">
                <a16:creationId xmlns:a16="http://schemas.microsoft.com/office/drawing/2014/main" id="{F649DE07-C0CA-425F-B89E-1C4E72382302}"/>
              </a:ext>
            </a:extLst>
          </p:cNvPr>
          <p:cNvSpPr>
            <a:spLocks noGrp="1"/>
          </p:cNvSpPr>
          <p:nvPr/>
        </p:nvSpPr>
        <p:spPr>
          <a:xfrm>
            <a:off x="685800" y="1428750"/>
            <a:ext cx="6096000" cy="1524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4800" b="1">
                <a:solidFill>
                  <a:srgbClr val="111827"/>
                </a:solidFill>
              </a:defRPr>
            </a:pPr>
            <a:r>
              <a:rPr sz="4800" b="1">
                <a:solidFill>
                  <a:srgbClr val="111827"/>
                </a:solidFill>
              </a:rPr>
              <a:t>判決文本</a:t>
            </a:r>
          </a:p>
          <a:p>
            <a:pPr>
              <a:defRPr sz="4800" b="1">
                <a:solidFill>
                  <a:srgbClr val="111827"/>
                </a:solidFill>
              </a:defRPr>
            </a:pPr>
            <a:r>
              <a:rPr sz="4800" b="1">
                <a:solidFill>
                  <a:srgbClr val="111827"/>
                </a:solidFill>
              </a:rPr>
              <a:t>會說話嗎？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08571D6-393B-42C2-BCDF-ED594D955900}"/>
              </a:ext>
            </a:extLst>
          </p:cNvPr>
          <p:cNvSpPr>
            <a:spLocks noGrp="1"/>
          </p:cNvSpPr>
          <p:nvPr/>
        </p:nvSpPr>
        <p:spPr>
          <a:xfrm>
            <a:off x="685800" y="3181350"/>
            <a:ext cx="5524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875" b="0">
                <a:solidFill>
                  <a:srgbClr val="5D6775"/>
                </a:solidFill>
              </a:defRPr>
            </a:pPr>
            <a:r>
              <a:rPr sz="1875" b="0">
                <a:solidFill>
                  <a:srgbClr val="5D6775"/>
                </a:solidFill>
              </a:rPr>
              <a:t>以臺灣智慧財產權判決文本分類為例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2EB1886-A954-4649-A9BD-6043692AA6A7}"/>
              </a:ext>
            </a:extLst>
          </p:cNvPr>
          <p:cNvSpPr>
            <a:spLocks noGrp="1"/>
          </p:cNvSpPr>
          <p:nvPr/>
        </p:nvSpPr>
        <p:spPr>
          <a:xfrm>
            <a:off x="685800" y="3886200"/>
            <a:ext cx="4953000" cy="47625"/>
          </a:xfrm>
          <a:prstGeom prst="rect">
            <a:avLst/>
          </a:prstGeom>
          <a:solidFill>
            <a:srgbClr val="3D8DFF"/>
          </a:solidFill>
          <a:ln w="0">
            <a:noFill/>
            <a:prstDash val="solid"/>
          </a:ln>
        </p:spPr>
        <p:txBody>
          <a:bodyPr anchor="ctr"/>
          <a:lstStyle/>
          <a:p>
            <a:endParaRPr lang="en-TW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2DEDA79-A670-48F9-A623-5F69A54EFD15}"/>
              </a:ext>
            </a:extLst>
          </p:cNvPr>
          <p:cNvSpPr>
            <a:spLocks noGrp="1"/>
          </p:cNvSpPr>
          <p:nvPr/>
        </p:nvSpPr>
        <p:spPr>
          <a:xfrm>
            <a:off x="7600950" y="952500"/>
            <a:ext cx="3219450" cy="4667250"/>
          </a:xfrm>
          <a:prstGeom prst="rect">
            <a:avLst/>
          </a:prstGeom>
          <a:solidFill>
            <a:srgbClr val="F8FAFC"/>
          </a:solidFill>
          <a:ln w="0">
            <a:noFill/>
            <a:prstDash val="solid"/>
          </a:ln>
        </p:spPr>
        <p:txBody>
          <a:bodyPr anchor="ctr"/>
          <a:lstStyle/>
          <a:p>
            <a:endParaRPr lang="en-TW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AF62904-9AF1-401B-8DDF-4528083576BF}"/>
              </a:ext>
            </a:extLst>
          </p:cNvPr>
          <p:cNvSpPr>
            <a:spLocks noGrp="1"/>
          </p:cNvSpPr>
          <p:nvPr/>
        </p:nvSpPr>
        <p:spPr>
          <a:xfrm>
            <a:off x="7886700" y="1447800"/>
            <a:ext cx="26670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4350" b="1">
                <a:solidFill>
                  <a:srgbClr val="3D8DFF"/>
                </a:solidFill>
              </a:defRPr>
            </a:pPr>
            <a:r>
              <a:rPr sz="4350" b="1">
                <a:solidFill>
                  <a:srgbClr val="3D8DFF"/>
                </a:solidFill>
              </a:rPr>
              <a:t>45,344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C3F3225-3F4B-4666-B4C9-9E406B149CEF}"/>
              </a:ext>
            </a:extLst>
          </p:cNvPr>
          <p:cNvSpPr>
            <a:spLocks noGrp="1"/>
          </p:cNvSpPr>
          <p:nvPr/>
        </p:nvSpPr>
        <p:spPr>
          <a:xfrm>
            <a:off x="7905750" y="2209800"/>
            <a:ext cx="2190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425" b="0">
                <a:solidFill>
                  <a:srgbClr val="5D6775"/>
                </a:solidFill>
              </a:defRPr>
            </a:pPr>
            <a:r>
              <a:rPr sz="1425" b="0">
                <a:solidFill>
                  <a:srgbClr val="5D6775"/>
                </a:solidFill>
              </a:rPr>
              <a:t>篇法律裁判書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3AD8C5E-85AC-4882-859A-210A34429A4F}"/>
              </a:ext>
            </a:extLst>
          </p:cNvPr>
          <p:cNvSpPr>
            <a:spLocks noGrp="1"/>
          </p:cNvSpPr>
          <p:nvPr/>
        </p:nvSpPr>
        <p:spPr>
          <a:xfrm>
            <a:off x="7905750" y="2743200"/>
            <a:ext cx="2324100" cy="9525"/>
          </a:xfrm>
          <a:prstGeom prst="rect">
            <a:avLst/>
          </a:prstGeom>
          <a:solidFill>
            <a:srgbClr val="C6CCD3"/>
          </a:solidFill>
          <a:ln w="0">
            <a:noFill/>
            <a:prstDash val="solid"/>
          </a:ln>
        </p:spPr>
        <p:txBody>
          <a:bodyPr anchor="ctr"/>
          <a:lstStyle/>
          <a:p>
            <a:endParaRPr lang="en-TW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61E5324-A213-4462-BBA4-94AD2AB46C2B}"/>
              </a:ext>
            </a:extLst>
          </p:cNvPr>
          <p:cNvSpPr>
            <a:spLocks noGrp="1"/>
          </p:cNvSpPr>
          <p:nvPr/>
        </p:nvSpPr>
        <p:spPr>
          <a:xfrm>
            <a:off x="7905750" y="3143250"/>
            <a:ext cx="200025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2175" b="1">
                <a:solidFill>
                  <a:srgbClr val="111827"/>
                </a:solidFill>
              </a:defRPr>
            </a:pPr>
            <a:r>
              <a:rPr sz="2175" b="1">
                <a:solidFill>
                  <a:srgbClr val="111827"/>
                </a:solidFill>
              </a:rPr>
              <a:t>每天 10 篇</a:t>
            </a:r>
          </a:p>
          <a:p>
            <a:pPr>
              <a:defRPr sz="2175" b="1">
                <a:solidFill>
                  <a:srgbClr val="111827"/>
                </a:solidFill>
              </a:defRPr>
            </a:pPr>
            <a:r>
              <a:rPr sz="2175" b="1">
                <a:solidFill>
                  <a:srgbClr val="111827"/>
                </a:solidFill>
              </a:rPr>
              <a:t>超過 12 年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5FD2FE8-3C39-4761-95FD-C51FAA7E0AD3}"/>
              </a:ext>
            </a:extLst>
          </p:cNvPr>
          <p:cNvSpPr>
            <a:spLocks noGrp="1"/>
          </p:cNvSpPr>
          <p:nvPr/>
        </p:nvSpPr>
        <p:spPr>
          <a:xfrm>
            <a:off x="7905750" y="4714875"/>
            <a:ext cx="2333625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350" b="0">
                <a:solidFill>
                  <a:srgbClr val="5D6775"/>
                </a:solidFill>
              </a:defRPr>
            </a:pPr>
            <a:r>
              <a:rPr sz="1350" b="0">
                <a:solidFill>
                  <a:srgbClr val="5D6775"/>
                </a:solidFill>
              </a:rPr>
              <a:t>詞彙分布是否留下</a:t>
            </a:r>
          </a:p>
          <a:p>
            <a:pPr>
              <a:defRPr sz="1350" b="0">
                <a:solidFill>
                  <a:srgbClr val="5D6775"/>
                </a:solidFill>
              </a:defRPr>
            </a:pPr>
            <a:r>
              <a:rPr sz="1350" b="0">
                <a:solidFill>
                  <a:srgbClr val="5D6775"/>
                </a:solidFill>
              </a:rPr>
              <a:t>可辨識的結果訊號？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ABBF5B4-CEFA-419C-821D-4FC4EF441E27}"/>
              </a:ext>
            </a:extLst>
          </p:cNvPr>
          <p:cNvSpPr>
            <a:spLocks noGrp="1"/>
          </p:cNvSpPr>
          <p:nvPr/>
        </p:nvSpPr>
        <p:spPr>
          <a:xfrm>
            <a:off x="11163300" y="6457950"/>
            <a:ext cx="3429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825" b="1">
                <a:solidFill>
                  <a:srgbClr val="5D6775"/>
                </a:solidFill>
              </a:defRPr>
            </a:pPr>
            <a:r>
              <a:rPr sz="825" b="1">
                <a:solidFill>
                  <a:srgbClr val="5D6775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2598113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29427281-3B13-49B9-9621-805129EF2E11}"/>
              </a:ext>
            </a:extLst>
          </p:cNvPr>
          <p:cNvSpPr>
            <a:spLocks noGrp="1"/>
          </p:cNvSpPr>
          <p:nvPr/>
        </p:nvSpPr>
        <p:spPr>
          <a:xfrm>
            <a:off x="685800" y="457200"/>
            <a:ext cx="3333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050" b="1">
                <a:solidFill>
                  <a:srgbClr val="3D8DFF"/>
                </a:solidFill>
              </a:defRPr>
            </a:pPr>
            <a:r>
              <a:rPr sz="1050" b="1">
                <a:solidFill>
                  <a:srgbClr val="3D8DFF"/>
                </a:solidFill>
              </a:rPr>
              <a:t>研究問題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1CB770FE-E6EC-4BDC-A115-41E984843DF5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287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2850" b="1">
                <a:solidFill>
                  <a:srgbClr val="111827"/>
                </a:solidFill>
              </a:defRPr>
            </a:pPr>
            <a:r>
              <a:rPr sz="2850" b="1">
                <a:solidFill>
                  <a:srgbClr val="111827"/>
                </a:solidFill>
              </a:rPr>
              <a:t>大量公開的判決，仍難以看見整體規律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A7DD7C6-94B4-4539-962F-9B17F545DD46}"/>
              </a:ext>
            </a:extLst>
          </p:cNvPr>
          <p:cNvSpPr>
            <a:spLocks noGrp="1"/>
          </p:cNvSpPr>
          <p:nvPr/>
        </p:nvSpPr>
        <p:spPr>
          <a:xfrm>
            <a:off x="685800" y="1381125"/>
            <a:ext cx="9906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275" b="0">
                <a:solidFill>
                  <a:srgbClr val="5D6775"/>
                </a:solidFill>
              </a:defRPr>
            </a:pPr>
            <a:r>
              <a:rPr sz="1275" b="0">
                <a:solidFill>
                  <a:srgbClr val="5D6775"/>
                </a:solidFill>
              </a:rPr>
              <a:t>非結構化文本需要一套一致、可運算、可比較的研究流程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4054108-1EE4-4BEB-BEF7-DB3B0A929A45}"/>
              </a:ext>
            </a:extLst>
          </p:cNvPr>
          <p:cNvSpPr>
            <a:spLocks noGrp="1"/>
          </p:cNvSpPr>
          <p:nvPr/>
        </p:nvSpPr>
        <p:spPr>
          <a:xfrm>
            <a:off x="685800" y="1790700"/>
            <a:ext cx="10820400" cy="19050"/>
          </a:xfrm>
          <a:prstGeom prst="rect">
            <a:avLst/>
          </a:prstGeom>
          <a:solidFill>
            <a:srgbClr val="C6CCD3"/>
          </a:solidFill>
          <a:ln w="0">
            <a:noFill/>
            <a:prstDash val="solid"/>
          </a:ln>
        </p:spPr>
        <p:txBody>
          <a:bodyPr anchor="ctr"/>
          <a:lstStyle/>
          <a:p>
            <a:endParaRPr lang="en-TW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C7FA610-62E3-4E70-B8CD-333E6BCB9482}"/>
              </a:ext>
            </a:extLst>
          </p:cNvPr>
          <p:cNvSpPr>
            <a:spLocks noGrp="1"/>
          </p:cNvSpPr>
          <p:nvPr/>
        </p:nvSpPr>
        <p:spPr>
          <a:xfrm>
            <a:off x="685800" y="2305050"/>
            <a:ext cx="4905375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2100" b="1">
                <a:solidFill>
                  <a:srgbClr val="111827"/>
                </a:solidFill>
              </a:defRPr>
            </a:pPr>
            <a:r>
              <a:rPr sz="2100" b="1">
                <a:solidFill>
                  <a:srgbClr val="111827"/>
                </a:solidFill>
              </a:rPr>
              <a:t>法院公開大量判決書，但它們多半仍是</a:t>
            </a:r>
          </a:p>
          <a:p>
            <a:pPr>
              <a:defRPr sz="2100" b="1">
                <a:solidFill>
                  <a:srgbClr val="111827"/>
                </a:solidFill>
              </a:defRPr>
            </a:pPr>
            <a:r>
              <a:rPr sz="2100" b="1">
                <a:solidFill>
                  <a:srgbClr val="111827"/>
                </a:solidFill>
              </a:rPr>
              <a:t>無法直接比較的長篇文字。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370D054-5F68-409F-B39B-FD251C870CEA}"/>
              </a:ext>
            </a:extLst>
          </p:cNvPr>
          <p:cNvSpPr>
            <a:spLocks noGrp="1"/>
          </p:cNvSpPr>
          <p:nvPr/>
        </p:nvSpPr>
        <p:spPr>
          <a:xfrm>
            <a:off x="685800" y="3714750"/>
            <a:ext cx="95250" cy="95250"/>
          </a:xfrm>
          <a:prstGeom prst="rect">
            <a:avLst/>
          </a:prstGeom>
          <a:solidFill>
            <a:srgbClr val="3D8DFF"/>
          </a:solidFill>
          <a:ln w="0">
            <a:noFill/>
            <a:prstDash val="solid"/>
          </a:ln>
        </p:spPr>
        <p:txBody>
          <a:bodyPr anchor="ctr"/>
          <a:lstStyle/>
          <a:p>
            <a:endParaRPr lang="en-TW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6D5D063-5837-4A4F-AA84-1A03AC9F960C}"/>
              </a:ext>
            </a:extLst>
          </p:cNvPr>
          <p:cNvSpPr>
            <a:spLocks noGrp="1"/>
          </p:cNvSpPr>
          <p:nvPr/>
        </p:nvSpPr>
        <p:spPr>
          <a:xfrm>
            <a:off x="952500" y="3638550"/>
            <a:ext cx="421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可比較的特徵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CCE2CF4-F1A2-495A-B165-6CACAFBE63EB}"/>
              </a:ext>
            </a:extLst>
          </p:cNvPr>
          <p:cNvSpPr>
            <a:spLocks noGrp="1"/>
          </p:cNvSpPr>
          <p:nvPr/>
        </p:nvSpPr>
        <p:spPr>
          <a:xfrm>
            <a:off x="952500" y="3962400"/>
            <a:ext cx="42100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275" b="0">
                <a:solidFill>
                  <a:srgbClr val="5D6775"/>
                </a:solidFill>
              </a:defRPr>
            </a:pPr>
            <a:r>
              <a:rPr sz="1275" b="0">
                <a:solidFill>
                  <a:srgbClr val="5D6775"/>
                </a:solidFill>
              </a:rPr>
              <a:t>以 BoW、TF 與 TF-IDF 把文字轉換成可比較的特徵。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02A91E4-0E1B-4D02-AF0C-3812FB66B7B8}"/>
              </a:ext>
            </a:extLst>
          </p:cNvPr>
          <p:cNvSpPr>
            <a:spLocks noGrp="1"/>
          </p:cNvSpPr>
          <p:nvPr/>
        </p:nvSpPr>
        <p:spPr>
          <a:xfrm>
            <a:off x="685800" y="4800600"/>
            <a:ext cx="95250" cy="95250"/>
          </a:xfrm>
          <a:prstGeom prst="rect">
            <a:avLst/>
          </a:prstGeom>
          <a:solidFill>
            <a:srgbClr val="3D8DFF"/>
          </a:solidFill>
          <a:ln w="0">
            <a:noFill/>
            <a:prstDash val="solid"/>
          </a:ln>
        </p:spPr>
        <p:txBody>
          <a:bodyPr anchor="ctr"/>
          <a:lstStyle/>
          <a:p>
            <a:endParaRPr lang="en-TW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6CEA381-1B12-471D-A426-FB856ED5BDC0}"/>
              </a:ext>
            </a:extLst>
          </p:cNvPr>
          <p:cNvSpPr>
            <a:spLocks noGrp="1"/>
          </p:cNvSpPr>
          <p:nvPr/>
        </p:nvSpPr>
        <p:spPr>
          <a:xfrm>
            <a:off x="952500" y="4724400"/>
            <a:ext cx="421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不預設同質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E82D588-D0B1-42AE-9E26-367B4DDE81E2}"/>
              </a:ext>
            </a:extLst>
          </p:cNvPr>
          <p:cNvSpPr>
            <a:spLocks noGrp="1"/>
          </p:cNvSpPr>
          <p:nvPr/>
        </p:nvSpPr>
        <p:spPr>
          <a:xfrm>
            <a:off x="952500" y="5048250"/>
            <a:ext cx="42100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275" b="0">
                <a:solidFill>
                  <a:srgbClr val="5D6775"/>
                </a:solidFill>
              </a:defRPr>
            </a:pPr>
            <a:r>
              <a:rPr sz="1275" b="0">
                <a:solidFill>
                  <a:srgbClr val="5D6775"/>
                </a:solidFill>
              </a:rPr>
              <a:t>不同程序的案件，可能有不同文本結構與結果分布。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87D565A-CE47-4550-8DC5-A3FF7902C727}"/>
              </a:ext>
            </a:extLst>
          </p:cNvPr>
          <p:cNvSpPr>
            <a:spLocks noGrp="1"/>
          </p:cNvSpPr>
          <p:nvPr/>
        </p:nvSpPr>
        <p:spPr>
          <a:xfrm>
            <a:off x="6286500" y="2209800"/>
            <a:ext cx="4533900" cy="3429000"/>
          </a:xfrm>
          <a:prstGeom prst="rect">
            <a:avLst/>
          </a:prstGeom>
          <a:solidFill>
            <a:srgbClr val="EEF1F4"/>
          </a:solidFill>
          <a:ln w="0">
            <a:noFill/>
            <a:prstDash val="solid"/>
          </a:ln>
        </p:spPr>
        <p:txBody>
          <a:bodyPr anchor="ctr"/>
          <a:lstStyle/>
          <a:p>
            <a:endParaRPr lang="en-TW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6ECF696-1F55-4A63-9774-7AF38560402D}"/>
              </a:ext>
            </a:extLst>
          </p:cNvPr>
          <p:cNvSpPr>
            <a:spLocks noGrp="1"/>
          </p:cNvSpPr>
          <p:nvPr/>
        </p:nvSpPr>
        <p:spPr>
          <a:xfrm>
            <a:off x="6667500" y="2571750"/>
            <a:ext cx="3619500" cy="1885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2325" b="1">
                <a:solidFill>
                  <a:srgbClr val="111827"/>
                </a:solidFill>
              </a:defRPr>
            </a:pPr>
            <a:r>
              <a:rPr sz="2325" b="1" dirty="0" err="1">
                <a:solidFill>
                  <a:srgbClr val="111827"/>
                </a:solidFill>
              </a:rPr>
              <a:t>我要比較的是</a:t>
            </a:r>
            <a:r>
              <a:rPr lang="en-TW" sz="2325" b="1" dirty="0">
                <a:solidFill>
                  <a:srgbClr val="111827"/>
                </a:solidFill>
              </a:rPr>
              <a:t>：</a:t>
            </a:r>
          </a:p>
          <a:p>
            <a:pPr>
              <a:defRPr sz="2325" b="1">
                <a:solidFill>
                  <a:srgbClr val="111827"/>
                </a:solidFill>
              </a:defRPr>
            </a:pPr>
            <a:r>
              <a:rPr lang="zh-TW" altLang="en-US" sz="2325" b="1" dirty="0">
                <a:solidFill>
                  <a:srgbClr val="111827"/>
                </a:solidFill>
              </a:rPr>
              <a:t>不同案件類型、文字表示與模型流程，會不會帶來不同的分類效果？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E63867E-3BB5-4C72-B81F-45F8FB446B7C}"/>
              </a:ext>
            </a:extLst>
          </p:cNvPr>
          <p:cNvSpPr>
            <a:spLocks noGrp="1"/>
          </p:cNvSpPr>
          <p:nvPr/>
        </p:nvSpPr>
        <p:spPr>
          <a:xfrm>
            <a:off x="6667500" y="3581400"/>
            <a:ext cx="352425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575" b="0">
                <a:solidFill>
                  <a:srgbClr val="5D6775"/>
                </a:solidFill>
              </a:defRPr>
            </a:pPr>
            <a:endParaRPr sz="1575" b="0" dirty="0">
              <a:solidFill>
                <a:srgbClr val="5D6775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D42A170-70F9-449B-B2D4-1BA3758C5DE2}"/>
              </a:ext>
            </a:extLst>
          </p:cNvPr>
          <p:cNvSpPr>
            <a:spLocks noGrp="1"/>
          </p:cNvSpPr>
          <p:nvPr/>
        </p:nvSpPr>
        <p:spPr>
          <a:xfrm>
            <a:off x="6667500" y="4686300"/>
            <a:ext cx="3009900" cy="38100"/>
          </a:xfrm>
          <a:prstGeom prst="rect">
            <a:avLst/>
          </a:prstGeom>
          <a:solidFill>
            <a:srgbClr val="3D8DFF"/>
          </a:solidFill>
          <a:ln w="0">
            <a:noFill/>
            <a:prstDash val="solid"/>
          </a:ln>
        </p:spPr>
        <p:txBody>
          <a:bodyPr anchor="ctr"/>
          <a:lstStyle/>
          <a:p>
            <a:endParaRPr lang="en-TW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24AEE80-F902-40E0-8400-B140A3DBA931}"/>
              </a:ext>
            </a:extLst>
          </p:cNvPr>
          <p:cNvSpPr>
            <a:spLocks noGrp="1"/>
          </p:cNvSpPr>
          <p:nvPr/>
        </p:nvSpPr>
        <p:spPr>
          <a:xfrm>
            <a:off x="6667500" y="4953000"/>
            <a:ext cx="3143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425" b="1">
                <a:solidFill>
                  <a:srgbClr val="111827"/>
                </a:solidFill>
              </a:defRPr>
            </a:pPr>
            <a:r>
              <a:rPr sz="1425" b="1">
                <a:solidFill>
                  <a:srgbClr val="111827"/>
                </a:solidFill>
              </a:rPr>
              <a:t>法律文本模型在哪裡有效？</a:t>
            </a:r>
          </a:p>
          <a:p>
            <a:pPr>
              <a:defRPr sz="1425" b="1">
                <a:solidFill>
                  <a:srgbClr val="111827"/>
                </a:solidFill>
              </a:defRPr>
            </a:pPr>
            <a:r>
              <a:rPr sz="1425" b="1">
                <a:solidFill>
                  <a:srgbClr val="111827"/>
                </a:solidFill>
              </a:rPr>
              <a:t>又在哪裡仍有限制？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6C2BCC1-26BD-4851-88BC-EF66EAEF08A5}"/>
              </a:ext>
            </a:extLst>
          </p:cNvPr>
          <p:cNvSpPr>
            <a:spLocks noGrp="1"/>
          </p:cNvSpPr>
          <p:nvPr/>
        </p:nvSpPr>
        <p:spPr>
          <a:xfrm>
            <a:off x="11163300" y="6457950"/>
            <a:ext cx="3429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825" b="1">
                <a:solidFill>
                  <a:srgbClr val="5D6775"/>
                </a:solidFill>
              </a:defRPr>
            </a:pPr>
            <a:r>
              <a:rPr sz="825" b="1">
                <a:solidFill>
                  <a:srgbClr val="5D6775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5712251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400757C8-BD4F-4623-8D56-12BBBBEE5DDB}"/>
              </a:ext>
            </a:extLst>
          </p:cNvPr>
          <p:cNvSpPr>
            <a:spLocks noGrp="1"/>
          </p:cNvSpPr>
          <p:nvPr/>
        </p:nvSpPr>
        <p:spPr>
          <a:xfrm>
            <a:off x="685800" y="457200"/>
            <a:ext cx="3333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050" b="1">
                <a:solidFill>
                  <a:srgbClr val="3D8DFF"/>
                </a:solidFill>
              </a:defRPr>
            </a:pPr>
            <a:r>
              <a:rPr sz="1050" b="1">
                <a:solidFill>
                  <a:srgbClr val="3D8DFF"/>
                </a:solidFill>
              </a:rPr>
              <a:t>研究資料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7DB80FF5-019E-45BF-BBC3-7AFC8161C51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287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2850" b="1">
                <a:solidFill>
                  <a:srgbClr val="111827"/>
                </a:solidFill>
              </a:defRPr>
            </a:pPr>
            <a:r>
              <a:rPr sz="2850" b="1">
                <a:solidFill>
                  <a:srgbClr val="111827"/>
                </a:solidFill>
              </a:rPr>
              <a:t>從 90,027 篇原始資料，到 45,344 篇可比較判決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6E28546-B08A-4798-A981-8F04A684D432}"/>
              </a:ext>
            </a:extLst>
          </p:cNvPr>
          <p:cNvSpPr>
            <a:spLocks noGrp="1"/>
          </p:cNvSpPr>
          <p:nvPr/>
        </p:nvSpPr>
        <p:spPr>
          <a:xfrm>
            <a:off x="685800" y="1381125"/>
            <a:ext cx="9906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275" b="0">
                <a:solidFill>
                  <a:srgbClr val="5D6775"/>
                </a:solidFill>
              </a:defRPr>
            </a:pPr>
            <a:r>
              <a:rPr sz="1275" b="0">
                <a:solidFill>
                  <a:srgbClr val="5D6775"/>
                </a:solidFill>
              </a:rPr>
              <a:t>1996–2024 年臺灣智慧財產權相關裁判書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5DFBE26-3B70-45A9-8CA7-06294821A20C}"/>
              </a:ext>
            </a:extLst>
          </p:cNvPr>
          <p:cNvSpPr>
            <a:spLocks noGrp="1"/>
          </p:cNvSpPr>
          <p:nvPr/>
        </p:nvSpPr>
        <p:spPr>
          <a:xfrm>
            <a:off x="685800" y="1790700"/>
            <a:ext cx="10820400" cy="19050"/>
          </a:xfrm>
          <a:prstGeom prst="rect">
            <a:avLst/>
          </a:prstGeom>
          <a:solidFill>
            <a:srgbClr val="C6CCD3"/>
          </a:solidFill>
          <a:ln w="0">
            <a:noFill/>
            <a:prstDash val="solid"/>
          </a:ln>
        </p:spPr>
        <p:txBody>
          <a:bodyPr anchor="ctr"/>
          <a:lstStyle/>
          <a:p>
            <a:endParaRPr lang="en-TW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6961C81-B5C9-432E-B56C-CF7E88BBDF88}"/>
              </a:ext>
            </a:extLst>
          </p:cNvPr>
          <p:cNvSpPr>
            <a:spLocks noGrp="1"/>
          </p:cNvSpPr>
          <p:nvPr/>
        </p:nvSpPr>
        <p:spPr>
          <a:xfrm>
            <a:off x="685800" y="2324100"/>
            <a:ext cx="2286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3300" b="1">
                <a:solidFill>
                  <a:srgbClr val="111827"/>
                </a:solidFill>
              </a:defRPr>
            </a:pPr>
            <a:r>
              <a:rPr sz="3300" b="1">
                <a:solidFill>
                  <a:srgbClr val="111827"/>
                </a:solidFill>
              </a:rPr>
              <a:t>90,027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19B3CC6-79EE-44DF-A325-79E46BA7B6E6}"/>
              </a:ext>
            </a:extLst>
          </p:cNvPr>
          <p:cNvSpPr>
            <a:spLocks noGrp="1"/>
          </p:cNvSpPr>
          <p:nvPr/>
        </p:nvSpPr>
        <p:spPr>
          <a:xfrm>
            <a:off x="685800" y="2847975"/>
            <a:ext cx="2286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200" b="0">
                <a:solidFill>
                  <a:srgbClr val="5D6775"/>
                </a:solidFill>
              </a:defRPr>
            </a:pPr>
            <a:r>
              <a:rPr sz="1200" b="0">
                <a:solidFill>
                  <a:srgbClr val="5D6775"/>
                </a:solidFill>
              </a:rPr>
              <a:t>原始裁判書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52AE38F-15BF-4EC2-9CA2-08C6A49CCBB8}"/>
              </a:ext>
            </a:extLst>
          </p:cNvPr>
          <p:cNvSpPr>
            <a:spLocks noGrp="1"/>
          </p:cNvSpPr>
          <p:nvPr/>
        </p:nvSpPr>
        <p:spPr>
          <a:xfrm>
            <a:off x="3257550" y="3037146"/>
            <a:ext cx="2381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350" b="0">
                <a:solidFill>
                  <a:srgbClr val="5D6775"/>
                </a:solidFill>
              </a:defRPr>
            </a:pPr>
            <a:r>
              <a:rPr sz="1350" b="0" dirty="0" err="1">
                <a:solidFill>
                  <a:srgbClr val="5D6775"/>
                </a:solidFill>
              </a:rPr>
              <a:t>經過案件篩選後</a:t>
            </a:r>
            <a:endParaRPr sz="1350" b="0" dirty="0">
              <a:solidFill>
                <a:srgbClr val="5D6775"/>
              </a:solidFill>
            </a:endParaRPr>
          </a:p>
          <a:p>
            <a:pPr>
              <a:defRPr sz="1350" b="0">
                <a:solidFill>
                  <a:srgbClr val="5D6775"/>
                </a:solidFill>
              </a:defRPr>
            </a:pPr>
            <a:r>
              <a:rPr sz="1350" b="0" dirty="0" err="1">
                <a:solidFill>
                  <a:srgbClr val="5D6775"/>
                </a:solidFill>
              </a:rPr>
              <a:t>保留可比較資料</a:t>
            </a:r>
            <a:endParaRPr sz="1350" b="0" dirty="0">
              <a:solidFill>
                <a:srgbClr val="5D6775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3365098-BBFA-4901-8F03-560BA7404A70}"/>
              </a:ext>
            </a:extLst>
          </p:cNvPr>
          <p:cNvSpPr>
            <a:spLocks noGrp="1"/>
          </p:cNvSpPr>
          <p:nvPr/>
        </p:nvSpPr>
        <p:spPr>
          <a:xfrm>
            <a:off x="6019800" y="2343150"/>
            <a:ext cx="19050" cy="2076450"/>
          </a:xfrm>
          <a:prstGeom prst="rect">
            <a:avLst/>
          </a:prstGeom>
          <a:solidFill>
            <a:srgbClr val="C6CCD3"/>
          </a:solidFill>
          <a:ln w="0">
            <a:noFill/>
            <a:prstDash val="solid"/>
          </a:ln>
        </p:spPr>
        <p:txBody>
          <a:bodyPr anchor="ctr"/>
          <a:lstStyle/>
          <a:p>
            <a:endParaRPr lang="en-TW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222DE40-BE0F-4436-989C-754CFC108D6A}"/>
              </a:ext>
            </a:extLst>
          </p:cNvPr>
          <p:cNvSpPr>
            <a:spLocks noGrp="1"/>
          </p:cNvSpPr>
          <p:nvPr/>
        </p:nvSpPr>
        <p:spPr>
          <a:xfrm>
            <a:off x="6572250" y="2324100"/>
            <a:ext cx="25717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3300" b="1">
                <a:solidFill>
                  <a:srgbClr val="3D8DFF"/>
                </a:solidFill>
              </a:defRPr>
            </a:pPr>
            <a:r>
              <a:rPr sz="3300" b="1">
                <a:solidFill>
                  <a:srgbClr val="3D8DFF"/>
                </a:solidFill>
              </a:rPr>
              <a:t>45,344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064D289-E9C3-4383-9F5A-6E4AC2EE4C1B}"/>
              </a:ext>
            </a:extLst>
          </p:cNvPr>
          <p:cNvSpPr>
            <a:spLocks noGrp="1"/>
          </p:cNvSpPr>
          <p:nvPr/>
        </p:nvSpPr>
        <p:spPr>
          <a:xfrm>
            <a:off x="6572250" y="2847975"/>
            <a:ext cx="2571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200" b="0">
                <a:solidFill>
                  <a:srgbClr val="5D6775"/>
                </a:solidFill>
              </a:defRPr>
            </a:pPr>
            <a:r>
              <a:rPr sz="1200" b="0">
                <a:solidFill>
                  <a:srgbClr val="5D6775"/>
                </a:solidFill>
              </a:rPr>
              <a:t>最終分析樣本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28FD2B3-8818-4912-B961-18644031277D}"/>
              </a:ext>
            </a:extLst>
          </p:cNvPr>
          <p:cNvSpPr>
            <a:spLocks noGrp="1"/>
          </p:cNvSpPr>
          <p:nvPr/>
        </p:nvSpPr>
        <p:spPr>
          <a:xfrm>
            <a:off x="685800" y="4857750"/>
            <a:ext cx="1809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425" b="1">
                <a:solidFill>
                  <a:srgbClr val="111827"/>
                </a:solidFill>
              </a:defRPr>
            </a:pPr>
            <a:r>
              <a:rPr sz="1425" b="1">
                <a:solidFill>
                  <a:srgbClr val="111827"/>
                </a:solidFill>
              </a:rPr>
              <a:t>四種案件類型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240C8E5-A807-4BA7-B946-856D85F3FC18}"/>
              </a:ext>
            </a:extLst>
          </p:cNvPr>
          <p:cNvSpPr>
            <a:spLocks noGrp="1"/>
          </p:cNvSpPr>
          <p:nvPr/>
        </p:nvSpPr>
        <p:spPr>
          <a:xfrm>
            <a:off x="685800" y="5219700"/>
            <a:ext cx="6191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650" b="0">
                <a:solidFill>
                  <a:srgbClr val="5D6775"/>
                </a:solidFill>
              </a:defRPr>
            </a:pPr>
            <a:r>
              <a:rPr sz="1650" b="0">
                <a:solidFill>
                  <a:srgbClr val="5D6775"/>
                </a:solidFill>
              </a:rPr>
              <a:t>行政　民事　刑事　刑事附帶民事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B9AAB1C-5095-4824-A5F8-BDC1509FFBD7}"/>
              </a:ext>
            </a:extLst>
          </p:cNvPr>
          <p:cNvSpPr>
            <a:spLocks noGrp="1"/>
          </p:cNvSpPr>
          <p:nvPr/>
        </p:nvSpPr>
        <p:spPr>
          <a:xfrm>
            <a:off x="685800" y="5810250"/>
            <a:ext cx="1809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425" b="1">
                <a:solidFill>
                  <a:srgbClr val="111827"/>
                </a:solidFill>
              </a:defRPr>
            </a:pPr>
            <a:r>
              <a:rPr sz="1425" b="1">
                <a:solidFill>
                  <a:srgbClr val="111827"/>
                </a:solidFill>
              </a:rPr>
              <a:t>三類裁判結果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6878632-537D-4391-A0B7-6C5F001E99A8}"/>
              </a:ext>
            </a:extLst>
          </p:cNvPr>
          <p:cNvSpPr>
            <a:spLocks noGrp="1"/>
          </p:cNvSpPr>
          <p:nvPr/>
        </p:nvSpPr>
        <p:spPr>
          <a:xfrm>
            <a:off x="685800" y="6115050"/>
            <a:ext cx="4000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575" b="0">
                <a:solidFill>
                  <a:srgbClr val="5D6775"/>
                </a:solidFill>
              </a:defRPr>
            </a:pPr>
            <a:r>
              <a:rPr sz="1575" b="0">
                <a:solidFill>
                  <a:srgbClr val="5D6775"/>
                </a:solidFill>
              </a:rPr>
              <a:t>敗訴　部分勝訴　勝訴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5B21EF5-3BCD-496E-8939-E2C72B0A505B}"/>
              </a:ext>
            </a:extLst>
          </p:cNvPr>
          <p:cNvSpPr>
            <a:spLocks noGrp="1"/>
          </p:cNvSpPr>
          <p:nvPr/>
        </p:nvSpPr>
        <p:spPr>
          <a:xfrm>
            <a:off x="7810500" y="4724400"/>
            <a:ext cx="3009900" cy="1352550"/>
          </a:xfrm>
          <a:prstGeom prst="rect">
            <a:avLst/>
          </a:prstGeom>
          <a:solidFill>
            <a:srgbClr val="F8FAFC"/>
          </a:solidFill>
          <a:ln w="0">
            <a:noFill/>
            <a:prstDash val="solid"/>
          </a:ln>
        </p:spPr>
        <p:txBody>
          <a:bodyPr anchor="ctr"/>
          <a:lstStyle/>
          <a:p>
            <a:endParaRPr lang="en-TW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8314782-213C-4C1A-98D7-29CAAF6A65B7}"/>
              </a:ext>
            </a:extLst>
          </p:cNvPr>
          <p:cNvSpPr>
            <a:spLocks noGrp="1"/>
          </p:cNvSpPr>
          <p:nvPr/>
        </p:nvSpPr>
        <p:spPr>
          <a:xfrm>
            <a:off x="8058150" y="4953000"/>
            <a:ext cx="2095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200" b="1">
                <a:solidFill>
                  <a:srgbClr val="3D8DFF"/>
                </a:solidFill>
              </a:defRPr>
            </a:pPr>
            <a:r>
              <a:rPr sz="1200" b="1">
                <a:solidFill>
                  <a:srgbClr val="3D8DFF"/>
                </a:solidFill>
              </a:rPr>
              <a:t>觀察到的趨勢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179F9E5-F67B-464F-AE27-BFC249E7FE25}"/>
              </a:ext>
            </a:extLst>
          </p:cNvPr>
          <p:cNvSpPr>
            <a:spLocks noGrp="1"/>
          </p:cNvSpPr>
          <p:nvPr/>
        </p:nvSpPr>
        <p:spPr>
          <a:xfrm>
            <a:off x="8058150" y="5276850"/>
            <a:ext cx="2381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刑事附帶民事案件</a:t>
            </a:r>
          </a:p>
          <a:p>
            <a:pPr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有逐年成長的趨勢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2277991-2EFF-4FA1-BF66-D3A6BC6C0E53}"/>
              </a:ext>
            </a:extLst>
          </p:cNvPr>
          <p:cNvSpPr>
            <a:spLocks noGrp="1"/>
          </p:cNvSpPr>
          <p:nvPr/>
        </p:nvSpPr>
        <p:spPr>
          <a:xfrm>
            <a:off x="8058150" y="5810250"/>
            <a:ext cx="2286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975" b="0">
                <a:solidFill>
                  <a:srgbClr val="5D6775"/>
                </a:solidFill>
              </a:defRPr>
            </a:pPr>
            <a:r>
              <a:rPr sz="975" b="0">
                <a:solidFill>
                  <a:srgbClr val="5D6775"/>
                </a:solidFill>
              </a:rPr>
              <a:t>可能與提告威嚇效果有關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0DAE7B2-07BA-4007-9ED4-D56FBC458A55}"/>
              </a:ext>
            </a:extLst>
          </p:cNvPr>
          <p:cNvSpPr>
            <a:spLocks noGrp="1"/>
          </p:cNvSpPr>
          <p:nvPr/>
        </p:nvSpPr>
        <p:spPr>
          <a:xfrm>
            <a:off x="11163300" y="6457950"/>
            <a:ext cx="3429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825" b="1">
                <a:solidFill>
                  <a:srgbClr val="5D6775"/>
                </a:solidFill>
              </a:defRPr>
            </a:pPr>
            <a:r>
              <a:rPr sz="825" b="1">
                <a:solidFill>
                  <a:srgbClr val="5D6775"/>
                </a:solidFill>
              </a:rPr>
              <a:t>03</a:t>
            </a:r>
          </a:p>
        </p:txBody>
      </p:sp>
      <p:sp>
        <p:nvSpPr>
          <p:cNvPr id="21" name="Right Arrow 20">
            <a:extLst>
              <a:ext uri="{FF2B5EF4-FFF2-40B4-BE49-F238E27FC236}">
                <a16:creationId xmlns:a16="http://schemas.microsoft.com/office/drawing/2014/main" id="{18305F41-8AF5-D760-9610-589B73A5964D}"/>
              </a:ext>
            </a:extLst>
          </p:cNvPr>
          <p:cNvSpPr/>
          <p:nvPr/>
        </p:nvSpPr>
        <p:spPr>
          <a:xfrm>
            <a:off x="3147237" y="2400300"/>
            <a:ext cx="2339163" cy="447675"/>
          </a:xfrm>
          <a:prstGeom prst="rightArrow">
            <a:avLst>
              <a:gd name="adj1" fmla="val 50000"/>
              <a:gd name="adj2" fmla="val 171128"/>
            </a:avLst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19790355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26BC15B7-0416-46DB-85E7-2FD17C4B84AF}"/>
              </a:ext>
            </a:extLst>
          </p:cNvPr>
          <p:cNvSpPr>
            <a:spLocks noGrp="1"/>
          </p:cNvSpPr>
          <p:nvPr/>
        </p:nvSpPr>
        <p:spPr>
          <a:xfrm>
            <a:off x="685800" y="457200"/>
            <a:ext cx="3333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050" b="1">
                <a:solidFill>
                  <a:srgbClr val="3D8DFF"/>
                </a:solidFill>
              </a:defRPr>
            </a:pPr>
            <a:r>
              <a:rPr sz="1050" b="1">
                <a:solidFill>
                  <a:srgbClr val="3D8DFF"/>
                </a:solidFill>
              </a:rPr>
              <a:t>研究設計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E8F13F2F-6FA4-4B2B-8D7F-CD8716E3650A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287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2850" b="1">
                <a:solidFill>
                  <a:srgbClr val="111827"/>
                </a:solidFill>
              </a:defRPr>
            </a:pPr>
            <a:r>
              <a:rPr sz="2850" b="1">
                <a:solidFill>
                  <a:srgbClr val="111827"/>
                </a:solidFill>
              </a:rPr>
              <a:t>兩條流程，共用前處理，在同一測試集上比較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9B2FA78-B1C2-4D5A-8ACA-C1FC2C6610A4}"/>
              </a:ext>
            </a:extLst>
          </p:cNvPr>
          <p:cNvSpPr>
            <a:spLocks noGrp="1"/>
          </p:cNvSpPr>
          <p:nvPr/>
        </p:nvSpPr>
        <p:spPr>
          <a:xfrm>
            <a:off x="685800" y="1381125"/>
            <a:ext cx="9906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275" b="0">
                <a:solidFill>
                  <a:srgbClr val="5D6775"/>
                </a:solidFill>
              </a:defRPr>
            </a:pPr>
            <a:r>
              <a:rPr sz="1275" b="0">
                <a:solidFill>
                  <a:srgbClr val="5D6775"/>
                </a:solidFill>
              </a:rPr>
              <a:t>避免模型只靠「駁回、准許、有理由」等結論用語作答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3B0A641-3BC0-4760-98B3-27F9D5130579}"/>
              </a:ext>
            </a:extLst>
          </p:cNvPr>
          <p:cNvSpPr>
            <a:spLocks noGrp="1"/>
          </p:cNvSpPr>
          <p:nvPr/>
        </p:nvSpPr>
        <p:spPr>
          <a:xfrm>
            <a:off x="685800" y="1790700"/>
            <a:ext cx="10820400" cy="19050"/>
          </a:xfrm>
          <a:prstGeom prst="rect">
            <a:avLst/>
          </a:prstGeom>
          <a:solidFill>
            <a:srgbClr val="C6CCD3"/>
          </a:solidFill>
          <a:ln w="0">
            <a:noFill/>
            <a:prstDash val="solid"/>
          </a:ln>
        </p:spPr>
        <p:txBody>
          <a:bodyPr anchor="ctr"/>
          <a:lstStyle/>
          <a:p>
            <a:endParaRPr lang="en-TW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96F529E-7B16-4516-943C-A1A5B5FA29F6}"/>
              </a:ext>
            </a:extLst>
          </p:cNvPr>
          <p:cNvSpPr>
            <a:spLocks noGrp="1"/>
          </p:cNvSpPr>
          <p:nvPr/>
        </p:nvSpPr>
        <p:spPr>
          <a:xfrm>
            <a:off x="685800" y="2209800"/>
            <a:ext cx="1714500" cy="647700"/>
          </a:xfrm>
          <a:prstGeom prst="rect">
            <a:avLst/>
          </a:prstGeom>
          <a:solidFill>
            <a:srgbClr val="EEF1F4"/>
          </a:solidFill>
          <a:ln w="0">
            <a:noFill/>
            <a:prstDash val="solid"/>
          </a:ln>
        </p:spPr>
        <p:txBody>
          <a:bodyPr anchor="ctr"/>
          <a:lstStyle/>
          <a:p>
            <a:endParaRPr lang="en-TW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30D1467-26D0-4750-8A69-BA9164563552}"/>
              </a:ext>
            </a:extLst>
          </p:cNvPr>
          <p:cNvSpPr>
            <a:spLocks noGrp="1"/>
          </p:cNvSpPr>
          <p:nvPr/>
        </p:nvSpPr>
        <p:spPr>
          <a:xfrm>
            <a:off x="895350" y="2362200"/>
            <a:ext cx="12954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文本清理</a:t>
            </a:r>
          </a:p>
          <a:p>
            <a:pPr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中文斷詞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8A77903-82C5-475C-B12F-8677C0E85F6F}"/>
              </a:ext>
            </a:extLst>
          </p:cNvPr>
          <p:cNvSpPr>
            <a:spLocks noGrp="1"/>
          </p:cNvSpPr>
          <p:nvPr/>
        </p:nvSpPr>
        <p:spPr>
          <a:xfrm>
            <a:off x="2514600" y="2343150"/>
            <a:ext cx="2667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2025" b="1">
                <a:solidFill>
                  <a:srgbClr val="3D8DFF"/>
                </a:solidFill>
              </a:defRPr>
            </a:pPr>
            <a:r>
              <a:rPr sz="2025" b="1">
                <a:solidFill>
                  <a:srgbClr val="3D8DFF"/>
                </a:solidFill>
              </a:rPr>
              <a:t>→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683A192-4F59-4C76-9FCF-0DFFAA2271E8}"/>
              </a:ext>
            </a:extLst>
          </p:cNvPr>
          <p:cNvSpPr>
            <a:spLocks noGrp="1"/>
          </p:cNvSpPr>
          <p:nvPr/>
        </p:nvSpPr>
        <p:spPr>
          <a:xfrm>
            <a:off x="2857500" y="2209800"/>
            <a:ext cx="1905000" cy="647700"/>
          </a:xfrm>
          <a:prstGeom prst="rect">
            <a:avLst/>
          </a:prstGeom>
          <a:solidFill>
            <a:srgbClr val="EEF1F4"/>
          </a:solidFill>
          <a:ln w="0">
            <a:noFill/>
            <a:prstDash val="solid"/>
          </a:ln>
        </p:spPr>
        <p:txBody>
          <a:bodyPr anchor="ctr"/>
          <a:lstStyle/>
          <a:p>
            <a:endParaRPr lang="en-TW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D34F792-9290-45FA-86DF-EECB16EAEC36}"/>
              </a:ext>
            </a:extLst>
          </p:cNvPr>
          <p:cNvSpPr>
            <a:spLocks noGrp="1"/>
          </p:cNvSpPr>
          <p:nvPr/>
        </p:nvSpPr>
        <p:spPr>
          <a:xfrm>
            <a:off x="3048000" y="2409825"/>
            <a:ext cx="157162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425" b="1">
                <a:solidFill>
                  <a:srgbClr val="111827"/>
                </a:solidFill>
              </a:defRPr>
            </a:pPr>
            <a:r>
              <a:rPr sz="1425" b="1">
                <a:solidFill>
                  <a:srgbClr val="111827"/>
                </a:solidFill>
              </a:rPr>
              <a:t>BoW ／ TF ／ TF-IDF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5EAFC2F-3C89-4AB1-B634-246C7F82B422}"/>
              </a:ext>
            </a:extLst>
          </p:cNvPr>
          <p:cNvSpPr>
            <a:spLocks noGrp="1"/>
          </p:cNvSpPr>
          <p:nvPr/>
        </p:nvSpPr>
        <p:spPr>
          <a:xfrm>
            <a:off x="4876800" y="2343150"/>
            <a:ext cx="2667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2025" b="1">
                <a:solidFill>
                  <a:srgbClr val="3D8DFF"/>
                </a:solidFill>
              </a:defRPr>
            </a:pPr>
            <a:r>
              <a:rPr sz="2025" b="1">
                <a:solidFill>
                  <a:srgbClr val="3D8DFF"/>
                </a:solidFill>
              </a:rPr>
              <a:t>→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4F0EF49-DEF5-49CE-AD02-D8ACEEA5EDF2}"/>
              </a:ext>
            </a:extLst>
          </p:cNvPr>
          <p:cNvSpPr>
            <a:spLocks noGrp="1"/>
          </p:cNvSpPr>
          <p:nvPr/>
        </p:nvSpPr>
        <p:spPr>
          <a:xfrm>
            <a:off x="5219700" y="2209800"/>
            <a:ext cx="1828800" cy="647700"/>
          </a:xfrm>
          <a:prstGeom prst="rect">
            <a:avLst/>
          </a:prstGeom>
          <a:solidFill>
            <a:srgbClr val="EEF1F4"/>
          </a:solidFill>
          <a:ln w="0">
            <a:noFill/>
            <a:prstDash val="solid"/>
          </a:ln>
        </p:spPr>
        <p:txBody>
          <a:bodyPr anchor="ctr"/>
          <a:lstStyle/>
          <a:p>
            <a:endParaRPr lang="en-TW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D6CA64C-6049-47AC-B81D-D0B2616C68AB}"/>
              </a:ext>
            </a:extLst>
          </p:cNvPr>
          <p:cNvSpPr>
            <a:spLocks noGrp="1"/>
          </p:cNvSpPr>
          <p:nvPr/>
        </p:nvSpPr>
        <p:spPr>
          <a:xfrm>
            <a:off x="5476875" y="2409825"/>
            <a:ext cx="138112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卡方特徵選擇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8C0193D-558B-4BD5-AE1E-2AE0F37D3FFE}"/>
              </a:ext>
            </a:extLst>
          </p:cNvPr>
          <p:cNvSpPr>
            <a:spLocks noGrp="1"/>
          </p:cNvSpPr>
          <p:nvPr/>
        </p:nvSpPr>
        <p:spPr>
          <a:xfrm>
            <a:off x="7200900" y="2381250"/>
            <a:ext cx="1143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125" b="1">
                <a:solidFill>
                  <a:srgbClr val="3D8DFF"/>
                </a:solidFill>
              </a:defRPr>
            </a:pPr>
            <a:r>
              <a:rPr sz="1125" b="1">
                <a:solidFill>
                  <a:srgbClr val="3D8DFF"/>
                </a:solidFill>
              </a:rPr>
              <a:t>分成兩條流程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F8AF307-327C-4DF5-8662-DD8C756822A1}"/>
              </a:ext>
            </a:extLst>
          </p:cNvPr>
          <p:cNvSpPr>
            <a:spLocks noGrp="1"/>
          </p:cNvSpPr>
          <p:nvPr/>
        </p:nvSpPr>
        <p:spPr>
          <a:xfrm>
            <a:off x="5334000" y="3333750"/>
            <a:ext cx="2571750" cy="742950"/>
          </a:xfrm>
          <a:prstGeom prst="rect">
            <a:avLst/>
          </a:prstGeom>
          <a:solidFill>
            <a:srgbClr val="DCEEFF"/>
          </a:solidFill>
          <a:ln w="0">
            <a:noFill/>
            <a:prstDash val="solid"/>
          </a:ln>
        </p:spPr>
        <p:txBody>
          <a:bodyPr anchor="ctr"/>
          <a:lstStyle/>
          <a:p>
            <a:endParaRPr lang="en-TW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D354C7F-CA94-4187-94C1-4805BDB06C43}"/>
              </a:ext>
            </a:extLst>
          </p:cNvPr>
          <p:cNvSpPr>
            <a:spLocks noGrp="1"/>
          </p:cNvSpPr>
          <p:nvPr/>
        </p:nvSpPr>
        <p:spPr>
          <a:xfrm>
            <a:off x="5581650" y="3524250"/>
            <a:ext cx="214312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流程 A｜Direct SVM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88E6B17-2203-407D-A646-B8BEDDA65397}"/>
              </a:ext>
            </a:extLst>
          </p:cNvPr>
          <p:cNvSpPr>
            <a:spLocks noGrp="1"/>
          </p:cNvSpPr>
          <p:nvPr/>
        </p:nvSpPr>
        <p:spPr>
          <a:xfrm>
            <a:off x="5581650" y="3829050"/>
            <a:ext cx="1905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200" b="0">
                <a:solidFill>
                  <a:srgbClr val="5D6775"/>
                </a:solidFill>
              </a:defRPr>
            </a:pPr>
            <a:r>
              <a:rPr sz="1200" b="0">
                <a:solidFill>
                  <a:srgbClr val="5D6775"/>
                </a:solidFill>
              </a:rPr>
              <a:t>選詞後直接分類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25C15F2-B03E-44BD-8D6C-DD48B9DA8C93}"/>
              </a:ext>
            </a:extLst>
          </p:cNvPr>
          <p:cNvSpPr>
            <a:spLocks noGrp="1"/>
          </p:cNvSpPr>
          <p:nvPr/>
        </p:nvSpPr>
        <p:spPr>
          <a:xfrm>
            <a:off x="5334000" y="4419600"/>
            <a:ext cx="2571750" cy="857250"/>
          </a:xfrm>
          <a:prstGeom prst="rect">
            <a:avLst/>
          </a:prstGeom>
          <a:solidFill>
            <a:srgbClr val="E6F4F1"/>
          </a:solidFill>
          <a:ln w="0">
            <a:noFill/>
            <a:prstDash val="solid"/>
          </a:ln>
        </p:spPr>
        <p:txBody>
          <a:bodyPr anchor="ctr"/>
          <a:lstStyle/>
          <a:p>
            <a:endParaRPr lang="en-TW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F669446-C916-4326-90A3-E3EC2A0FB0FC}"/>
              </a:ext>
            </a:extLst>
          </p:cNvPr>
          <p:cNvSpPr>
            <a:spLocks noGrp="1"/>
          </p:cNvSpPr>
          <p:nvPr/>
        </p:nvSpPr>
        <p:spPr>
          <a:xfrm>
            <a:off x="5581650" y="4591050"/>
            <a:ext cx="2190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流程 B｜MNIR + SVM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A3F981E-F289-4FBF-836A-0ABB6ABB3679}"/>
              </a:ext>
            </a:extLst>
          </p:cNvPr>
          <p:cNvSpPr>
            <a:spLocks noGrp="1"/>
          </p:cNvSpPr>
          <p:nvPr/>
        </p:nvSpPr>
        <p:spPr>
          <a:xfrm>
            <a:off x="5581650" y="4953000"/>
            <a:ext cx="2095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200" b="0">
                <a:solidFill>
                  <a:srgbClr val="5D6775"/>
                </a:solidFill>
              </a:defRPr>
            </a:pPr>
            <a:r>
              <a:rPr sz="1200" b="0">
                <a:solidFill>
                  <a:srgbClr val="5D6775"/>
                </a:solidFill>
              </a:rPr>
              <a:t>MNIR 二維轉換後再分類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60F33AF-1F57-4BA7-BC29-F7471CBD1A82}"/>
              </a:ext>
            </a:extLst>
          </p:cNvPr>
          <p:cNvSpPr>
            <a:spLocks noGrp="1"/>
          </p:cNvSpPr>
          <p:nvPr/>
        </p:nvSpPr>
        <p:spPr>
          <a:xfrm>
            <a:off x="8020050" y="3543300"/>
            <a:ext cx="2667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2025" b="1">
                <a:solidFill>
                  <a:srgbClr val="3D8DFF"/>
                </a:solidFill>
              </a:defRPr>
            </a:pPr>
            <a:r>
              <a:rPr sz="2025" b="1">
                <a:solidFill>
                  <a:srgbClr val="3D8DFF"/>
                </a:solidFill>
              </a:rPr>
              <a:t>→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6AFEAF0-B163-4F6F-8ECD-0BE71C6A3E02}"/>
              </a:ext>
            </a:extLst>
          </p:cNvPr>
          <p:cNvSpPr>
            <a:spLocks noGrp="1"/>
          </p:cNvSpPr>
          <p:nvPr/>
        </p:nvSpPr>
        <p:spPr>
          <a:xfrm>
            <a:off x="8020050" y="4686300"/>
            <a:ext cx="2667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2025" b="1">
                <a:solidFill>
                  <a:srgbClr val="147A73"/>
                </a:solidFill>
              </a:defRPr>
            </a:pPr>
            <a:r>
              <a:rPr sz="2025" b="1">
                <a:solidFill>
                  <a:srgbClr val="147A73"/>
                </a:solidFill>
              </a:rPr>
              <a:t>→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58D9073-2E40-435E-825D-581FCB101719}"/>
              </a:ext>
            </a:extLst>
          </p:cNvPr>
          <p:cNvSpPr>
            <a:spLocks noGrp="1"/>
          </p:cNvSpPr>
          <p:nvPr/>
        </p:nvSpPr>
        <p:spPr>
          <a:xfrm>
            <a:off x="8439150" y="3333750"/>
            <a:ext cx="2381250" cy="1943100"/>
          </a:xfrm>
          <a:prstGeom prst="rect">
            <a:avLst/>
          </a:prstGeom>
          <a:solidFill>
            <a:srgbClr val="F8FAFC"/>
          </a:solidFill>
          <a:ln w="0">
            <a:noFill/>
            <a:prstDash val="solid"/>
          </a:ln>
        </p:spPr>
        <p:txBody>
          <a:bodyPr anchor="ctr"/>
          <a:lstStyle/>
          <a:p>
            <a:endParaRPr lang="en-TW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99A9D61-6607-4E9C-B320-77229A124BBB}"/>
              </a:ext>
            </a:extLst>
          </p:cNvPr>
          <p:cNvSpPr>
            <a:spLocks noGrp="1"/>
          </p:cNvSpPr>
          <p:nvPr/>
        </p:nvSpPr>
        <p:spPr>
          <a:xfrm>
            <a:off x="8705850" y="3581400"/>
            <a:ext cx="1714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350" b="1">
                <a:solidFill>
                  <a:srgbClr val="3D8DFF"/>
                </a:solidFill>
              </a:defRPr>
            </a:pPr>
            <a:r>
              <a:rPr sz="1350" b="1">
                <a:solidFill>
                  <a:srgbClr val="3D8DFF"/>
                </a:solidFill>
              </a:rPr>
              <a:t>同一資料切分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DECDE84-937A-44A2-AB03-680F8562E999}"/>
              </a:ext>
            </a:extLst>
          </p:cNvPr>
          <p:cNvSpPr>
            <a:spLocks noGrp="1"/>
          </p:cNvSpPr>
          <p:nvPr/>
        </p:nvSpPr>
        <p:spPr>
          <a:xfrm>
            <a:off x="8705850" y="3924300"/>
            <a:ext cx="1714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575" b="1">
                <a:solidFill>
                  <a:srgbClr val="111827"/>
                </a:solidFill>
              </a:defRPr>
            </a:pPr>
            <a:r>
              <a:rPr sz="1575" b="1">
                <a:solidFill>
                  <a:srgbClr val="111827"/>
                </a:solidFill>
              </a:rPr>
              <a:t>訓練集 → 驗證集</a:t>
            </a:r>
          </a:p>
          <a:p>
            <a:pPr>
              <a:defRPr sz="1575" b="1">
                <a:solidFill>
                  <a:srgbClr val="111827"/>
                </a:solidFill>
              </a:defRPr>
            </a:pPr>
            <a:r>
              <a:rPr sz="1575" b="1">
                <a:solidFill>
                  <a:srgbClr val="111827"/>
                </a:solidFill>
              </a:rPr>
              <a:t>→ 同一測試集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7AEFAC6-8DE3-493F-8A51-21CA815541EF}"/>
              </a:ext>
            </a:extLst>
          </p:cNvPr>
          <p:cNvSpPr>
            <a:spLocks noGrp="1"/>
          </p:cNvSpPr>
          <p:nvPr/>
        </p:nvSpPr>
        <p:spPr>
          <a:xfrm>
            <a:off x="8705850" y="4572000"/>
            <a:ext cx="1714500" cy="9525"/>
          </a:xfrm>
          <a:prstGeom prst="rect">
            <a:avLst/>
          </a:prstGeom>
          <a:solidFill>
            <a:srgbClr val="C6CCD3"/>
          </a:solidFill>
          <a:ln w="0">
            <a:noFill/>
            <a:prstDash val="solid"/>
          </a:ln>
        </p:spPr>
        <p:txBody>
          <a:bodyPr anchor="ctr"/>
          <a:lstStyle/>
          <a:p>
            <a:endParaRPr lang="en-TW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6547CBA-F022-4705-8F20-FF6F0A072110}"/>
              </a:ext>
            </a:extLst>
          </p:cNvPr>
          <p:cNvSpPr>
            <a:spLocks noGrp="1"/>
          </p:cNvSpPr>
          <p:nvPr/>
        </p:nvSpPr>
        <p:spPr>
          <a:xfrm>
            <a:off x="8705850" y="4781550"/>
            <a:ext cx="1714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paired bootstrap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B7F238C-556E-47A2-8DF7-FE1C221C5D1D}"/>
              </a:ext>
            </a:extLst>
          </p:cNvPr>
          <p:cNvSpPr>
            <a:spLocks noGrp="1"/>
          </p:cNvSpPr>
          <p:nvPr/>
        </p:nvSpPr>
        <p:spPr>
          <a:xfrm>
            <a:off x="8705850" y="5048250"/>
            <a:ext cx="1809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050" b="0">
                <a:solidFill>
                  <a:srgbClr val="5D6775"/>
                </a:solidFill>
              </a:defRPr>
            </a:pPr>
            <a:r>
              <a:rPr sz="1050" b="0">
                <a:solidFill>
                  <a:srgbClr val="5D6775"/>
                </a:solidFill>
              </a:rPr>
              <a:t>以相同樣本索引配對比較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C600352-8310-4F6D-A2D5-65EE95E3D372}"/>
              </a:ext>
            </a:extLst>
          </p:cNvPr>
          <p:cNvSpPr>
            <a:spLocks noGrp="1"/>
          </p:cNvSpPr>
          <p:nvPr/>
        </p:nvSpPr>
        <p:spPr>
          <a:xfrm>
            <a:off x="685800" y="5676900"/>
            <a:ext cx="10134600" cy="9525"/>
          </a:xfrm>
          <a:prstGeom prst="rect">
            <a:avLst/>
          </a:prstGeom>
          <a:solidFill>
            <a:srgbClr val="C6CCD3"/>
          </a:solidFill>
          <a:ln w="0">
            <a:noFill/>
            <a:prstDash val="solid"/>
          </a:ln>
        </p:spPr>
        <p:txBody>
          <a:bodyPr anchor="ctr"/>
          <a:lstStyle/>
          <a:p>
            <a:endParaRPr lang="en-TW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EB59A77-2E33-4AC0-92A5-F7EA878182E6}"/>
              </a:ext>
            </a:extLst>
          </p:cNvPr>
          <p:cNvSpPr>
            <a:spLocks noGrp="1"/>
          </p:cNvSpPr>
          <p:nvPr/>
        </p:nvSpPr>
        <p:spPr>
          <a:xfrm>
            <a:off x="685800" y="5886450"/>
            <a:ext cx="2381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575" b="1">
                <a:solidFill>
                  <a:srgbClr val="111827"/>
                </a:solidFill>
              </a:defRPr>
            </a:pPr>
            <a:r>
              <a:rPr sz="1575" b="1">
                <a:solidFill>
                  <a:srgbClr val="111827"/>
                </a:solidFill>
              </a:rPr>
              <a:t>主要指標：Macro F1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DADFF225-8211-47CF-B1C5-9ACC51AB3AD4}"/>
              </a:ext>
            </a:extLst>
          </p:cNvPr>
          <p:cNvSpPr>
            <a:spLocks noGrp="1"/>
          </p:cNvSpPr>
          <p:nvPr/>
        </p:nvSpPr>
        <p:spPr>
          <a:xfrm>
            <a:off x="3543300" y="5905500"/>
            <a:ext cx="4762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350" b="0">
                <a:solidFill>
                  <a:srgbClr val="5D6775"/>
                </a:solidFill>
              </a:defRPr>
            </a:pPr>
            <a:r>
              <a:rPr sz="1350" b="0">
                <a:solidFill>
                  <a:srgbClr val="5D6775"/>
                </a:solidFill>
              </a:rPr>
              <a:t>輔助解讀：Accuracy、類別 F1、多數類別基準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66712F9C-DE68-4794-B63B-E83D40E3BCF7}"/>
              </a:ext>
            </a:extLst>
          </p:cNvPr>
          <p:cNvSpPr>
            <a:spLocks noGrp="1"/>
          </p:cNvSpPr>
          <p:nvPr/>
        </p:nvSpPr>
        <p:spPr>
          <a:xfrm>
            <a:off x="8705850" y="5905500"/>
            <a:ext cx="2095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200" b="0">
                <a:solidFill>
                  <a:srgbClr val="5D6775"/>
                </a:solidFill>
              </a:defRPr>
            </a:pPr>
            <a:r>
              <a:rPr sz="1200" b="0">
                <a:solidFill>
                  <a:srgbClr val="5D6775"/>
                </a:solidFill>
              </a:rPr>
              <a:t>三類結果樣本並不平均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9724653-1F52-495D-B015-C3366BA6E2C8}"/>
              </a:ext>
            </a:extLst>
          </p:cNvPr>
          <p:cNvSpPr>
            <a:spLocks noGrp="1"/>
          </p:cNvSpPr>
          <p:nvPr/>
        </p:nvSpPr>
        <p:spPr>
          <a:xfrm>
            <a:off x="11163300" y="6457950"/>
            <a:ext cx="3429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825" b="1">
                <a:solidFill>
                  <a:srgbClr val="5D6775"/>
                </a:solidFill>
              </a:defRPr>
            </a:pPr>
            <a:r>
              <a:rPr sz="825" b="1">
                <a:solidFill>
                  <a:srgbClr val="5D6775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2523623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A527DADE-599A-413D-925B-7C0C2DD93137}"/>
              </a:ext>
            </a:extLst>
          </p:cNvPr>
          <p:cNvSpPr>
            <a:spLocks noGrp="1"/>
          </p:cNvSpPr>
          <p:nvPr/>
        </p:nvSpPr>
        <p:spPr>
          <a:xfrm>
            <a:off x="685800" y="457200"/>
            <a:ext cx="3333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050" b="1">
                <a:solidFill>
                  <a:srgbClr val="3D8DFF"/>
                </a:solidFill>
              </a:defRPr>
            </a:pPr>
            <a:r>
              <a:rPr sz="1050" b="1">
                <a:solidFill>
                  <a:srgbClr val="3D8DFF"/>
                </a:solidFill>
              </a:rPr>
              <a:t>發現一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A2944A93-2D04-4D5E-B548-D310398133BF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287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2850" b="1">
                <a:solidFill>
                  <a:srgbClr val="111827"/>
                </a:solidFill>
              </a:defRPr>
            </a:pPr>
            <a:r>
              <a:rPr sz="2850" b="1">
                <a:solidFill>
                  <a:srgbClr val="111827"/>
                </a:solidFill>
              </a:rPr>
              <a:t>Direct SVM 在四類案件中都較佳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98A6CA0-AF4B-4460-A6D1-5ABD8BC305BD}"/>
              </a:ext>
            </a:extLst>
          </p:cNvPr>
          <p:cNvSpPr>
            <a:spLocks noGrp="1"/>
          </p:cNvSpPr>
          <p:nvPr/>
        </p:nvSpPr>
        <p:spPr>
          <a:xfrm>
            <a:off x="685800" y="1381125"/>
            <a:ext cx="9906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275" b="0">
                <a:solidFill>
                  <a:srgbClr val="5D6775"/>
                </a:solidFill>
              </a:defRPr>
            </a:pPr>
            <a:r>
              <a:rPr sz="1275" b="0">
                <a:solidFill>
                  <a:srgbClr val="5D6775"/>
                </a:solidFill>
              </a:rPr>
              <a:t>相對於加入 MNIR 轉換的流程，Macro F1 差異皆為正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84A7E4C-E7AB-4778-933C-2B7D949FF607}"/>
              </a:ext>
            </a:extLst>
          </p:cNvPr>
          <p:cNvSpPr>
            <a:spLocks noGrp="1"/>
          </p:cNvSpPr>
          <p:nvPr/>
        </p:nvSpPr>
        <p:spPr>
          <a:xfrm>
            <a:off x="685800" y="1790700"/>
            <a:ext cx="10820400" cy="19050"/>
          </a:xfrm>
          <a:prstGeom prst="rect">
            <a:avLst/>
          </a:prstGeom>
          <a:solidFill>
            <a:srgbClr val="C6CCD3"/>
          </a:solidFill>
          <a:ln w="0">
            <a:noFill/>
            <a:prstDash val="solid"/>
          </a:ln>
        </p:spPr>
        <p:txBody>
          <a:bodyPr anchor="ctr"/>
          <a:lstStyle/>
          <a:p>
            <a:endParaRPr lang="en-TW"/>
          </a:p>
        </p:txBody>
      </p:sp>
      <p:graphicFrame>
        <p:nvGraphicFramePr>
          <p:cNvPr id="17" name="Chart"/>
          <p:cNvGraphicFramePr/>
          <p:nvPr>
            <p:extLst>
              <p:ext uri="{D42A27DB-BD31-4B8C-83A1-F6EECF244321}">
                <p14:modId xmlns:p14="http://schemas.microsoft.com/office/powerpoint/2010/main" val="1726053343"/>
              </p:ext>
            </p:extLst>
          </p:nvPr>
        </p:nvGraphicFramePr>
        <p:xfrm>
          <a:off x="838200" y="2362200"/>
          <a:ext cx="5905500" cy="33337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1535F737-FAD4-446C-B074-778214976C96}"/>
              </a:ext>
            </a:extLst>
          </p:cNvPr>
          <p:cNvSpPr>
            <a:spLocks noGrp="1"/>
          </p:cNvSpPr>
          <p:nvPr/>
        </p:nvSpPr>
        <p:spPr>
          <a:xfrm>
            <a:off x="7486650" y="2381250"/>
            <a:ext cx="3333750" cy="3181350"/>
          </a:xfrm>
          <a:prstGeom prst="rect">
            <a:avLst/>
          </a:prstGeom>
          <a:solidFill>
            <a:srgbClr val="F8FAFC"/>
          </a:solidFill>
          <a:ln w="0">
            <a:noFill/>
            <a:prstDash val="solid"/>
          </a:ln>
        </p:spPr>
        <p:txBody>
          <a:bodyPr anchor="ctr"/>
          <a:lstStyle/>
          <a:p>
            <a:endParaRPr lang="en-TW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C964967-6912-45A7-8184-CB05ACCBAC9A}"/>
              </a:ext>
            </a:extLst>
          </p:cNvPr>
          <p:cNvSpPr>
            <a:spLocks noGrp="1"/>
          </p:cNvSpPr>
          <p:nvPr/>
        </p:nvSpPr>
        <p:spPr>
          <a:xfrm>
            <a:off x="7772400" y="2647950"/>
            <a:ext cx="2095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650" b="1">
                <a:solidFill>
                  <a:srgbClr val="3D8DFF"/>
                </a:solidFill>
              </a:defRPr>
            </a:pPr>
            <a:r>
              <a:rPr sz="1650" b="1">
                <a:solidFill>
                  <a:srgbClr val="3D8DFF"/>
                </a:solidFill>
              </a:rPr>
              <a:t>方向一致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7DFC6CE-A8B2-4262-8475-D5CC7439F1C4}"/>
              </a:ext>
            </a:extLst>
          </p:cNvPr>
          <p:cNvSpPr>
            <a:spLocks noGrp="1"/>
          </p:cNvSpPr>
          <p:nvPr/>
        </p:nvSpPr>
        <p:spPr>
          <a:xfrm>
            <a:off x="7772400" y="3143250"/>
            <a:ext cx="2476500" cy="933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2175" b="1">
                <a:solidFill>
                  <a:srgbClr val="111827"/>
                </a:solidFill>
              </a:defRPr>
            </a:pPr>
            <a:r>
              <a:rPr sz="2175" b="1">
                <a:solidFill>
                  <a:srgbClr val="111827"/>
                </a:solidFill>
              </a:rPr>
              <a:t>四個資料集的</a:t>
            </a:r>
          </a:p>
          <a:p>
            <a:pPr>
              <a:defRPr sz="2175" b="1">
                <a:solidFill>
                  <a:srgbClr val="111827"/>
                </a:solidFill>
              </a:defRPr>
            </a:pPr>
            <a:r>
              <a:rPr sz="2175" b="1">
                <a:solidFill>
                  <a:srgbClr val="111827"/>
                </a:solidFill>
              </a:rPr>
              <a:t>95% paired bootstrap</a:t>
            </a:r>
          </a:p>
          <a:p>
            <a:pPr>
              <a:defRPr sz="2175" b="1">
                <a:solidFill>
                  <a:srgbClr val="111827"/>
                </a:solidFill>
              </a:defRPr>
            </a:pPr>
            <a:r>
              <a:rPr sz="2175" b="1">
                <a:solidFill>
                  <a:srgbClr val="111827"/>
                </a:solidFill>
              </a:rPr>
              <a:t>信賴區間皆未跨零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0D2EE8A-FAB3-46FC-9497-EBAB0446DC2F}"/>
              </a:ext>
            </a:extLst>
          </p:cNvPr>
          <p:cNvSpPr>
            <a:spLocks noGrp="1"/>
          </p:cNvSpPr>
          <p:nvPr/>
        </p:nvSpPr>
        <p:spPr>
          <a:xfrm>
            <a:off x="7772400" y="4324350"/>
            <a:ext cx="2381250" cy="9525"/>
          </a:xfrm>
          <a:prstGeom prst="rect">
            <a:avLst/>
          </a:prstGeom>
          <a:solidFill>
            <a:srgbClr val="C6CCD3"/>
          </a:solidFill>
          <a:ln w="0">
            <a:noFill/>
            <a:prstDash val="solid"/>
          </a:ln>
        </p:spPr>
        <p:txBody>
          <a:bodyPr anchor="ctr"/>
          <a:lstStyle/>
          <a:p>
            <a:endParaRPr lang="en-TW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E57FB16-80E1-47FB-9444-6039CA411348}"/>
              </a:ext>
            </a:extLst>
          </p:cNvPr>
          <p:cNvSpPr>
            <a:spLocks noGrp="1"/>
          </p:cNvSpPr>
          <p:nvPr/>
        </p:nvSpPr>
        <p:spPr>
          <a:xfrm>
            <a:off x="7772400" y="4572000"/>
            <a:ext cx="2476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複雜度不等於效果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B1A3B7B-EE89-4E5C-B672-FFDCD918C4FD}"/>
              </a:ext>
            </a:extLst>
          </p:cNvPr>
          <p:cNvSpPr>
            <a:spLocks noGrp="1"/>
          </p:cNvSpPr>
          <p:nvPr/>
        </p:nvSpPr>
        <p:spPr>
          <a:xfrm>
            <a:off x="7772400" y="4972050"/>
            <a:ext cx="25717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200" b="0">
                <a:solidFill>
                  <a:srgbClr val="5D6775"/>
                </a:solidFill>
              </a:defRPr>
            </a:pPr>
            <a:r>
              <a:rPr sz="1200" b="0">
                <a:solidFill>
                  <a:srgbClr val="5D6775"/>
                </a:solidFill>
              </a:rPr>
              <a:t>MNIR 的二維壓縮可能讓部分</a:t>
            </a:r>
          </a:p>
          <a:p>
            <a:pPr>
              <a:defRPr sz="1200" b="0">
                <a:solidFill>
                  <a:srgbClr val="5D6775"/>
                </a:solidFill>
              </a:defRPr>
            </a:pPr>
            <a:r>
              <a:rPr sz="1200" b="0">
                <a:solidFill>
                  <a:srgbClr val="5D6775"/>
                </a:solidFill>
              </a:rPr>
              <a:t>高維可分訊號無法被利用。</a:t>
            </a:r>
          </a:p>
          <a:p>
            <a:pPr>
              <a:defRPr sz="1200" b="0">
                <a:solidFill>
                  <a:srgbClr val="5D6775"/>
                </a:solidFill>
              </a:defRPr>
            </a:pPr>
            <a:r>
              <a:rPr sz="1200" b="0">
                <a:solidFill>
                  <a:srgbClr val="5D6775"/>
                </a:solidFill>
              </a:rPr>
              <a:t>這是合理推論，非機制驗證。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4E2E816-A6AE-4AC3-A1BC-8D8E533E0835}"/>
              </a:ext>
            </a:extLst>
          </p:cNvPr>
          <p:cNvSpPr>
            <a:spLocks noGrp="1"/>
          </p:cNvSpPr>
          <p:nvPr/>
        </p:nvSpPr>
        <p:spPr>
          <a:xfrm>
            <a:off x="11163300" y="6457950"/>
            <a:ext cx="3429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825" b="1">
                <a:solidFill>
                  <a:srgbClr val="5D6775"/>
                </a:solidFill>
              </a:defRPr>
            </a:pPr>
            <a:r>
              <a:rPr sz="825" b="1">
                <a:solidFill>
                  <a:srgbClr val="5D6775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8833298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A2034D91-79A1-42A0-AFF4-CC812F127331}"/>
              </a:ext>
            </a:extLst>
          </p:cNvPr>
          <p:cNvSpPr>
            <a:spLocks noGrp="1"/>
          </p:cNvSpPr>
          <p:nvPr/>
        </p:nvSpPr>
        <p:spPr>
          <a:xfrm>
            <a:off x="685800" y="457200"/>
            <a:ext cx="3333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050" b="1">
                <a:solidFill>
                  <a:srgbClr val="3D8DFF"/>
                </a:solidFill>
              </a:defRPr>
            </a:pPr>
            <a:r>
              <a:rPr sz="1050" b="1">
                <a:solidFill>
                  <a:srgbClr val="3D8DFF"/>
                </a:solidFill>
              </a:rPr>
              <a:t>發現二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7B695010-B125-44EE-B86C-BEEDACE0ED4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287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2850" b="1">
                <a:solidFill>
                  <a:srgbClr val="111827"/>
                </a:solidFill>
              </a:defRPr>
            </a:pPr>
            <a:r>
              <a:rPr sz="2850" b="1">
                <a:solidFill>
                  <a:srgbClr val="111827"/>
                </a:solidFill>
              </a:rPr>
              <a:t>不同案件，說著不同的文字語言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7CB8892-F607-4F2F-B028-B6913F58C2A2}"/>
              </a:ext>
            </a:extLst>
          </p:cNvPr>
          <p:cNvSpPr>
            <a:spLocks noGrp="1"/>
          </p:cNvSpPr>
          <p:nvPr/>
        </p:nvSpPr>
        <p:spPr>
          <a:xfrm>
            <a:off x="685800" y="1381125"/>
            <a:ext cx="9906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275" b="0">
                <a:solidFill>
                  <a:srgbClr val="5D6775"/>
                </a:solidFill>
              </a:defRPr>
            </a:pPr>
            <a:r>
              <a:rPr sz="1275" b="0">
                <a:solidFill>
                  <a:srgbClr val="5D6775"/>
                </a:solidFill>
              </a:rPr>
              <a:t>不存在一種文字表示可以在所有案件中勝出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B069C3B-659F-40B2-A801-62BE685C50AE}"/>
              </a:ext>
            </a:extLst>
          </p:cNvPr>
          <p:cNvSpPr>
            <a:spLocks noGrp="1"/>
          </p:cNvSpPr>
          <p:nvPr/>
        </p:nvSpPr>
        <p:spPr>
          <a:xfrm>
            <a:off x="685800" y="1790700"/>
            <a:ext cx="10820400" cy="19050"/>
          </a:xfrm>
          <a:prstGeom prst="rect">
            <a:avLst/>
          </a:prstGeom>
          <a:solidFill>
            <a:srgbClr val="C6CCD3"/>
          </a:solidFill>
          <a:ln w="0">
            <a:noFill/>
            <a:prstDash val="solid"/>
          </a:ln>
        </p:spPr>
        <p:txBody>
          <a:bodyPr anchor="ctr"/>
          <a:lstStyle/>
          <a:p>
            <a:endParaRPr lang="en-TW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14B1A3F-2E7A-43C3-8B2C-537E933A8C14}"/>
              </a:ext>
            </a:extLst>
          </p:cNvPr>
          <p:cNvSpPr>
            <a:spLocks noGrp="1"/>
          </p:cNvSpPr>
          <p:nvPr/>
        </p:nvSpPr>
        <p:spPr>
          <a:xfrm>
            <a:off x="838200" y="2343150"/>
            <a:ext cx="2000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275" b="1">
                <a:solidFill>
                  <a:srgbClr val="5D6775"/>
                </a:solidFill>
              </a:defRPr>
            </a:pPr>
            <a:r>
              <a:rPr sz="1275" b="1">
                <a:solidFill>
                  <a:srgbClr val="5D6775"/>
                </a:solidFill>
              </a:rPr>
              <a:t>案件類型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BDCB370-3C16-413C-96A3-CFEA8135E5B3}"/>
              </a:ext>
            </a:extLst>
          </p:cNvPr>
          <p:cNvSpPr>
            <a:spLocks noGrp="1"/>
          </p:cNvSpPr>
          <p:nvPr/>
        </p:nvSpPr>
        <p:spPr>
          <a:xfrm>
            <a:off x="5105400" y="2343150"/>
            <a:ext cx="238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275" b="1">
                <a:solidFill>
                  <a:srgbClr val="5D6775"/>
                </a:solidFill>
              </a:defRPr>
            </a:pPr>
            <a:r>
              <a:rPr sz="1275" b="1">
                <a:solidFill>
                  <a:srgbClr val="5D6775"/>
                </a:solidFill>
              </a:rPr>
              <a:t>最佳文字表示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E1004CB-A8F9-44C7-A8A4-0931B0AE0E2C}"/>
              </a:ext>
            </a:extLst>
          </p:cNvPr>
          <p:cNvSpPr>
            <a:spLocks noGrp="1"/>
          </p:cNvSpPr>
          <p:nvPr/>
        </p:nvSpPr>
        <p:spPr>
          <a:xfrm>
            <a:off x="685800" y="2647950"/>
            <a:ext cx="8191500" cy="9525"/>
          </a:xfrm>
          <a:prstGeom prst="rect">
            <a:avLst/>
          </a:prstGeom>
          <a:solidFill>
            <a:srgbClr val="C6CCD3"/>
          </a:solidFill>
          <a:ln w="0">
            <a:noFill/>
            <a:prstDash val="solid"/>
          </a:ln>
        </p:spPr>
        <p:txBody>
          <a:bodyPr anchor="ctr"/>
          <a:lstStyle/>
          <a:p>
            <a:endParaRPr lang="en-TW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84A6252-915B-43A4-952E-1558513D13C7}"/>
              </a:ext>
            </a:extLst>
          </p:cNvPr>
          <p:cNvSpPr>
            <a:spLocks noGrp="1"/>
          </p:cNvSpPr>
          <p:nvPr/>
        </p:nvSpPr>
        <p:spPr>
          <a:xfrm>
            <a:off x="838200" y="2876550"/>
            <a:ext cx="2762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725" b="1">
                <a:solidFill>
                  <a:srgbClr val="111827"/>
                </a:solidFill>
              </a:defRPr>
            </a:pPr>
            <a:r>
              <a:rPr sz="1725" b="1">
                <a:solidFill>
                  <a:srgbClr val="111827"/>
                </a:solidFill>
              </a:rPr>
              <a:t>行政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B7E3A05-3602-4D49-97DE-B8AD7312E2EC}"/>
              </a:ext>
            </a:extLst>
          </p:cNvPr>
          <p:cNvSpPr>
            <a:spLocks noGrp="1"/>
          </p:cNvSpPr>
          <p:nvPr/>
        </p:nvSpPr>
        <p:spPr>
          <a:xfrm>
            <a:off x="5105400" y="2876550"/>
            <a:ext cx="2190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725" b="1">
                <a:solidFill>
                  <a:srgbClr val="111827"/>
                </a:solidFill>
              </a:defRPr>
            </a:pPr>
            <a:r>
              <a:rPr sz="1725" b="1">
                <a:solidFill>
                  <a:srgbClr val="111827"/>
                </a:solidFill>
              </a:rPr>
              <a:t>BoW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EFFE606-D714-45B5-984C-543DA7CFE6E6}"/>
              </a:ext>
            </a:extLst>
          </p:cNvPr>
          <p:cNvSpPr>
            <a:spLocks noGrp="1"/>
          </p:cNvSpPr>
          <p:nvPr/>
        </p:nvSpPr>
        <p:spPr>
          <a:xfrm>
            <a:off x="685800" y="3295650"/>
            <a:ext cx="8191500" cy="9525"/>
          </a:xfrm>
          <a:prstGeom prst="rect">
            <a:avLst/>
          </a:prstGeom>
          <a:solidFill>
            <a:srgbClr val="C6CCD3"/>
          </a:solidFill>
          <a:ln w="0">
            <a:noFill/>
            <a:prstDash val="solid"/>
          </a:ln>
        </p:spPr>
        <p:txBody>
          <a:bodyPr anchor="ctr"/>
          <a:lstStyle/>
          <a:p>
            <a:endParaRPr lang="en-TW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76BCF6D-B09E-4734-AF61-D1622872D2AA}"/>
              </a:ext>
            </a:extLst>
          </p:cNvPr>
          <p:cNvSpPr>
            <a:spLocks noGrp="1"/>
          </p:cNvSpPr>
          <p:nvPr/>
        </p:nvSpPr>
        <p:spPr>
          <a:xfrm>
            <a:off x="838200" y="3486150"/>
            <a:ext cx="2762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725" b="1">
                <a:solidFill>
                  <a:srgbClr val="111827"/>
                </a:solidFill>
              </a:defRPr>
            </a:pPr>
            <a:r>
              <a:rPr sz="1725" b="1">
                <a:solidFill>
                  <a:srgbClr val="111827"/>
                </a:solidFill>
              </a:rPr>
              <a:t>民事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1EC7303-36FC-4F06-AC9E-E5B4997B97B7}"/>
              </a:ext>
            </a:extLst>
          </p:cNvPr>
          <p:cNvSpPr>
            <a:spLocks noGrp="1"/>
          </p:cNvSpPr>
          <p:nvPr/>
        </p:nvSpPr>
        <p:spPr>
          <a:xfrm>
            <a:off x="5105400" y="3486150"/>
            <a:ext cx="2190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725" b="1">
                <a:solidFill>
                  <a:srgbClr val="3D8DFF"/>
                </a:solidFill>
              </a:defRPr>
            </a:pPr>
            <a:r>
              <a:rPr sz="1725" b="1">
                <a:solidFill>
                  <a:srgbClr val="3D8DFF"/>
                </a:solidFill>
              </a:rPr>
              <a:t>TF-IDF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0B2C011-ABD0-4A82-9B53-C12BB4CBB5FC}"/>
              </a:ext>
            </a:extLst>
          </p:cNvPr>
          <p:cNvSpPr>
            <a:spLocks noGrp="1"/>
          </p:cNvSpPr>
          <p:nvPr/>
        </p:nvSpPr>
        <p:spPr>
          <a:xfrm>
            <a:off x="685800" y="3905250"/>
            <a:ext cx="8191500" cy="9525"/>
          </a:xfrm>
          <a:prstGeom prst="rect">
            <a:avLst/>
          </a:prstGeom>
          <a:solidFill>
            <a:srgbClr val="C6CCD3"/>
          </a:solidFill>
          <a:ln w="0">
            <a:noFill/>
            <a:prstDash val="solid"/>
          </a:ln>
        </p:spPr>
        <p:txBody>
          <a:bodyPr anchor="ctr"/>
          <a:lstStyle/>
          <a:p>
            <a:endParaRPr lang="en-TW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22B1E9E-ABA8-49BA-9DD7-4F814E6699FB}"/>
              </a:ext>
            </a:extLst>
          </p:cNvPr>
          <p:cNvSpPr>
            <a:spLocks noGrp="1"/>
          </p:cNvSpPr>
          <p:nvPr/>
        </p:nvSpPr>
        <p:spPr>
          <a:xfrm>
            <a:off x="838200" y="4095750"/>
            <a:ext cx="2762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725" b="1">
                <a:solidFill>
                  <a:srgbClr val="111827"/>
                </a:solidFill>
              </a:defRPr>
            </a:pPr>
            <a:r>
              <a:rPr sz="1725" b="1">
                <a:solidFill>
                  <a:srgbClr val="111827"/>
                </a:solidFill>
              </a:rPr>
              <a:t>刑事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5303C8C-7141-4EBD-BC39-A7A2F99F5DA1}"/>
              </a:ext>
            </a:extLst>
          </p:cNvPr>
          <p:cNvSpPr>
            <a:spLocks noGrp="1"/>
          </p:cNvSpPr>
          <p:nvPr/>
        </p:nvSpPr>
        <p:spPr>
          <a:xfrm>
            <a:off x="5105400" y="4095750"/>
            <a:ext cx="2190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725" b="1">
                <a:solidFill>
                  <a:srgbClr val="111827"/>
                </a:solidFill>
              </a:defRPr>
            </a:pPr>
            <a:r>
              <a:rPr sz="1725" b="1">
                <a:solidFill>
                  <a:srgbClr val="111827"/>
                </a:solidFill>
              </a:rPr>
              <a:t>TF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21A3B88-6F43-4381-BB2E-5D09A4F8ABE4}"/>
              </a:ext>
            </a:extLst>
          </p:cNvPr>
          <p:cNvSpPr>
            <a:spLocks noGrp="1"/>
          </p:cNvSpPr>
          <p:nvPr/>
        </p:nvSpPr>
        <p:spPr>
          <a:xfrm>
            <a:off x="685800" y="4514850"/>
            <a:ext cx="8191500" cy="9525"/>
          </a:xfrm>
          <a:prstGeom prst="rect">
            <a:avLst/>
          </a:prstGeom>
          <a:solidFill>
            <a:srgbClr val="C6CCD3"/>
          </a:solidFill>
          <a:ln w="0">
            <a:noFill/>
            <a:prstDash val="solid"/>
          </a:ln>
        </p:spPr>
        <p:txBody>
          <a:bodyPr anchor="ctr"/>
          <a:lstStyle/>
          <a:p>
            <a:endParaRPr lang="en-TW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DE22F43-7696-4E68-A0C9-7C21381A9CC7}"/>
              </a:ext>
            </a:extLst>
          </p:cNvPr>
          <p:cNvSpPr>
            <a:spLocks noGrp="1"/>
          </p:cNvSpPr>
          <p:nvPr/>
        </p:nvSpPr>
        <p:spPr>
          <a:xfrm>
            <a:off x="838200" y="4705350"/>
            <a:ext cx="2762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725" b="1">
                <a:solidFill>
                  <a:srgbClr val="111827"/>
                </a:solidFill>
              </a:defRPr>
            </a:pPr>
            <a:r>
              <a:rPr sz="1725" b="1">
                <a:solidFill>
                  <a:srgbClr val="111827"/>
                </a:solidFill>
              </a:rPr>
              <a:t>刑事附帶民事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F2FD081-FB9A-4B25-BB2A-A2F925E58DB5}"/>
              </a:ext>
            </a:extLst>
          </p:cNvPr>
          <p:cNvSpPr>
            <a:spLocks noGrp="1"/>
          </p:cNvSpPr>
          <p:nvPr/>
        </p:nvSpPr>
        <p:spPr>
          <a:xfrm>
            <a:off x="5105400" y="4705350"/>
            <a:ext cx="2190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725" b="1">
                <a:solidFill>
                  <a:srgbClr val="111827"/>
                </a:solidFill>
              </a:defRPr>
            </a:pPr>
            <a:r>
              <a:rPr sz="1725" b="1">
                <a:solidFill>
                  <a:srgbClr val="111827"/>
                </a:solidFill>
              </a:rPr>
              <a:t>BoW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BCD07CD-094C-4B92-9AE6-372568055BB6}"/>
              </a:ext>
            </a:extLst>
          </p:cNvPr>
          <p:cNvSpPr>
            <a:spLocks noGrp="1"/>
          </p:cNvSpPr>
          <p:nvPr/>
        </p:nvSpPr>
        <p:spPr>
          <a:xfrm>
            <a:off x="685800" y="5124450"/>
            <a:ext cx="8191500" cy="9525"/>
          </a:xfrm>
          <a:prstGeom prst="rect">
            <a:avLst/>
          </a:prstGeom>
          <a:solidFill>
            <a:srgbClr val="C6CCD3"/>
          </a:solidFill>
          <a:ln w="0">
            <a:noFill/>
            <a:prstDash val="solid"/>
          </a:ln>
        </p:spPr>
        <p:txBody>
          <a:bodyPr anchor="ctr"/>
          <a:lstStyle/>
          <a:p>
            <a:endParaRPr lang="en-TW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43C5587-892B-4854-BD96-AB031E63217E}"/>
              </a:ext>
            </a:extLst>
          </p:cNvPr>
          <p:cNvSpPr>
            <a:spLocks noGrp="1"/>
          </p:cNvSpPr>
          <p:nvPr/>
        </p:nvSpPr>
        <p:spPr>
          <a:xfrm>
            <a:off x="9182100" y="2324100"/>
            <a:ext cx="1638300" cy="3333750"/>
          </a:xfrm>
          <a:prstGeom prst="rect">
            <a:avLst/>
          </a:prstGeom>
          <a:solidFill>
            <a:srgbClr val="DCEEFF"/>
          </a:solidFill>
          <a:ln w="0">
            <a:noFill/>
            <a:prstDash val="solid"/>
          </a:ln>
        </p:spPr>
        <p:txBody>
          <a:bodyPr anchor="ctr"/>
          <a:lstStyle/>
          <a:p>
            <a:endParaRPr lang="en-TW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72B07F5-D529-457F-9383-B45425854964}"/>
              </a:ext>
            </a:extLst>
          </p:cNvPr>
          <p:cNvSpPr>
            <a:spLocks noGrp="1"/>
          </p:cNvSpPr>
          <p:nvPr/>
        </p:nvSpPr>
        <p:spPr>
          <a:xfrm>
            <a:off x="9153525" y="2752725"/>
            <a:ext cx="1695450" cy="1066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2250" b="1">
                <a:solidFill>
                  <a:srgbClr val="111827"/>
                </a:solidFill>
              </a:defRPr>
            </a:pPr>
            <a:r>
              <a:rPr sz="2250" b="1" dirty="0" err="1">
                <a:solidFill>
                  <a:srgbClr val="111827"/>
                </a:solidFill>
              </a:rPr>
              <a:t>法律問題本來就不同</a:t>
            </a:r>
            <a:endParaRPr sz="2250" b="1" dirty="0">
              <a:solidFill>
                <a:srgbClr val="111827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10F8F95-B782-47A5-9846-7B4DCD75C62D}"/>
              </a:ext>
            </a:extLst>
          </p:cNvPr>
          <p:cNvSpPr>
            <a:spLocks noGrp="1"/>
          </p:cNvSpPr>
          <p:nvPr/>
        </p:nvSpPr>
        <p:spPr>
          <a:xfrm>
            <a:off x="9242794" y="4395787"/>
            <a:ext cx="150495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200" b="0">
                <a:solidFill>
                  <a:srgbClr val="5D6775"/>
                </a:solidFill>
              </a:defRPr>
            </a:pPr>
            <a:r>
              <a:rPr sz="1200" b="0" dirty="0" err="1">
                <a:solidFill>
                  <a:srgbClr val="5D6775"/>
                </a:solidFill>
              </a:rPr>
              <a:t>行政：處分合法性</a:t>
            </a:r>
            <a:endParaRPr sz="1200" b="0" dirty="0">
              <a:solidFill>
                <a:srgbClr val="5D6775"/>
              </a:solidFill>
            </a:endParaRPr>
          </a:p>
          <a:p>
            <a:pPr>
              <a:defRPr sz="1200" b="0">
                <a:solidFill>
                  <a:srgbClr val="5D6775"/>
                </a:solidFill>
              </a:defRPr>
            </a:pPr>
            <a:r>
              <a:rPr sz="1200" b="0" dirty="0" err="1">
                <a:solidFill>
                  <a:srgbClr val="5D6775"/>
                </a:solidFill>
              </a:rPr>
              <a:t>民事：侵權、賠償、攻防</a:t>
            </a:r>
            <a:endParaRPr sz="1200" b="0" dirty="0">
              <a:solidFill>
                <a:srgbClr val="5D6775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5840F4E-0488-4B5A-9308-A7644BD2DB58}"/>
              </a:ext>
            </a:extLst>
          </p:cNvPr>
          <p:cNvSpPr>
            <a:spLocks noGrp="1"/>
          </p:cNvSpPr>
          <p:nvPr/>
        </p:nvSpPr>
        <p:spPr>
          <a:xfrm>
            <a:off x="685800" y="5943600"/>
            <a:ext cx="9144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425" b="0">
                <a:solidFill>
                  <a:srgbClr val="5D6775"/>
                </a:solidFill>
              </a:defRPr>
            </a:pPr>
            <a:r>
              <a:rPr sz="1425" b="0">
                <a:solidFill>
                  <a:srgbClr val="5D6775"/>
                </a:solidFill>
              </a:rPr>
              <a:t>法律程序、請求內容、敘事方式與裁判結構不同，保留下來的分類訊號也會不同。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F0F0496-AF85-42EF-8913-27B24BD87F68}"/>
              </a:ext>
            </a:extLst>
          </p:cNvPr>
          <p:cNvSpPr>
            <a:spLocks noGrp="1"/>
          </p:cNvSpPr>
          <p:nvPr/>
        </p:nvSpPr>
        <p:spPr>
          <a:xfrm>
            <a:off x="11163300" y="6457950"/>
            <a:ext cx="3429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825" b="1">
                <a:solidFill>
                  <a:srgbClr val="5D6775"/>
                </a:solidFill>
              </a:defRPr>
            </a:pPr>
            <a:r>
              <a:rPr sz="825" b="1">
                <a:solidFill>
                  <a:srgbClr val="5D6775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6989835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28">
            <a:extLst>
              <a:ext uri="{FF2B5EF4-FFF2-40B4-BE49-F238E27FC236}">
                <a16:creationId xmlns:a16="http://schemas.microsoft.com/office/drawing/2014/main" id="{14180D20-DEE4-499E-BEF2-3C52C1505886}"/>
              </a:ext>
            </a:extLst>
          </p:cNvPr>
          <p:cNvSpPr>
            <a:spLocks noGrp="1"/>
          </p:cNvSpPr>
          <p:nvPr/>
        </p:nvSpPr>
        <p:spPr>
          <a:xfrm>
            <a:off x="685800" y="457200"/>
            <a:ext cx="3333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050" b="1">
                <a:solidFill>
                  <a:srgbClr val="3D8DFF"/>
                </a:solidFill>
              </a:defRPr>
            </a:pPr>
            <a:r>
              <a:rPr sz="1050" b="1">
                <a:solidFill>
                  <a:srgbClr val="3D8DFF"/>
                </a:solidFill>
              </a:rPr>
              <a:t>發現三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F7586429-F815-41B1-B0F2-7E254D901B9F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287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2850" b="1">
                <a:solidFill>
                  <a:srgbClr val="111827"/>
                </a:solidFill>
              </a:defRPr>
            </a:pPr>
            <a:r>
              <a:rPr sz="2850" b="1">
                <a:solidFill>
                  <a:srgbClr val="111827"/>
                </a:solidFill>
              </a:rPr>
              <a:t>高準確率，可能掩蓋少數類別的失敗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A243B2C-B05A-416D-B6A1-1C871B29E0B8}"/>
              </a:ext>
            </a:extLst>
          </p:cNvPr>
          <p:cNvSpPr>
            <a:spLocks noGrp="1"/>
          </p:cNvSpPr>
          <p:nvPr/>
        </p:nvSpPr>
        <p:spPr>
          <a:xfrm>
            <a:off x="685800" y="1381125"/>
            <a:ext cx="9906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275" b="0">
                <a:solidFill>
                  <a:srgbClr val="5D6775"/>
                </a:solidFill>
              </a:defRPr>
            </a:pPr>
            <a:r>
              <a:rPr sz="1275" b="0">
                <a:solidFill>
                  <a:srgbClr val="5D6775"/>
                </a:solidFill>
              </a:rPr>
              <a:t>以民事案件最佳模型為例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C075D7A-3208-4CFB-ABCF-D141FB5596FF}"/>
              </a:ext>
            </a:extLst>
          </p:cNvPr>
          <p:cNvSpPr>
            <a:spLocks noGrp="1"/>
          </p:cNvSpPr>
          <p:nvPr/>
        </p:nvSpPr>
        <p:spPr>
          <a:xfrm>
            <a:off x="685800" y="1790700"/>
            <a:ext cx="10820400" cy="19050"/>
          </a:xfrm>
          <a:prstGeom prst="rect">
            <a:avLst/>
          </a:prstGeom>
          <a:solidFill>
            <a:srgbClr val="C6CCD3"/>
          </a:solidFill>
          <a:ln w="0">
            <a:noFill/>
            <a:prstDash val="solid"/>
          </a:ln>
        </p:spPr>
        <p:txBody>
          <a:bodyPr anchor="ctr"/>
          <a:lstStyle/>
          <a:p>
            <a:endParaRPr lang="en-TW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34B3D22-650B-41AB-B792-1E34852DEC31}"/>
              </a:ext>
            </a:extLst>
          </p:cNvPr>
          <p:cNvSpPr>
            <a:spLocks noGrp="1"/>
          </p:cNvSpPr>
          <p:nvPr/>
        </p:nvSpPr>
        <p:spPr>
          <a:xfrm>
            <a:off x="685800" y="2324100"/>
            <a:ext cx="20002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3300" b="1">
                <a:solidFill>
                  <a:srgbClr val="111827"/>
                </a:solidFill>
              </a:defRPr>
            </a:pPr>
            <a:r>
              <a:rPr sz="3300" b="1">
                <a:solidFill>
                  <a:srgbClr val="111827"/>
                </a:solidFill>
              </a:rPr>
              <a:t>0.680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DC0F712-0C40-438A-AD0F-8F345010979C}"/>
              </a:ext>
            </a:extLst>
          </p:cNvPr>
          <p:cNvSpPr>
            <a:spLocks noGrp="1"/>
          </p:cNvSpPr>
          <p:nvPr/>
        </p:nvSpPr>
        <p:spPr>
          <a:xfrm>
            <a:off x="685800" y="2847975"/>
            <a:ext cx="2000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200" b="0">
                <a:solidFill>
                  <a:srgbClr val="5D6775"/>
                </a:solidFill>
              </a:defRPr>
            </a:pPr>
            <a:r>
              <a:rPr sz="1200" b="0">
                <a:solidFill>
                  <a:srgbClr val="5D6775"/>
                </a:solidFill>
              </a:rPr>
              <a:t>Accuracy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0FEC199-319D-42E2-B7BB-7DCD1789D617}"/>
              </a:ext>
            </a:extLst>
          </p:cNvPr>
          <p:cNvSpPr>
            <a:spLocks noGrp="1"/>
          </p:cNvSpPr>
          <p:nvPr/>
        </p:nvSpPr>
        <p:spPr>
          <a:xfrm>
            <a:off x="3200400" y="2324100"/>
            <a:ext cx="20002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3300" b="1">
                <a:solidFill>
                  <a:srgbClr val="3D8DFF"/>
                </a:solidFill>
              </a:defRPr>
            </a:pPr>
            <a:r>
              <a:rPr sz="3300" b="1">
                <a:solidFill>
                  <a:srgbClr val="3D8DFF"/>
                </a:solidFill>
              </a:rPr>
              <a:t>0.428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5A0F9F1-5FE6-4C95-8C3C-247F229E8731}"/>
              </a:ext>
            </a:extLst>
          </p:cNvPr>
          <p:cNvSpPr>
            <a:spLocks noGrp="1"/>
          </p:cNvSpPr>
          <p:nvPr/>
        </p:nvSpPr>
        <p:spPr>
          <a:xfrm>
            <a:off x="3200400" y="2847975"/>
            <a:ext cx="2000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200" b="0">
                <a:solidFill>
                  <a:srgbClr val="5D6775"/>
                </a:solidFill>
              </a:defRPr>
            </a:pPr>
            <a:r>
              <a:rPr sz="1200" b="0">
                <a:solidFill>
                  <a:srgbClr val="5D6775"/>
                </a:solidFill>
              </a:rPr>
              <a:t>Macro F1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9D0AA7C-72E8-4D22-89FA-25F69849F818}"/>
              </a:ext>
            </a:extLst>
          </p:cNvPr>
          <p:cNvSpPr>
            <a:spLocks noGrp="1"/>
          </p:cNvSpPr>
          <p:nvPr/>
        </p:nvSpPr>
        <p:spPr>
          <a:xfrm>
            <a:off x="685800" y="3181350"/>
            <a:ext cx="4762500" cy="9525"/>
          </a:xfrm>
          <a:prstGeom prst="rect">
            <a:avLst/>
          </a:prstGeom>
          <a:solidFill>
            <a:srgbClr val="C6CCD3"/>
          </a:solidFill>
          <a:ln w="0">
            <a:noFill/>
            <a:prstDash val="solid"/>
          </a:ln>
        </p:spPr>
        <p:txBody>
          <a:bodyPr anchor="ctr"/>
          <a:lstStyle/>
          <a:p>
            <a:endParaRPr lang="en-TW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55AEB19-F151-4F1C-A46C-A3232E536314}"/>
              </a:ext>
            </a:extLst>
          </p:cNvPr>
          <p:cNvSpPr>
            <a:spLocks noGrp="1"/>
          </p:cNvSpPr>
          <p:nvPr/>
        </p:nvSpPr>
        <p:spPr>
          <a:xfrm>
            <a:off x="685800" y="3562350"/>
            <a:ext cx="1428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350" b="1">
                <a:solidFill>
                  <a:srgbClr val="5D6775"/>
                </a:solidFill>
              </a:defRPr>
            </a:pPr>
            <a:r>
              <a:rPr sz="1350" b="1">
                <a:solidFill>
                  <a:srgbClr val="5D6775"/>
                </a:solidFill>
              </a:rPr>
              <a:t>各類別 F1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1C9F520-5A8D-499C-9CB8-04961A933369}"/>
              </a:ext>
            </a:extLst>
          </p:cNvPr>
          <p:cNvSpPr>
            <a:spLocks noGrp="1"/>
          </p:cNvSpPr>
          <p:nvPr/>
        </p:nvSpPr>
        <p:spPr>
          <a:xfrm>
            <a:off x="685800" y="4019550"/>
            <a:ext cx="9525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Lose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37C7CA4-1ECB-41B4-8F2A-0E26E4A55C56}"/>
              </a:ext>
            </a:extLst>
          </p:cNvPr>
          <p:cNvSpPr>
            <a:spLocks noGrp="1"/>
          </p:cNvSpPr>
          <p:nvPr/>
        </p:nvSpPr>
        <p:spPr>
          <a:xfrm>
            <a:off x="1619250" y="4057650"/>
            <a:ext cx="2291715" cy="161925"/>
          </a:xfrm>
          <a:prstGeom prst="rect">
            <a:avLst/>
          </a:prstGeom>
          <a:solidFill>
            <a:srgbClr val="111827"/>
          </a:solidFill>
          <a:ln w="0">
            <a:noFill/>
            <a:prstDash val="solid"/>
          </a:ln>
        </p:spPr>
        <p:txBody>
          <a:bodyPr anchor="ctr"/>
          <a:lstStyle/>
          <a:p>
            <a:endParaRPr lang="en-TW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1B495BD-EEFB-46E8-AB54-C8510BCEBCC6}"/>
              </a:ext>
            </a:extLst>
          </p:cNvPr>
          <p:cNvSpPr>
            <a:spLocks noGrp="1"/>
          </p:cNvSpPr>
          <p:nvPr/>
        </p:nvSpPr>
        <p:spPr>
          <a:xfrm>
            <a:off x="4667250" y="4000500"/>
            <a:ext cx="7239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275" b="1">
                <a:solidFill>
                  <a:srgbClr val="111827"/>
                </a:solidFill>
              </a:defRPr>
            </a:pPr>
            <a:r>
              <a:rPr sz="1275" b="1">
                <a:solidFill>
                  <a:srgbClr val="111827"/>
                </a:solidFill>
              </a:rPr>
              <a:t>0.802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590E5C9-6345-49DD-96B6-57C8355BFF3B}"/>
              </a:ext>
            </a:extLst>
          </p:cNvPr>
          <p:cNvSpPr>
            <a:spLocks noGrp="1"/>
          </p:cNvSpPr>
          <p:nvPr/>
        </p:nvSpPr>
        <p:spPr>
          <a:xfrm>
            <a:off x="685800" y="4533900"/>
            <a:ext cx="9525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Mixed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F06B92C-2EEE-40F8-9A37-38959C90135C}"/>
              </a:ext>
            </a:extLst>
          </p:cNvPr>
          <p:cNvSpPr>
            <a:spLocks noGrp="1"/>
          </p:cNvSpPr>
          <p:nvPr/>
        </p:nvSpPr>
        <p:spPr>
          <a:xfrm>
            <a:off x="1619250" y="4572000"/>
            <a:ext cx="1005840" cy="161925"/>
          </a:xfrm>
          <a:prstGeom prst="rect">
            <a:avLst/>
          </a:prstGeom>
          <a:solidFill>
            <a:srgbClr val="D97706"/>
          </a:solidFill>
          <a:ln w="0">
            <a:noFill/>
            <a:prstDash val="solid"/>
          </a:ln>
        </p:spPr>
        <p:txBody>
          <a:bodyPr anchor="ctr"/>
          <a:lstStyle/>
          <a:p>
            <a:endParaRPr lang="en-TW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9FCA5B5-CDCC-492B-8510-75027E16FB53}"/>
              </a:ext>
            </a:extLst>
          </p:cNvPr>
          <p:cNvSpPr>
            <a:spLocks noGrp="1"/>
          </p:cNvSpPr>
          <p:nvPr/>
        </p:nvSpPr>
        <p:spPr>
          <a:xfrm>
            <a:off x="4667250" y="4514850"/>
            <a:ext cx="7239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275" b="1">
                <a:solidFill>
                  <a:srgbClr val="111827"/>
                </a:solidFill>
              </a:defRPr>
            </a:pPr>
            <a:r>
              <a:rPr sz="1275" b="1">
                <a:solidFill>
                  <a:srgbClr val="111827"/>
                </a:solidFill>
              </a:rPr>
              <a:t>0.352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E6AD7E4-EDB6-497B-A775-F3B93C22A48D}"/>
              </a:ext>
            </a:extLst>
          </p:cNvPr>
          <p:cNvSpPr>
            <a:spLocks noGrp="1"/>
          </p:cNvSpPr>
          <p:nvPr/>
        </p:nvSpPr>
        <p:spPr>
          <a:xfrm>
            <a:off x="685800" y="5048250"/>
            <a:ext cx="9525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Win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1094511-4FD2-4700-A45B-31ABFC14147E}"/>
              </a:ext>
            </a:extLst>
          </p:cNvPr>
          <p:cNvSpPr>
            <a:spLocks noGrp="1"/>
          </p:cNvSpPr>
          <p:nvPr/>
        </p:nvSpPr>
        <p:spPr>
          <a:xfrm>
            <a:off x="1619250" y="5086350"/>
            <a:ext cx="371475" cy="161925"/>
          </a:xfrm>
          <a:prstGeom prst="rect">
            <a:avLst/>
          </a:prstGeom>
          <a:solidFill>
            <a:srgbClr val="C2410C"/>
          </a:solidFill>
          <a:ln w="0">
            <a:noFill/>
            <a:prstDash val="solid"/>
          </a:ln>
        </p:spPr>
        <p:txBody>
          <a:bodyPr anchor="ctr"/>
          <a:lstStyle/>
          <a:p>
            <a:endParaRPr lang="en-TW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18828CC-DF7D-4C30-8A31-BD82BF18E0C4}"/>
              </a:ext>
            </a:extLst>
          </p:cNvPr>
          <p:cNvSpPr>
            <a:spLocks noGrp="1"/>
          </p:cNvSpPr>
          <p:nvPr/>
        </p:nvSpPr>
        <p:spPr>
          <a:xfrm>
            <a:off x="4667250" y="5029200"/>
            <a:ext cx="7239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275" b="1">
                <a:solidFill>
                  <a:srgbClr val="111827"/>
                </a:solidFill>
              </a:defRPr>
            </a:pPr>
            <a:r>
              <a:rPr sz="1275" b="1">
                <a:solidFill>
                  <a:srgbClr val="111827"/>
                </a:solidFill>
              </a:rPr>
              <a:t>0.130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05EDEC7-11D7-467D-AFB6-A32D812DC972}"/>
              </a:ext>
            </a:extLst>
          </p:cNvPr>
          <p:cNvSpPr>
            <a:spLocks noGrp="1"/>
          </p:cNvSpPr>
          <p:nvPr/>
        </p:nvSpPr>
        <p:spPr>
          <a:xfrm>
            <a:off x="6477000" y="2305050"/>
            <a:ext cx="4343400" cy="3257550"/>
          </a:xfrm>
          <a:prstGeom prst="rect">
            <a:avLst/>
          </a:prstGeom>
          <a:solidFill>
            <a:srgbClr val="F8FAFC"/>
          </a:solidFill>
          <a:ln w="0">
            <a:noFill/>
            <a:prstDash val="solid"/>
          </a:ln>
        </p:spPr>
        <p:txBody>
          <a:bodyPr anchor="ctr"/>
          <a:lstStyle/>
          <a:p>
            <a:endParaRPr lang="en-TW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0B72781-8721-432C-942E-FF3F07661822}"/>
              </a:ext>
            </a:extLst>
          </p:cNvPr>
          <p:cNvSpPr>
            <a:spLocks noGrp="1"/>
          </p:cNvSpPr>
          <p:nvPr/>
        </p:nvSpPr>
        <p:spPr>
          <a:xfrm>
            <a:off x="6819900" y="2609850"/>
            <a:ext cx="17145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3225" b="1">
                <a:solidFill>
                  <a:srgbClr val="C2410C"/>
                </a:solidFill>
              </a:defRPr>
            </a:pPr>
            <a:r>
              <a:rPr sz="3225" b="1">
                <a:solidFill>
                  <a:srgbClr val="C2410C"/>
                </a:solidFill>
              </a:rPr>
              <a:t>86 件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A1F73BA-8216-4FF5-885F-ED7B9BF63402}"/>
              </a:ext>
            </a:extLst>
          </p:cNvPr>
          <p:cNvSpPr>
            <a:spLocks noGrp="1"/>
          </p:cNvSpPr>
          <p:nvPr/>
        </p:nvSpPr>
        <p:spPr>
          <a:xfrm>
            <a:off x="6819900" y="3162300"/>
            <a:ext cx="2381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350" b="0">
                <a:solidFill>
                  <a:srgbClr val="5D6775"/>
                </a:solidFill>
              </a:defRPr>
            </a:pPr>
            <a:r>
              <a:rPr sz="1350" b="0">
                <a:solidFill>
                  <a:srgbClr val="5D6775"/>
                </a:solidFill>
              </a:rPr>
              <a:t>測試集中實際勝訴案件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9583148-EBD0-43C6-B88E-AE2095D6B478}"/>
              </a:ext>
            </a:extLst>
          </p:cNvPr>
          <p:cNvSpPr>
            <a:spLocks noGrp="1"/>
          </p:cNvSpPr>
          <p:nvPr/>
        </p:nvSpPr>
        <p:spPr>
          <a:xfrm>
            <a:off x="6819900" y="3619500"/>
            <a:ext cx="3238500" cy="9525"/>
          </a:xfrm>
          <a:prstGeom prst="rect">
            <a:avLst/>
          </a:prstGeom>
          <a:solidFill>
            <a:srgbClr val="C6CCD3"/>
          </a:solidFill>
          <a:ln w="0">
            <a:noFill/>
            <a:prstDash val="solid"/>
          </a:ln>
        </p:spPr>
        <p:txBody>
          <a:bodyPr anchor="ctr"/>
          <a:lstStyle/>
          <a:p>
            <a:endParaRPr lang="en-TW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6F9E3DA-C26A-4896-A7FF-2FF452C799A8}"/>
              </a:ext>
            </a:extLst>
          </p:cNvPr>
          <p:cNvSpPr>
            <a:spLocks noGrp="1"/>
          </p:cNvSpPr>
          <p:nvPr/>
        </p:nvSpPr>
        <p:spPr>
          <a:xfrm>
            <a:off x="6819900" y="3924300"/>
            <a:ext cx="3238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725" b="1">
                <a:solidFill>
                  <a:srgbClr val="111827"/>
                </a:solidFill>
              </a:defRPr>
            </a:pPr>
            <a:r>
              <a:rPr sz="1725" b="1">
                <a:solidFill>
                  <a:srgbClr val="111827"/>
                </a:solidFill>
              </a:rPr>
              <a:t>只有 7 件被正確辨識為勝訴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33C3C54-45E0-4615-97EB-18B6B7752C0D}"/>
              </a:ext>
            </a:extLst>
          </p:cNvPr>
          <p:cNvSpPr>
            <a:spLocks noGrp="1"/>
          </p:cNvSpPr>
          <p:nvPr/>
        </p:nvSpPr>
        <p:spPr>
          <a:xfrm>
            <a:off x="6819900" y="4400550"/>
            <a:ext cx="2667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2025" b="1">
                <a:solidFill>
                  <a:srgbClr val="3D8DFF"/>
                </a:solidFill>
              </a:defRPr>
            </a:pPr>
            <a:r>
              <a:rPr sz="2025" b="1">
                <a:solidFill>
                  <a:srgbClr val="3D8DFF"/>
                </a:solidFill>
              </a:rPr>
              <a:t>Win recall = 0.081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98FF115E-DB95-45FD-BDCF-D18A132E0D8A}"/>
              </a:ext>
            </a:extLst>
          </p:cNvPr>
          <p:cNvSpPr>
            <a:spLocks noGrp="1"/>
          </p:cNvSpPr>
          <p:nvPr/>
        </p:nvSpPr>
        <p:spPr>
          <a:xfrm>
            <a:off x="6819900" y="4991100"/>
            <a:ext cx="31432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275" b="0">
                <a:solidFill>
                  <a:srgbClr val="5D6775"/>
                </a:solidFill>
              </a:defRPr>
            </a:pPr>
            <a:r>
              <a:rPr sz="1275" b="0">
                <a:solidFill>
                  <a:srgbClr val="5D6775"/>
                </a:solidFill>
              </a:rPr>
              <a:t>模型主要學到的是最常見的敗訴結果。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B07E7CF-75DF-4F1B-8CB1-74B2780EC2A4}"/>
              </a:ext>
            </a:extLst>
          </p:cNvPr>
          <p:cNvSpPr>
            <a:spLocks noGrp="1"/>
          </p:cNvSpPr>
          <p:nvPr/>
        </p:nvSpPr>
        <p:spPr>
          <a:xfrm>
            <a:off x="685800" y="5943600"/>
            <a:ext cx="9239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425" b="1">
                <a:solidFill>
                  <a:srgbClr val="111827"/>
                </a:solidFill>
              </a:defRPr>
            </a:pPr>
            <a:r>
              <a:rPr sz="1425" b="1">
                <a:solidFill>
                  <a:srgbClr val="111827"/>
                </a:solidFill>
              </a:rPr>
              <a:t>下一步：拆解高度異質的 Mixed 標籤，並採用類別權重或重抽樣。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6860292-EC6E-48DB-A917-D002C71F2B0B}"/>
              </a:ext>
            </a:extLst>
          </p:cNvPr>
          <p:cNvSpPr>
            <a:spLocks noGrp="1"/>
          </p:cNvSpPr>
          <p:nvPr/>
        </p:nvSpPr>
        <p:spPr>
          <a:xfrm>
            <a:off x="11163300" y="6457950"/>
            <a:ext cx="3429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825" b="1">
                <a:solidFill>
                  <a:srgbClr val="5D6775"/>
                </a:solidFill>
              </a:defRPr>
            </a:pPr>
            <a:r>
              <a:rPr sz="825" b="1">
                <a:solidFill>
                  <a:srgbClr val="5D6775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8137404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5FAFE860-C434-4975-B110-D5CA09506880}"/>
              </a:ext>
            </a:extLst>
          </p:cNvPr>
          <p:cNvSpPr>
            <a:spLocks noGrp="1"/>
          </p:cNvSpPr>
          <p:nvPr/>
        </p:nvSpPr>
        <p:spPr>
          <a:xfrm>
            <a:off x="685800" y="457200"/>
            <a:ext cx="3333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050" b="1">
                <a:solidFill>
                  <a:srgbClr val="3D8DFF"/>
                </a:solidFill>
              </a:defRPr>
            </a:pPr>
            <a:r>
              <a:rPr sz="1050" b="1">
                <a:solidFill>
                  <a:srgbClr val="3D8DFF"/>
                </a:solidFill>
              </a:rPr>
              <a:t>研究價值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DBF5726-C92C-4B88-9C66-679272D2C64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287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2850" b="1">
                <a:solidFill>
                  <a:srgbClr val="111827"/>
                </a:solidFill>
              </a:defRPr>
            </a:pPr>
            <a:r>
              <a:rPr sz="2850" b="1">
                <a:solidFill>
                  <a:srgbClr val="111827"/>
                </a:solidFill>
              </a:rPr>
              <a:t>模型輸出是分類，研究貢獻不只是一組標籤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D1E72E4-C411-461F-9AED-DF83530F0519}"/>
              </a:ext>
            </a:extLst>
          </p:cNvPr>
          <p:cNvSpPr>
            <a:spLocks noGrp="1"/>
          </p:cNvSpPr>
          <p:nvPr/>
        </p:nvSpPr>
        <p:spPr>
          <a:xfrm>
            <a:off x="685800" y="1381125"/>
            <a:ext cx="9906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275" b="0">
                <a:solidFill>
                  <a:srgbClr val="5D6775"/>
                </a:solidFill>
              </a:defRPr>
            </a:pPr>
            <a:r>
              <a:rPr sz="1275" b="0">
                <a:solidFill>
                  <a:srgbClr val="5D6775"/>
                </a:solidFill>
              </a:rPr>
              <a:t>這是已完成判決的文本分類，不是事前預測個案勝敗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1EFA69C-0B92-4D45-B979-C6B0ED1BC101}"/>
              </a:ext>
            </a:extLst>
          </p:cNvPr>
          <p:cNvSpPr>
            <a:spLocks noGrp="1"/>
          </p:cNvSpPr>
          <p:nvPr/>
        </p:nvSpPr>
        <p:spPr>
          <a:xfrm>
            <a:off x="685800" y="1790700"/>
            <a:ext cx="10820400" cy="19050"/>
          </a:xfrm>
          <a:prstGeom prst="rect">
            <a:avLst/>
          </a:prstGeom>
          <a:solidFill>
            <a:srgbClr val="C6CCD3"/>
          </a:solidFill>
          <a:ln w="0">
            <a:noFill/>
            <a:prstDash val="solid"/>
          </a:ln>
        </p:spPr>
        <p:txBody>
          <a:bodyPr anchor="ctr"/>
          <a:lstStyle/>
          <a:p>
            <a:endParaRPr lang="en-TW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DA6ADCD-427F-456E-A9FD-438EF6B4E0E4}"/>
              </a:ext>
            </a:extLst>
          </p:cNvPr>
          <p:cNvSpPr>
            <a:spLocks noGrp="1"/>
          </p:cNvSpPr>
          <p:nvPr/>
        </p:nvSpPr>
        <p:spPr>
          <a:xfrm>
            <a:off x="685800" y="2190750"/>
            <a:ext cx="9144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可用於：初步整理｜資料結構化｜樣本篩選｜案件分布掌握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DA15961-C79D-4E7D-946C-0F7450FDDB40}"/>
              </a:ext>
            </a:extLst>
          </p:cNvPr>
          <p:cNvSpPr>
            <a:spLocks noGrp="1"/>
          </p:cNvSpPr>
          <p:nvPr/>
        </p:nvSpPr>
        <p:spPr>
          <a:xfrm>
            <a:off x="685800" y="2857500"/>
            <a:ext cx="2190750" cy="2324100"/>
          </a:xfrm>
          <a:prstGeom prst="rect">
            <a:avLst/>
          </a:prstGeom>
          <a:solidFill>
            <a:srgbClr val="EEF1F4"/>
          </a:solidFill>
          <a:ln w="0">
            <a:noFill/>
            <a:prstDash val="solid"/>
          </a:ln>
        </p:spPr>
        <p:txBody>
          <a:bodyPr anchor="ctr"/>
          <a:lstStyle/>
          <a:p>
            <a:endParaRPr lang="en-TW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EF63ED9-7691-45A1-9E58-10380B2429C9}"/>
              </a:ext>
            </a:extLst>
          </p:cNvPr>
          <p:cNvSpPr>
            <a:spLocks noGrp="1"/>
          </p:cNvSpPr>
          <p:nvPr/>
        </p:nvSpPr>
        <p:spPr>
          <a:xfrm>
            <a:off x="876300" y="3086100"/>
            <a:ext cx="476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200" b="1">
                <a:solidFill>
                  <a:srgbClr val="3D8DFF"/>
                </a:solidFill>
              </a:defRPr>
            </a:pPr>
            <a:r>
              <a:rPr sz="1200" b="1">
                <a:solidFill>
                  <a:srgbClr val="3D8DFF"/>
                </a:solidFill>
              </a:rPr>
              <a:t>01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15FFBC5-6693-49B5-B05B-A537CEBD0352}"/>
              </a:ext>
            </a:extLst>
          </p:cNvPr>
          <p:cNvSpPr>
            <a:spLocks noGrp="1"/>
          </p:cNvSpPr>
          <p:nvPr/>
        </p:nvSpPr>
        <p:spPr>
          <a:xfrm>
            <a:off x="876300" y="3486150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可重複流程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C8E9DCE-CF08-4D8B-8D56-B99A251FD259}"/>
              </a:ext>
            </a:extLst>
          </p:cNvPr>
          <p:cNvSpPr>
            <a:spLocks noGrp="1"/>
          </p:cNvSpPr>
          <p:nvPr/>
        </p:nvSpPr>
        <p:spPr>
          <a:xfrm>
            <a:off x="876300" y="4000500"/>
            <a:ext cx="18097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275" b="0">
                <a:solidFill>
                  <a:srgbClr val="5D6775"/>
                </a:solidFill>
              </a:defRPr>
            </a:pPr>
            <a:r>
              <a:rPr sz="1275" b="0">
                <a:solidFill>
                  <a:srgbClr val="5D6775"/>
                </a:solidFill>
              </a:rPr>
              <a:t>建立智慧財產權判決</a:t>
            </a:r>
          </a:p>
          <a:p>
            <a:pPr>
              <a:defRPr sz="1275" b="0">
                <a:solidFill>
                  <a:srgbClr val="5D6775"/>
                </a:solidFill>
              </a:defRPr>
            </a:pPr>
            <a:r>
              <a:rPr sz="1275" b="0">
                <a:solidFill>
                  <a:srgbClr val="5D6775"/>
                </a:solidFill>
              </a:rPr>
              <a:t>分類流程。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BBAA899-3C95-4081-BD7F-C5F22B5E1212}"/>
              </a:ext>
            </a:extLst>
          </p:cNvPr>
          <p:cNvSpPr>
            <a:spLocks noGrp="1"/>
          </p:cNvSpPr>
          <p:nvPr/>
        </p:nvSpPr>
        <p:spPr>
          <a:xfrm>
            <a:off x="3333750" y="2857500"/>
            <a:ext cx="2190750" cy="2324100"/>
          </a:xfrm>
          <a:prstGeom prst="rect">
            <a:avLst/>
          </a:prstGeom>
          <a:solidFill>
            <a:srgbClr val="EEF1F4"/>
          </a:solidFill>
          <a:ln w="0">
            <a:noFill/>
            <a:prstDash val="solid"/>
          </a:ln>
        </p:spPr>
        <p:txBody>
          <a:bodyPr anchor="ctr"/>
          <a:lstStyle/>
          <a:p>
            <a:endParaRPr lang="en-TW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F52A72F-149A-465A-AA87-1223632038AE}"/>
              </a:ext>
            </a:extLst>
          </p:cNvPr>
          <p:cNvSpPr>
            <a:spLocks noGrp="1"/>
          </p:cNvSpPr>
          <p:nvPr/>
        </p:nvSpPr>
        <p:spPr>
          <a:xfrm>
            <a:off x="3524250" y="3086100"/>
            <a:ext cx="476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200" b="1">
                <a:solidFill>
                  <a:srgbClr val="3D8DFF"/>
                </a:solidFill>
              </a:defRPr>
            </a:pPr>
            <a:r>
              <a:rPr sz="1200" b="1">
                <a:solidFill>
                  <a:srgbClr val="3D8DFF"/>
                </a:solidFill>
              </a:rPr>
              <a:t>02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9902A2C-E758-4244-BBE7-3E6662BC70DD}"/>
              </a:ext>
            </a:extLst>
          </p:cNvPr>
          <p:cNvSpPr>
            <a:spLocks noGrp="1"/>
          </p:cNvSpPr>
          <p:nvPr/>
        </p:nvSpPr>
        <p:spPr>
          <a:xfrm>
            <a:off x="3524250" y="3486150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案件異質性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A2D4A34-6B01-404C-A408-641C0FF06679}"/>
              </a:ext>
            </a:extLst>
          </p:cNvPr>
          <p:cNvSpPr>
            <a:spLocks noGrp="1"/>
          </p:cNvSpPr>
          <p:nvPr/>
        </p:nvSpPr>
        <p:spPr>
          <a:xfrm>
            <a:off x="3524250" y="4000500"/>
            <a:ext cx="18097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275" b="0">
                <a:solidFill>
                  <a:srgbClr val="5D6775"/>
                </a:solidFill>
              </a:defRPr>
            </a:pPr>
            <a:r>
              <a:rPr sz="1275" b="0">
                <a:solidFill>
                  <a:srgbClr val="5D6775"/>
                </a:solidFill>
              </a:rPr>
              <a:t>四種案件適合的文字</a:t>
            </a:r>
          </a:p>
          <a:p>
            <a:pPr>
              <a:defRPr sz="1275" b="0">
                <a:solidFill>
                  <a:srgbClr val="5D6775"/>
                </a:solidFill>
              </a:defRPr>
            </a:pPr>
            <a:r>
              <a:rPr sz="1275" b="0">
                <a:solidFill>
                  <a:srgbClr val="5D6775"/>
                </a:solidFill>
              </a:rPr>
              <a:t>特徵並不相同。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BF09369-5D93-42F8-8921-324406B82706}"/>
              </a:ext>
            </a:extLst>
          </p:cNvPr>
          <p:cNvSpPr>
            <a:spLocks noGrp="1"/>
          </p:cNvSpPr>
          <p:nvPr/>
        </p:nvSpPr>
        <p:spPr>
          <a:xfrm>
            <a:off x="5981700" y="2857500"/>
            <a:ext cx="2190750" cy="2324100"/>
          </a:xfrm>
          <a:prstGeom prst="rect">
            <a:avLst/>
          </a:prstGeom>
          <a:solidFill>
            <a:srgbClr val="EEF1F4"/>
          </a:solidFill>
          <a:ln w="0">
            <a:noFill/>
            <a:prstDash val="solid"/>
          </a:ln>
        </p:spPr>
        <p:txBody>
          <a:bodyPr anchor="ctr"/>
          <a:lstStyle/>
          <a:p>
            <a:endParaRPr lang="en-TW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79DF11F-96C0-4C40-A50A-2933A59AE2F0}"/>
              </a:ext>
            </a:extLst>
          </p:cNvPr>
          <p:cNvSpPr>
            <a:spLocks noGrp="1"/>
          </p:cNvSpPr>
          <p:nvPr/>
        </p:nvSpPr>
        <p:spPr>
          <a:xfrm>
            <a:off x="6172200" y="3086100"/>
            <a:ext cx="476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200" b="1">
                <a:solidFill>
                  <a:srgbClr val="3D8DFF"/>
                </a:solidFill>
              </a:defRPr>
            </a:pPr>
            <a:r>
              <a:rPr sz="1200" b="1">
                <a:solidFill>
                  <a:srgbClr val="3D8DFF"/>
                </a:solidFill>
              </a:rPr>
              <a:t>03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E09000C-6F41-474B-B086-C8FF29F8FC75}"/>
              </a:ext>
            </a:extLst>
          </p:cNvPr>
          <p:cNvSpPr>
            <a:spLocks noGrp="1"/>
          </p:cNvSpPr>
          <p:nvPr/>
        </p:nvSpPr>
        <p:spPr>
          <a:xfrm>
            <a:off x="6172200" y="3486150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強基準比較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13DD585-7E2C-47A5-A946-C4AA9B5BF448}"/>
              </a:ext>
            </a:extLst>
          </p:cNvPr>
          <p:cNvSpPr>
            <a:spLocks noGrp="1"/>
          </p:cNvSpPr>
          <p:nvPr/>
        </p:nvSpPr>
        <p:spPr>
          <a:xfrm>
            <a:off x="6172200" y="4000500"/>
            <a:ext cx="18097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275" b="0">
                <a:solidFill>
                  <a:srgbClr val="5D6775"/>
                </a:solidFill>
              </a:defRPr>
            </a:pPr>
            <a:r>
              <a:rPr sz="1275" b="0">
                <a:solidFill>
                  <a:srgbClr val="5D6775"/>
                </a:solidFill>
              </a:rPr>
              <a:t>Direct SVM 在四類案件</a:t>
            </a:r>
          </a:p>
          <a:p>
            <a:pPr>
              <a:defRPr sz="1275" b="0">
                <a:solidFill>
                  <a:srgbClr val="5D6775"/>
                </a:solidFill>
              </a:defRPr>
            </a:pPr>
            <a:r>
              <a:rPr sz="1275" b="0">
                <a:solidFill>
                  <a:srgbClr val="5D6775"/>
                </a:solidFill>
              </a:rPr>
              <a:t>皆高於 MNIR 流程。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AF3F0AA-0988-4E5C-A0F7-5624966E12CC}"/>
              </a:ext>
            </a:extLst>
          </p:cNvPr>
          <p:cNvSpPr>
            <a:spLocks noGrp="1"/>
          </p:cNvSpPr>
          <p:nvPr/>
        </p:nvSpPr>
        <p:spPr>
          <a:xfrm>
            <a:off x="8629650" y="2857500"/>
            <a:ext cx="2190750" cy="2324100"/>
          </a:xfrm>
          <a:prstGeom prst="rect">
            <a:avLst/>
          </a:prstGeom>
          <a:solidFill>
            <a:srgbClr val="DCEEFF"/>
          </a:solidFill>
          <a:ln w="0">
            <a:noFill/>
            <a:prstDash val="solid"/>
          </a:ln>
        </p:spPr>
        <p:txBody>
          <a:bodyPr anchor="ctr"/>
          <a:lstStyle/>
          <a:p>
            <a:endParaRPr lang="en-TW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2BCC21F-68D4-465D-A763-D7813BC6D7A4}"/>
              </a:ext>
            </a:extLst>
          </p:cNvPr>
          <p:cNvSpPr>
            <a:spLocks noGrp="1"/>
          </p:cNvSpPr>
          <p:nvPr/>
        </p:nvSpPr>
        <p:spPr>
          <a:xfrm>
            <a:off x="8820150" y="3086100"/>
            <a:ext cx="476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200" b="1">
                <a:solidFill>
                  <a:srgbClr val="3D8DFF"/>
                </a:solidFill>
              </a:defRPr>
            </a:pPr>
            <a:r>
              <a:rPr sz="1200" b="1">
                <a:solidFill>
                  <a:srgbClr val="3D8DFF"/>
                </a:solidFill>
              </a:rPr>
              <a:t>04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008FA73-A918-4A11-8474-450FCEDB2E0B}"/>
              </a:ext>
            </a:extLst>
          </p:cNvPr>
          <p:cNvSpPr>
            <a:spLocks noGrp="1"/>
          </p:cNvSpPr>
          <p:nvPr/>
        </p:nvSpPr>
        <p:spPr>
          <a:xfrm>
            <a:off x="8820150" y="3486150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評估的盲點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1609FE5-5574-4456-A0C3-A648BC6E8111}"/>
              </a:ext>
            </a:extLst>
          </p:cNvPr>
          <p:cNvSpPr>
            <a:spLocks noGrp="1"/>
          </p:cNvSpPr>
          <p:nvPr/>
        </p:nvSpPr>
        <p:spPr>
          <a:xfrm>
            <a:off x="8820150" y="4000500"/>
            <a:ext cx="18097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275" b="0">
                <a:solidFill>
                  <a:srgbClr val="5D6775"/>
                </a:solidFill>
              </a:defRPr>
            </a:pPr>
            <a:r>
              <a:rPr sz="1275" b="0">
                <a:solidFill>
                  <a:srgbClr val="5D6775"/>
                </a:solidFill>
              </a:rPr>
              <a:t>不只追求 Accuracy；</a:t>
            </a:r>
          </a:p>
          <a:p>
            <a:pPr>
              <a:defRPr sz="1275" b="0">
                <a:solidFill>
                  <a:srgbClr val="5D6775"/>
                </a:solidFill>
              </a:defRPr>
            </a:pPr>
            <a:r>
              <a:rPr sz="1275" b="0">
                <a:solidFill>
                  <a:srgbClr val="5D6775"/>
                </a:solidFill>
              </a:rPr>
              <a:t>還要處理少數類別</a:t>
            </a:r>
          </a:p>
          <a:p>
            <a:pPr>
              <a:defRPr sz="1275" b="0">
                <a:solidFill>
                  <a:srgbClr val="5D6775"/>
                </a:solidFill>
              </a:defRPr>
            </a:pPr>
            <a:r>
              <a:rPr sz="1275" b="0">
                <a:solidFill>
                  <a:srgbClr val="5D6775"/>
                </a:solidFill>
              </a:rPr>
              <a:t>樣本不足與標籤不平衡。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FE870DB-DD6D-4432-8818-49A9F574C191}"/>
              </a:ext>
            </a:extLst>
          </p:cNvPr>
          <p:cNvSpPr>
            <a:spLocks noGrp="1"/>
          </p:cNvSpPr>
          <p:nvPr/>
        </p:nvSpPr>
        <p:spPr>
          <a:xfrm>
            <a:off x="685800" y="5715000"/>
            <a:ext cx="9334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研究提供後續法律文本研究在資料處理、模型比較與評估方式上的實證基礎。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168DCC4-4078-45F9-93D2-0CC9DDD4A44B}"/>
              </a:ext>
            </a:extLst>
          </p:cNvPr>
          <p:cNvSpPr>
            <a:spLocks noGrp="1"/>
          </p:cNvSpPr>
          <p:nvPr/>
        </p:nvSpPr>
        <p:spPr>
          <a:xfrm>
            <a:off x="11163300" y="6457950"/>
            <a:ext cx="3429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825" b="1">
                <a:solidFill>
                  <a:srgbClr val="5D6775"/>
                </a:solidFill>
              </a:defRPr>
            </a:pPr>
            <a:r>
              <a:rPr sz="825" b="1">
                <a:solidFill>
                  <a:srgbClr val="5D6775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8293910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9ABA113D-DB05-4FBD-9F68-BEBD3BD0F9A2}"/>
              </a:ext>
            </a:extLst>
          </p:cNvPr>
          <p:cNvSpPr>
            <a:spLocks noGrp="1"/>
          </p:cNvSpPr>
          <p:nvPr/>
        </p:nvSpPr>
        <p:spPr>
          <a:xfrm>
            <a:off x="685800" y="457200"/>
            <a:ext cx="3333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050" b="1">
                <a:solidFill>
                  <a:srgbClr val="3D8DFF"/>
                </a:solidFill>
              </a:defRPr>
            </a:pPr>
            <a:r>
              <a:rPr sz="1050" b="1">
                <a:solidFill>
                  <a:srgbClr val="3D8DFF"/>
                </a:solidFill>
              </a:rPr>
              <a:t>結論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FE4BD30-3560-4344-82E9-C441E4D5A1D1}"/>
              </a:ext>
            </a:extLst>
          </p:cNvPr>
          <p:cNvSpPr>
            <a:spLocks noGrp="1"/>
          </p:cNvSpPr>
          <p:nvPr/>
        </p:nvSpPr>
        <p:spPr>
          <a:xfrm>
            <a:off x="685800" y="1219200"/>
            <a:ext cx="5810250" cy="1314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4350" b="1">
                <a:solidFill>
                  <a:srgbClr val="111827"/>
                </a:solidFill>
              </a:defRPr>
            </a:pPr>
            <a:r>
              <a:rPr sz="4350" b="1" dirty="0" err="1">
                <a:solidFill>
                  <a:srgbClr val="111827"/>
                </a:solidFill>
              </a:rPr>
              <a:t>判決文本確實會說話</a:t>
            </a:r>
            <a:endParaRPr sz="4350" b="1" dirty="0">
              <a:solidFill>
                <a:srgbClr val="111827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76B5E5-6132-4436-889F-54B2CDE9E6AC}"/>
              </a:ext>
            </a:extLst>
          </p:cNvPr>
          <p:cNvSpPr>
            <a:spLocks noGrp="1"/>
          </p:cNvSpPr>
          <p:nvPr/>
        </p:nvSpPr>
        <p:spPr>
          <a:xfrm>
            <a:off x="685800" y="2781300"/>
            <a:ext cx="5238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800" b="1">
                <a:solidFill>
                  <a:srgbClr val="3D8DFF"/>
                </a:solidFill>
              </a:defRPr>
            </a:pPr>
            <a:r>
              <a:rPr sz="1800" b="1">
                <a:solidFill>
                  <a:srgbClr val="3D8DFF"/>
                </a:solidFill>
              </a:rPr>
              <a:t>但它說的是有條件的訊號。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292B825-21B7-4864-93C0-14E59F7B5513}"/>
              </a:ext>
            </a:extLst>
          </p:cNvPr>
          <p:cNvSpPr>
            <a:spLocks noGrp="1"/>
          </p:cNvSpPr>
          <p:nvPr/>
        </p:nvSpPr>
        <p:spPr>
          <a:xfrm>
            <a:off x="685800" y="3371850"/>
            <a:ext cx="4953000" cy="38100"/>
          </a:xfrm>
          <a:prstGeom prst="rect">
            <a:avLst/>
          </a:prstGeom>
          <a:solidFill>
            <a:srgbClr val="3D8DFF"/>
          </a:solidFill>
          <a:ln w="0">
            <a:noFill/>
            <a:prstDash val="solid"/>
          </a:ln>
        </p:spPr>
        <p:txBody>
          <a:bodyPr anchor="ctr"/>
          <a:lstStyle/>
          <a:p>
            <a:endParaRPr lang="en-TW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E440962-2DE5-4A8E-93D7-3CD7A5419642}"/>
              </a:ext>
            </a:extLst>
          </p:cNvPr>
          <p:cNvSpPr>
            <a:spLocks noGrp="1"/>
          </p:cNvSpPr>
          <p:nvPr/>
        </p:nvSpPr>
        <p:spPr>
          <a:xfrm>
            <a:off x="685800" y="3981450"/>
            <a:ext cx="1809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案件異質性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896D39F-8B36-4F03-BC83-F5F8F30B6FEC}"/>
              </a:ext>
            </a:extLst>
          </p:cNvPr>
          <p:cNvSpPr>
            <a:spLocks noGrp="1"/>
          </p:cNvSpPr>
          <p:nvPr/>
        </p:nvSpPr>
        <p:spPr>
          <a:xfrm>
            <a:off x="2743200" y="3981450"/>
            <a:ext cx="3905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425" b="0">
                <a:solidFill>
                  <a:srgbClr val="5D6775"/>
                </a:solidFill>
              </a:defRPr>
            </a:pPr>
            <a:r>
              <a:rPr sz="1425" b="0">
                <a:solidFill>
                  <a:srgbClr val="5D6775"/>
                </a:solidFill>
              </a:rPr>
              <a:t>不同案件需要不同文字表示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C85DC3E-192E-4CEC-ACA3-765219FD4BAC}"/>
              </a:ext>
            </a:extLst>
          </p:cNvPr>
          <p:cNvSpPr>
            <a:spLocks noGrp="1"/>
          </p:cNvSpPr>
          <p:nvPr/>
        </p:nvSpPr>
        <p:spPr>
          <a:xfrm>
            <a:off x="685800" y="4591050"/>
            <a:ext cx="1809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強基準必要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5ACF4DA-EEBD-4CF8-9746-985448CBDADA}"/>
              </a:ext>
            </a:extLst>
          </p:cNvPr>
          <p:cNvSpPr>
            <a:spLocks noGrp="1"/>
          </p:cNvSpPr>
          <p:nvPr/>
        </p:nvSpPr>
        <p:spPr>
          <a:xfrm>
            <a:off x="2743200" y="4591050"/>
            <a:ext cx="3905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425" b="0">
                <a:solidFill>
                  <a:srgbClr val="5D6775"/>
                </a:solidFill>
              </a:defRPr>
            </a:pPr>
            <a:r>
              <a:rPr sz="1425" b="0">
                <a:solidFill>
                  <a:srgbClr val="5D6775"/>
                </a:solidFill>
              </a:rPr>
              <a:t>更複雜的流程不一定較佳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78DDD1C-2909-4C15-94F8-655140437969}"/>
              </a:ext>
            </a:extLst>
          </p:cNvPr>
          <p:cNvSpPr>
            <a:spLocks noGrp="1"/>
          </p:cNvSpPr>
          <p:nvPr/>
        </p:nvSpPr>
        <p:spPr>
          <a:xfrm>
            <a:off x="685799" y="5200650"/>
            <a:ext cx="1929809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500" b="1">
                <a:solidFill>
                  <a:srgbClr val="111827"/>
                </a:solidFill>
              </a:defRPr>
            </a:pPr>
            <a:r>
              <a:rPr sz="1500" b="1" dirty="0" err="1">
                <a:solidFill>
                  <a:srgbClr val="111827"/>
                </a:solidFill>
              </a:rPr>
              <a:t>少數類別不能被忽略</a:t>
            </a:r>
            <a:endParaRPr sz="1500" b="1" dirty="0">
              <a:solidFill>
                <a:srgbClr val="111827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018CB1C-BA86-4CEC-BE6B-E33482877F2C}"/>
              </a:ext>
            </a:extLst>
          </p:cNvPr>
          <p:cNvSpPr>
            <a:spLocks noGrp="1"/>
          </p:cNvSpPr>
          <p:nvPr/>
        </p:nvSpPr>
        <p:spPr>
          <a:xfrm>
            <a:off x="2743200" y="5200650"/>
            <a:ext cx="3905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425" b="0">
                <a:solidFill>
                  <a:srgbClr val="5D6775"/>
                </a:solidFill>
              </a:defRPr>
            </a:pPr>
            <a:r>
              <a:rPr sz="1425" b="0">
                <a:solidFill>
                  <a:srgbClr val="5D6775"/>
                </a:solidFill>
              </a:rPr>
              <a:t>整體準確率可能遮蔽失敗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A6A70A7-107F-4D6F-87C3-A4CB6E976688}"/>
              </a:ext>
            </a:extLst>
          </p:cNvPr>
          <p:cNvSpPr>
            <a:spLocks noGrp="1"/>
          </p:cNvSpPr>
          <p:nvPr/>
        </p:nvSpPr>
        <p:spPr>
          <a:xfrm>
            <a:off x="7524750" y="1181100"/>
            <a:ext cx="3295650" cy="4267200"/>
          </a:xfrm>
          <a:prstGeom prst="rect">
            <a:avLst/>
          </a:prstGeom>
          <a:solidFill>
            <a:srgbClr val="F8FAFC"/>
          </a:solidFill>
          <a:ln w="0">
            <a:noFill/>
            <a:prstDash val="solid"/>
          </a:ln>
        </p:spPr>
        <p:txBody>
          <a:bodyPr anchor="ctr"/>
          <a:lstStyle/>
          <a:p>
            <a:endParaRPr lang="en-TW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2118B03-007E-47F6-8672-52B81A54E460}"/>
              </a:ext>
            </a:extLst>
          </p:cNvPr>
          <p:cNvSpPr>
            <a:spLocks noGrp="1"/>
          </p:cNvSpPr>
          <p:nvPr/>
        </p:nvSpPr>
        <p:spPr>
          <a:xfrm>
            <a:off x="7829550" y="1543050"/>
            <a:ext cx="1905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275" b="1">
                <a:solidFill>
                  <a:srgbClr val="3D8DFF"/>
                </a:solidFill>
              </a:defRPr>
            </a:pPr>
            <a:r>
              <a:rPr sz="1275" b="1">
                <a:solidFill>
                  <a:srgbClr val="3D8DFF"/>
                </a:solidFill>
              </a:rPr>
              <a:t>研究回答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94218EF-2B1F-4D89-B62F-B5D5EEA9F60E}"/>
              </a:ext>
            </a:extLst>
          </p:cNvPr>
          <p:cNvSpPr>
            <a:spLocks noGrp="1"/>
          </p:cNvSpPr>
          <p:nvPr/>
        </p:nvSpPr>
        <p:spPr>
          <a:xfrm>
            <a:off x="7829550" y="2038350"/>
            <a:ext cx="2718392" cy="1562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2700" b="1">
                <a:solidFill>
                  <a:srgbClr val="111827"/>
                </a:solidFill>
              </a:defRPr>
            </a:pPr>
            <a:r>
              <a:rPr sz="2700" b="1" dirty="0" err="1">
                <a:solidFill>
                  <a:srgbClr val="111827"/>
                </a:solidFill>
              </a:rPr>
              <a:t>詞彙分布仍可留下可辨識的結果訊號</a:t>
            </a:r>
            <a:endParaRPr sz="2700" b="1" dirty="0">
              <a:solidFill>
                <a:srgbClr val="111827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B66E57C-A6C5-4408-9415-145ACD0BDF42}"/>
              </a:ext>
            </a:extLst>
          </p:cNvPr>
          <p:cNvSpPr>
            <a:spLocks noGrp="1"/>
          </p:cNvSpPr>
          <p:nvPr/>
        </p:nvSpPr>
        <p:spPr>
          <a:xfrm>
            <a:off x="7829550" y="3905250"/>
            <a:ext cx="2190750" cy="9525"/>
          </a:xfrm>
          <a:prstGeom prst="rect">
            <a:avLst/>
          </a:prstGeom>
          <a:solidFill>
            <a:srgbClr val="C6CCD3"/>
          </a:solidFill>
          <a:ln w="0">
            <a:noFill/>
            <a:prstDash val="solid"/>
          </a:ln>
        </p:spPr>
        <p:txBody>
          <a:bodyPr anchor="ctr"/>
          <a:lstStyle/>
          <a:p>
            <a:endParaRPr lang="en-TW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C561B4D-9E55-42CA-B636-03A921415D48}"/>
              </a:ext>
            </a:extLst>
          </p:cNvPr>
          <p:cNvSpPr>
            <a:spLocks noGrp="1"/>
          </p:cNvSpPr>
          <p:nvPr/>
        </p:nvSpPr>
        <p:spPr>
          <a:xfrm>
            <a:off x="7829549" y="4210050"/>
            <a:ext cx="2718391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350" b="0">
                <a:solidFill>
                  <a:srgbClr val="5D6775"/>
                </a:solidFill>
              </a:defRPr>
            </a:pPr>
            <a:r>
              <a:rPr sz="1350" b="0" dirty="0" err="1">
                <a:solidFill>
                  <a:srgbClr val="5D6775"/>
                </a:solidFill>
              </a:rPr>
              <a:t>後續導入深度學習或預訓練語言模型時，可作為比較基礎</a:t>
            </a:r>
            <a:r>
              <a:rPr sz="1350" b="0" dirty="0">
                <a:solidFill>
                  <a:srgbClr val="5D6775"/>
                </a:solidFill>
              </a:rPr>
              <a:t>。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2B2F01A-C393-4852-84A6-5679FB309D2D}"/>
              </a:ext>
            </a:extLst>
          </p:cNvPr>
          <p:cNvSpPr>
            <a:spLocks noGrp="1"/>
          </p:cNvSpPr>
          <p:nvPr/>
        </p:nvSpPr>
        <p:spPr>
          <a:xfrm>
            <a:off x="685800" y="6153150"/>
            <a:ext cx="3429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謝謝各位評審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5C59BEA-C68F-4AFB-9653-2166AF7CAE41}"/>
              </a:ext>
            </a:extLst>
          </p:cNvPr>
          <p:cNvSpPr>
            <a:spLocks noGrp="1"/>
          </p:cNvSpPr>
          <p:nvPr/>
        </p:nvSpPr>
        <p:spPr>
          <a:xfrm>
            <a:off x="11163300" y="6457950"/>
            <a:ext cx="3429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825" b="1">
                <a:solidFill>
                  <a:srgbClr val="5D6775"/>
                </a:solidFill>
              </a:defRPr>
            </a:pPr>
            <a:r>
              <a:rPr sz="825" b="1">
                <a:solidFill>
                  <a:srgbClr val="5D6775"/>
                </a:solidFill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532721676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844</Words>
  <Application>Microsoft Macintosh PowerPoint</Application>
  <DocSecurity>0</DocSecurity>
  <PresentationFormat>Widescreen</PresentationFormat>
  <Paragraphs>209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1" baseType="lpstr">
      <vt:lpstr>Calibri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陳信全</cp:lastModifiedBy>
  <cp:revision>1</cp:revision>
  <dcterms:created xsi:type="dcterms:W3CDTF">2026-08-21T13:53:10Z</dcterms:created>
  <dcterms:modified xsi:type="dcterms:W3CDTF">2026-08-21T14:23:26Z</dcterms:modified>
</cp:coreProperties>
</file>