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Direct SVM − MNIR</c:v>
          </c:tx>
          <c:spPr>
            <a:solidFill>
              <a:srgbClr val="3D8DFF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275" b="1">
                    <a:solidFill>
                      <a:srgbClr val="111827"/>
                    </a:solidFill>
                  </a:defRPr>
                </a:pPr>
                <a:endParaRPr lang="en-TW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行政</c:v>
              </c:pt>
              <c:pt idx="1">
                <c:v>民事</c:v>
              </c:pt>
              <c:pt idx="2">
                <c:v>刑事</c:v>
              </c:pt>
              <c:pt idx="3">
                <c:v>刑事附帶民事</c:v>
              </c:pt>
            </c:strLit>
          </c:cat>
          <c:val>
            <c:numLit>
              <c:formatCode>General</c:formatCode>
              <c:ptCount val="4"/>
              <c:pt idx="0">
                <c:v>7.2999999999999995E-2</c:v>
              </c:pt>
              <c:pt idx="1">
                <c:v>7.4999999999999997E-2</c:v>
              </c:pt>
              <c:pt idx="2">
                <c:v>0.187</c:v>
              </c:pt>
              <c:pt idx="3">
                <c:v>0.109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61B-C142-B571-EB11A9A0683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en-TW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6CCD3"/>
            </a:solidFill>
            <a:prstDash val="solid"/>
          </a:ln>
        </c:spPr>
        <c:txPr>
          <a:bodyPr anchorCtr="1"/>
          <a:lstStyle/>
          <a:p>
            <a:pPr>
              <a:defRPr sz="1350">
                <a:solidFill>
                  <a:srgbClr val="111827"/>
                </a:solidFill>
              </a:defRPr>
            </a:pPr>
            <a:endParaRPr lang="en-TW"/>
          </a:p>
        </c:txPr>
        <c:crossAx val="48650112"/>
        <c:crosses val="autoZero"/>
        <c:crossBetween val="between"/>
      </c:valAx>
    </c:plotArea>
    <c:plotVisOnly val="1"/>
    <c:dispBlanksAs val="zero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各位評審好。本研究面對的是超過四萬五千篇的法律裁判書。每天閱讀 10 篇，讀完這些裁判書會需要超過 12 年。面對這麼大量的文本，我想問的是：即使不逐句理解每一份裁判書的完整意義，只觀察詞彙出現的分布，能不能區分案件最後是敗訴、部分勝訴，還是勝訴？這就是我的論文題目「判決文本會說話嗎？以臺灣智慧財產權判決文本分類為例」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法院公開大量判決書，但資料主要以文章的方式存在。要進行大規模實證分析，仍需要建立一致、可運算的文本特徵與評估流程。所以這份研究以 BoW、TF 與 TF-IDF 把文字轉換為可比較的特徵，並觀察詞彙分布是否足以區分裁判結果。不同程序的智慧財產權案件，即使都屬於同一領域，文本結構與結果分布也不一定相同。因此，這份研究更想比較不同案件類型、不同文字表示與不同模型流程，會不會得到不同的分類效果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本研究蒐集 1996 年至 2024 年的臺灣智慧財產權相關裁判書。原始資料共有 90,027 篇，經過案件篩選後，最後保留 45,344 篇判決。案件分為行政、民事、刑事與刑事附帶民事四種類型；裁判結果整理為敗訴、部分勝訴與勝訴三類。值得注意的是，刑事附帶民事案件有逐年成長的趨勢。這邊的推測是部分權利人會在提告時傾向先提出刑事，增加威嚇力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研究流程首先進行文本清理與中文斷詞，並將判決結果整理為三類標籤。為了降低模型直接依賴結論用語的可能性，我先把「駁回」、「准許」、「有理由」這些詞彙移除掉。接著，分別使用 BoW、TF 與 TF-IDF，將文字轉換成模型可以處理的數值特徵。在模型流程上，比較兩種方法：第一種是經過卡方特徵選擇後，直接使用 SVM；第二種是在卡方選擇後加入 MNIR 監督式特徵轉換和降維，再使用 SVM。資料分成訓練集、驗證集與測試集。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第一個發現相當反直覺。在四類案件中，在卡方篩選後，直接使用 SVM 的 Macro F1 都高於有加入 MNIR 的流程。而且四個資料集的 95% paired bootstrap 信賴區間皆未跨越零。這表示，在本研究的資料與設定下，增加 MNIR 特徵轉換，並沒有帶來額外的加分效果。一個可能的解釋是，SVM 的優勢是可以找到一個高維平面做分類，但 MNIR 先把這些特徵壓縮為二維分數，反而讓一些可以提供分類的訊號無法再被利用。這仍然是推論，而不是已經確立的結論。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第二個發現是最佳文字表示依案件而異：行政為 BoW、民事為 TF-IDF、刑事為 TF、刑事附帶民事為 BoW。模型效果不只由演算法決定，也受到制度程序與文本生成方式影響。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第三個發現是類別不平衡的問題。以民事案件最佳模型為例，Accuracy 是 0.680，但 Macro F1 只有 0.428。敗訴的 F1 是 0.802，部分勝訴是 0.352，勝訴則只有 0.130。測試集中實際勝訴的 86 件案件裡，只有 7 件被正確辨識為勝訴。這代表模型主要學到的是最常見的結果，也就是敗訴。下一步不該只是換更複雜模型，而要拆解高度異質的 Mixed 標籤、採用類別權重或重抽樣。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型最直接的輸出是敗訴、部分勝訴與勝訴三類標籤。但本研究處理的是已完成判決的文本分類，不是事前預測個案勝敗，當然也拿不到告訴人事前準備的法律材料。標籤可以協助大量判決的初步整理、資料結構化、樣本篩選與案件分布掌握。研究價值不只在產生標籤：建立可重複比較的智慧財產權判決分類流程；發現案件類型適合的文字特徵不同；Direct SVM 提供後續模型一個比較基準；並指出模型改善不能只追求 Accuracy，而要同時處理少數類別樣本不足與標籤不平衡。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最後回到題目：判決文本確實會說話，移除明顯結果詞後仍有一定分類訊號。但它是有條件的：案件類型不同、複雜方法不一定較佳，而且 Accuracy 可能遮蔽少數類別失敗。這些結果是後續使用深度學習與預訓練模型時的比較基礎。</a:t>
            </a:r>
          </a:p>
          <a:p>
            <a:endParaRPr/>
          </a:p>
          <a:p>
            <a:r>
              <a:t>[Sources]</a:t>
            </a:r>
          </a:p>
          <a:p>
            <a:r>
              <a:t>- 研究講稿：判決文本會說話嗎_崇越決賽_10分鐘講稿.md</a:t>
            </a:r>
          </a:p>
          <a:p>
            <a:r>
              <a:t>- 原始論文：判決文本會說話嗎？.docx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61B9429-5D29-41A2-BD29-D4AE7E670714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崇越論文大賞決賽｜M0263</a:t>
            </a:r>
          </a:p>
        </p:txBody>
      </p:sp>
      <p:sp>
        <p:nvSpPr>
          <p:cNvPr id="2" name="cover-title">
            <a:extLst>
              <a:ext uri="{FF2B5EF4-FFF2-40B4-BE49-F238E27FC236}">
                <a16:creationId xmlns:a16="http://schemas.microsoft.com/office/drawing/2014/main" id="{99B3B921-7524-4476-A8FA-FA778BAA0D2B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60960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4800" b="1">
                <a:solidFill>
                  <a:srgbClr val="111827"/>
                </a:solidFill>
              </a:defRPr>
            </a:pPr>
            <a:r>
              <a:rPr sz="4800" b="1" dirty="0" err="1">
                <a:solidFill>
                  <a:srgbClr val="111827"/>
                </a:solidFill>
              </a:rPr>
              <a:t>判決文本</a:t>
            </a:r>
            <a:endParaRPr sz="4800" b="1" dirty="0">
              <a:solidFill>
                <a:srgbClr val="111827"/>
              </a:solidFill>
            </a:endParaRPr>
          </a:p>
          <a:p>
            <a:pPr>
              <a:defRPr sz="4800" b="1">
                <a:solidFill>
                  <a:srgbClr val="111827"/>
                </a:solidFill>
              </a:defRPr>
            </a:pPr>
            <a:r>
              <a:rPr sz="4800" b="1" dirty="0" err="1">
                <a:solidFill>
                  <a:srgbClr val="111827"/>
                </a:solidFill>
              </a:rPr>
              <a:t>會說話嗎</a:t>
            </a:r>
            <a:r>
              <a:rPr sz="4800" b="1" dirty="0">
                <a:solidFill>
                  <a:srgbClr val="111827"/>
                </a:solidFill>
              </a:rPr>
              <a:t>？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5262E8-05AB-4C7E-AD2C-83A3155A2B46}"/>
              </a:ext>
            </a:extLst>
          </p:cNvPr>
          <p:cNvSpPr>
            <a:spLocks noGrp="1"/>
          </p:cNvSpPr>
          <p:nvPr/>
        </p:nvSpPr>
        <p:spPr>
          <a:xfrm>
            <a:off x="685800" y="3181350"/>
            <a:ext cx="5524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75" b="0">
                <a:solidFill>
                  <a:srgbClr val="5D6775"/>
                </a:solidFill>
              </a:defRPr>
            </a:pPr>
            <a:r>
              <a:rPr sz="1875" b="0">
                <a:solidFill>
                  <a:srgbClr val="5D6775"/>
                </a:solidFill>
              </a:rPr>
              <a:t>以臺灣智慧財產權判決文本分類為例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08BB6A-2107-4EC4-B33C-022F509E817C}"/>
              </a:ext>
            </a:extLst>
          </p:cNvPr>
          <p:cNvSpPr>
            <a:spLocks noGrp="1"/>
          </p:cNvSpPr>
          <p:nvPr/>
        </p:nvSpPr>
        <p:spPr>
          <a:xfrm>
            <a:off x="685800" y="3886200"/>
            <a:ext cx="4953000" cy="47625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54FE0B-F110-4907-A466-36E6D5A8385D}"/>
              </a:ext>
            </a:extLst>
          </p:cNvPr>
          <p:cNvSpPr>
            <a:spLocks noGrp="1"/>
          </p:cNvSpPr>
          <p:nvPr/>
        </p:nvSpPr>
        <p:spPr>
          <a:xfrm>
            <a:off x="7600950" y="952500"/>
            <a:ext cx="3219450" cy="466725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2CEDE2-150F-4B5A-B544-48A733027E87}"/>
              </a:ext>
            </a:extLst>
          </p:cNvPr>
          <p:cNvSpPr>
            <a:spLocks noGrp="1"/>
          </p:cNvSpPr>
          <p:nvPr/>
        </p:nvSpPr>
        <p:spPr>
          <a:xfrm>
            <a:off x="7886700" y="1447800"/>
            <a:ext cx="2667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4350" b="1">
                <a:solidFill>
                  <a:srgbClr val="3D8DFF"/>
                </a:solidFill>
              </a:defRPr>
            </a:pPr>
            <a:r>
              <a:rPr sz="4350" b="1">
                <a:solidFill>
                  <a:srgbClr val="3D8DFF"/>
                </a:solidFill>
              </a:rPr>
              <a:t>45,344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B64FAF-9507-4F29-AF80-575510E76D39}"/>
              </a:ext>
            </a:extLst>
          </p:cNvPr>
          <p:cNvSpPr>
            <a:spLocks noGrp="1"/>
          </p:cNvSpPr>
          <p:nvPr/>
        </p:nvSpPr>
        <p:spPr>
          <a:xfrm>
            <a:off x="7905750" y="220980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0">
                <a:solidFill>
                  <a:srgbClr val="5D6775"/>
                </a:solidFill>
              </a:defRPr>
            </a:pPr>
            <a:r>
              <a:rPr sz="1425" b="0">
                <a:solidFill>
                  <a:srgbClr val="5D6775"/>
                </a:solidFill>
              </a:rPr>
              <a:t>篇法律裁判書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0DD8B6-68BA-426E-AA0F-626040654DCC}"/>
              </a:ext>
            </a:extLst>
          </p:cNvPr>
          <p:cNvSpPr>
            <a:spLocks noGrp="1"/>
          </p:cNvSpPr>
          <p:nvPr/>
        </p:nvSpPr>
        <p:spPr>
          <a:xfrm>
            <a:off x="7905750" y="2743200"/>
            <a:ext cx="23241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DB7CBD-B70E-4316-B0F4-8B9FEFC58D62}"/>
              </a:ext>
            </a:extLst>
          </p:cNvPr>
          <p:cNvSpPr>
            <a:spLocks noGrp="1"/>
          </p:cNvSpPr>
          <p:nvPr/>
        </p:nvSpPr>
        <p:spPr>
          <a:xfrm>
            <a:off x="7905750" y="3143250"/>
            <a:ext cx="2000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每天 10 篇</a:t>
            </a:r>
          </a:p>
          <a:p>
            <a:pPr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超過 12 年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D9596E-D990-4D13-84B7-814047F63502}"/>
              </a:ext>
            </a:extLst>
          </p:cNvPr>
          <p:cNvSpPr>
            <a:spLocks noGrp="1"/>
          </p:cNvSpPr>
          <p:nvPr/>
        </p:nvSpPr>
        <p:spPr>
          <a:xfrm>
            <a:off x="7905750" y="4714875"/>
            <a:ext cx="23336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詞彙分布是否留下</a:t>
            </a:r>
          </a:p>
          <a:p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可辨識的結果訊號？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A6117E-7A31-413A-8649-A911E29E17C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33337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9E426E-C307-40BD-847E-52CBC0110FA3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1166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244B149-F4BC-4DE1-9A08-14009814CFB3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研究問題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118DEFBB-785E-4528-9B1E-2B8597FFEBC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大量公開的判決，仍難以看見整體規律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8348AB-46A5-43B2-BBDB-26766A482E73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非結構化文本需要一套一致、可運算、可比較的研究流程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8A06CBD-228C-4A64-9A40-A5CA18A99543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0820400" cy="19050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13AE0F-359F-4E01-9EAE-14411A6218E1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4905375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法院公開大量判決書，但它們多半仍是</a:t>
            </a:r>
          </a:p>
          <a:p>
            <a:pPr>
              <a:defRPr sz="2100" b="1">
                <a:solidFill>
                  <a:srgbClr val="111827"/>
                </a:solidFill>
              </a:defRPr>
            </a:pPr>
            <a:r>
              <a:rPr sz="2100" b="1">
                <a:solidFill>
                  <a:srgbClr val="111827"/>
                </a:solidFill>
              </a:rPr>
              <a:t>無法直接比較的長篇文字。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C1C92A-9D8D-4D5E-BE58-9B9D60DF0581}"/>
              </a:ext>
            </a:extLst>
          </p:cNvPr>
          <p:cNvSpPr>
            <a:spLocks noGrp="1"/>
          </p:cNvSpPr>
          <p:nvPr/>
        </p:nvSpPr>
        <p:spPr>
          <a:xfrm>
            <a:off x="685800" y="3714750"/>
            <a:ext cx="95250" cy="9525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78B719-7910-4237-8CCE-7F99D8AE3101}"/>
              </a:ext>
            </a:extLst>
          </p:cNvPr>
          <p:cNvSpPr>
            <a:spLocks noGrp="1"/>
          </p:cNvSpPr>
          <p:nvPr/>
        </p:nvSpPr>
        <p:spPr>
          <a:xfrm>
            <a:off x="952500" y="3638550"/>
            <a:ext cx="421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可比較的特徵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39B54D-59F8-40D1-B906-8111DBDE2CD5}"/>
              </a:ext>
            </a:extLst>
          </p:cNvPr>
          <p:cNvSpPr>
            <a:spLocks noGrp="1"/>
          </p:cNvSpPr>
          <p:nvPr/>
        </p:nvSpPr>
        <p:spPr>
          <a:xfrm>
            <a:off x="952500" y="3962400"/>
            <a:ext cx="4210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以 BoW、TF 與 TF-IDF 把文字轉換成可比較的特徵。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25647C-DB02-4434-8542-9669197B6C63}"/>
              </a:ext>
            </a:extLst>
          </p:cNvPr>
          <p:cNvSpPr>
            <a:spLocks noGrp="1"/>
          </p:cNvSpPr>
          <p:nvPr/>
        </p:nvSpPr>
        <p:spPr>
          <a:xfrm>
            <a:off x="685800" y="4800600"/>
            <a:ext cx="95250" cy="9525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0AC10D-7925-4019-998B-CB14511E77AF}"/>
              </a:ext>
            </a:extLst>
          </p:cNvPr>
          <p:cNvSpPr>
            <a:spLocks noGrp="1"/>
          </p:cNvSpPr>
          <p:nvPr/>
        </p:nvSpPr>
        <p:spPr>
          <a:xfrm>
            <a:off x="952500" y="4724400"/>
            <a:ext cx="4210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不預設同質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FBF3692-4F82-4528-9B67-BA0062ECEA36}"/>
              </a:ext>
            </a:extLst>
          </p:cNvPr>
          <p:cNvSpPr>
            <a:spLocks noGrp="1"/>
          </p:cNvSpPr>
          <p:nvPr/>
        </p:nvSpPr>
        <p:spPr>
          <a:xfrm>
            <a:off x="952500" y="5048250"/>
            <a:ext cx="42100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不同程序的案件，可能有不同文本結構與結果分布。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B44B6B-699D-4986-B987-EF2A5FA70498}"/>
              </a:ext>
            </a:extLst>
          </p:cNvPr>
          <p:cNvSpPr>
            <a:spLocks noGrp="1"/>
          </p:cNvSpPr>
          <p:nvPr/>
        </p:nvSpPr>
        <p:spPr>
          <a:xfrm>
            <a:off x="6286500" y="2209800"/>
            <a:ext cx="4533900" cy="3429000"/>
          </a:xfrm>
          <a:prstGeom prst="rect">
            <a:avLst/>
          </a:prstGeom>
          <a:solidFill>
            <a:srgbClr val="EEF1F4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AB7BD2-4B0E-4217-8CCC-EA69A9D8178F}"/>
              </a:ext>
            </a:extLst>
          </p:cNvPr>
          <p:cNvSpPr>
            <a:spLocks noGrp="1"/>
          </p:cNvSpPr>
          <p:nvPr/>
        </p:nvSpPr>
        <p:spPr>
          <a:xfrm>
            <a:off x="6667500" y="2571750"/>
            <a:ext cx="3619500" cy="1885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325" b="1">
                <a:solidFill>
                  <a:srgbClr val="111827"/>
                </a:solidFill>
              </a:defRPr>
            </a:pPr>
            <a:r>
              <a:rPr lang="zh-TW" altLang="en-US" sz="2325" b="1" dirty="0">
                <a:solidFill>
                  <a:srgbClr val="111827"/>
                </a:solidFill>
              </a:rPr>
              <a:t>我要比較的是：</a:t>
            </a:r>
            <a:endParaRPr lang="en-US" altLang="zh-TW" sz="2325" b="1" dirty="0">
              <a:solidFill>
                <a:srgbClr val="111827"/>
              </a:solidFill>
            </a:endParaRPr>
          </a:p>
          <a:p>
            <a:pPr>
              <a:defRPr sz="2325" b="1">
                <a:solidFill>
                  <a:srgbClr val="111827"/>
                </a:solidFill>
              </a:defRPr>
            </a:pPr>
            <a:r>
              <a:rPr lang="zh-TW" altLang="en-US" sz="2325" b="1" dirty="0">
                <a:solidFill>
                  <a:srgbClr val="111827"/>
                </a:solidFill>
              </a:rPr>
              <a:t>不同案件類型、文字特徵與模型流程，會不會帶來不同的分類效果？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D08E1A5-B6B6-498A-8289-E6348CF6F731}"/>
              </a:ext>
            </a:extLst>
          </p:cNvPr>
          <p:cNvSpPr>
            <a:spLocks noGrp="1"/>
          </p:cNvSpPr>
          <p:nvPr/>
        </p:nvSpPr>
        <p:spPr>
          <a:xfrm>
            <a:off x="6667500" y="3581400"/>
            <a:ext cx="3524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75" b="0">
                <a:solidFill>
                  <a:srgbClr val="5D6775"/>
                </a:solidFill>
              </a:defRPr>
            </a:pPr>
            <a:endParaRPr sz="1575" b="0" dirty="0">
              <a:solidFill>
                <a:srgbClr val="5D6775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35535-4F0D-48F0-9840-EC6BC2ADAF77}"/>
              </a:ext>
            </a:extLst>
          </p:cNvPr>
          <p:cNvSpPr>
            <a:spLocks noGrp="1"/>
          </p:cNvSpPr>
          <p:nvPr/>
        </p:nvSpPr>
        <p:spPr>
          <a:xfrm>
            <a:off x="6667500" y="4686300"/>
            <a:ext cx="300990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0F08F4-C9D1-4646-8EB0-BB41847D6979}"/>
              </a:ext>
            </a:extLst>
          </p:cNvPr>
          <p:cNvSpPr>
            <a:spLocks noGrp="1"/>
          </p:cNvSpPr>
          <p:nvPr/>
        </p:nvSpPr>
        <p:spPr>
          <a:xfrm>
            <a:off x="6667500" y="49530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法律文本模型在哪裡有效？</a:t>
            </a:r>
          </a:p>
          <a:p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又在哪裡仍有限制？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D7788C-AC63-4637-B1B1-268674BE05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33337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5038A-3A75-4FF5-9E25-210AC6895690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07058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EEADB099-AB2E-465E-A817-B62A05DCA991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研究資料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F18CF8C-456D-4DA5-9B8F-1400583A8BB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從 90,027 篇原始資料，到 45,344 篇可比較判決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A552C6-B81D-448E-88E5-E9F8889393D7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1996–2024 年臺灣智慧財產權相關裁判書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FF572B-CC5D-4DB5-9DC5-001835EE3D65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0820400" cy="19050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0BC028-EF93-473A-913E-2ADDCAEE80B6}"/>
              </a:ext>
            </a:extLst>
          </p:cNvPr>
          <p:cNvSpPr>
            <a:spLocks noGrp="1"/>
          </p:cNvSpPr>
          <p:nvPr/>
        </p:nvSpPr>
        <p:spPr>
          <a:xfrm>
            <a:off x="685800" y="2324100"/>
            <a:ext cx="228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3300" b="1">
                <a:solidFill>
                  <a:srgbClr val="111827"/>
                </a:solidFill>
              </a:defRPr>
            </a:pPr>
            <a:r>
              <a:rPr sz="3300" b="1">
                <a:solidFill>
                  <a:srgbClr val="111827"/>
                </a:solidFill>
              </a:rPr>
              <a:t>90,027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517CFD-7BD6-4F68-8105-6A353C8E96D7}"/>
              </a:ext>
            </a:extLst>
          </p:cNvPr>
          <p:cNvSpPr>
            <a:spLocks noGrp="1"/>
          </p:cNvSpPr>
          <p:nvPr/>
        </p:nvSpPr>
        <p:spPr>
          <a:xfrm>
            <a:off x="685800" y="2847975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原始裁判書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346D04-6258-4683-9934-D8953413F279}"/>
              </a:ext>
            </a:extLst>
          </p:cNvPr>
          <p:cNvSpPr>
            <a:spLocks noGrp="1"/>
          </p:cNvSpPr>
          <p:nvPr/>
        </p:nvSpPr>
        <p:spPr>
          <a:xfrm>
            <a:off x="3371850" y="2962275"/>
            <a:ext cx="238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5D6775"/>
                </a:solidFill>
              </a:defRPr>
            </a:pPr>
            <a:r>
              <a:rPr sz="1350" b="0" dirty="0" err="1">
                <a:solidFill>
                  <a:srgbClr val="5D6775"/>
                </a:solidFill>
              </a:rPr>
              <a:t>經過案件篩選後</a:t>
            </a:r>
            <a:endParaRPr sz="1350" b="0" dirty="0">
              <a:solidFill>
                <a:srgbClr val="5D6775"/>
              </a:solidFill>
            </a:endParaRPr>
          </a:p>
          <a:p>
            <a:pPr>
              <a:defRPr sz="1350" b="0">
                <a:solidFill>
                  <a:srgbClr val="5D6775"/>
                </a:solidFill>
              </a:defRPr>
            </a:pPr>
            <a:r>
              <a:rPr sz="1350" b="0" dirty="0" err="1">
                <a:solidFill>
                  <a:srgbClr val="5D6775"/>
                </a:solidFill>
              </a:rPr>
              <a:t>保留可比較資料</a:t>
            </a:r>
            <a:endParaRPr sz="1350" b="0" dirty="0">
              <a:solidFill>
                <a:srgbClr val="5D6775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86D93A-0B65-4D52-8BBF-ED4A0B379F5F}"/>
              </a:ext>
            </a:extLst>
          </p:cNvPr>
          <p:cNvSpPr>
            <a:spLocks noGrp="1"/>
          </p:cNvSpPr>
          <p:nvPr/>
        </p:nvSpPr>
        <p:spPr>
          <a:xfrm>
            <a:off x="6019800" y="2343150"/>
            <a:ext cx="19050" cy="2076450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8B345A-F84F-4032-AAF8-2D30ED2ECD45}"/>
              </a:ext>
            </a:extLst>
          </p:cNvPr>
          <p:cNvSpPr>
            <a:spLocks noGrp="1"/>
          </p:cNvSpPr>
          <p:nvPr/>
        </p:nvSpPr>
        <p:spPr>
          <a:xfrm>
            <a:off x="6572250" y="2324100"/>
            <a:ext cx="2571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3300" b="1">
                <a:solidFill>
                  <a:srgbClr val="3D8DFF"/>
                </a:solidFill>
              </a:defRPr>
            </a:pPr>
            <a:r>
              <a:rPr sz="3300" b="1">
                <a:solidFill>
                  <a:srgbClr val="3D8DFF"/>
                </a:solidFill>
              </a:rPr>
              <a:t>45,344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AE8FE5-978B-4E9E-9058-4506E9640E9A}"/>
              </a:ext>
            </a:extLst>
          </p:cNvPr>
          <p:cNvSpPr>
            <a:spLocks noGrp="1"/>
          </p:cNvSpPr>
          <p:nvPr/>
        </p:nvSpPr>
        <p:spPr>
          <a:xfrm>
            <a:off x="6572250" y="2847975"/>
            <a:ext cx="2571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最終分析樣本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8F91BB-EEA2-4916-B213-70DF2B836E09}"/>
              </a:ext>
            </a:extLst>
          </p:cNvPr>
          <p:cNvSpPr>
            <a:spLocks noGrp="1"/>
          </p:cNvSpPr>
          <p:nvPr/>
        </p:nvSpPr>
        <p:spPr>
          <a:xfrm>
            <a:off x="685800" y="4857750"/>
            <a:ext cx="1809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四種案件類型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B1B1BE-D8DC-4A1C-BF3B-0B32474428D7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6191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0">
                <a:solidFill>
                  <a:srgbClr val="5D6775"/>
                </a:solidFill>
              </a:defRPr>
            </a:pPr>
            <a:r>
              <a:rPr sz="1650" b="0">
                <a:solidFill>
                  <a:srgbClr val="5D6775"/>
                </a:solidFill>
              </a:rPr>
              <a:t>行政　民事　刑事　刑事附帶民事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013768-9435-4FF6-BF52-C177DC1D8259}"/>
              </a:ext>
            </a:extLst>
          </p:cNvPr>
          <p:cNvSpPr>
            <a:spLocks noGrp="1"/>
          </p:cNvSpPr>
          <p:nvPr/>
        </p:nvSpPr>
        <p:spPr>
          <a:xfrm>
            <a:off x="685800" y="58102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三類裁判結果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13A50B-A2A5-4875-A468-D93D9A141754}"/>
              </a:ext>
            </a:extLst>
          </p:cNvPr>
          <p:cNvSpPr>
            <a:spLocks noGrp="1"/>
          </p:cNvSpPr>
          <p:nvPr/>
        </p:nvSpPr>
        <p:spPr>
          <a:xfrm>
            <a:off x="685800" y="6115050"/>
            <a:ext cx="400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75" b="0">
                <a:solidFill>
                  <a:srgbClr val="5D6775"/>
                </a:solidFill>
              </a:defRPr>
            </a:pPr>
            <a:r>
              <a:rPr sz="1575" b="0">
                <a:solidFill>
                  <a:srgbClr val="5D6775"/>
                </a:solidFill>
              </a:rPr>
              <a:t>敗訴　部分勝訴　勝訴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230289-BBF2-42F8-9A5B-3A1B74FD22E5}"/>
              </a:ext>
            </a:extLst>
          </p:cNvPr>
          <p:cNvSpPr>
            <a:spLocks noGrp="1"/>
          </p:cNvSpPr>
          <p:nvPr/>
        </p:nvSpPr>
        <p:spPr>
          <a:xfrm>
            <a:off x="7810500" y="4724400"/>
            <a:ext cx="3009900" cy="135255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2C89C7-A026-472A-9572-0D9246736257}"/>
              </a:ext>
            </a:extLst>
          </p:cNvPr>
          <p:cNvSpPr>
            <a:spLocks noGrp="1"/>
          </p:cNvSpPr>
          <p:nvPr/>
        </p:nvSpPr>
        <p:spPr>
          <a:xfrm>
            <a:off x="8058150" y="49530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觀察到的趨勢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BD149BB-01A4-4022-A59D-E78EC57793A9}"/>
              </a:ext>
            </a:extLst>
          </p:cNvPr>
          <p:cNvSpPr>
            <a:spLocks noGrp="1"/>
          </p:cNvSpPr>
          <p:nvPr/>
        </p:nvSpPr>
        <p:spPr>
          <a:xfrm>
            <a:off x="8058150" y="527685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刑事附帶民事案件</a:t>
            </a:r>
          </a:p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有逐年成長的趨勢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3669606-BAA1-4D66-A56A-7D934EBE849A}"/>
              </a:ext>
            </a:extLst>
          </p:cNvPr>
          <p:cNvSpPr>
            <a:spLocks noGrp="1"/>
          </p:cNvSpPr>
          <p:nvPr/>
        </p:nvSpPr>
        <p:spPr>
          <a:xfrm>
            <a:off x="8058150" y="5810250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975" b="0">
                <a:solidFill>
                  <a:srgbClr val="5D6775"/>
                </a:solidFill>
              </a:defRPr>
            </a:pPr>
            <a:r>
              <a:rPr sz="975" b="0">
                <a:solidFill>
                  <a:srgbClr val="5D6775"/>
                </a:solidFill>
              </a:rPr>
              <a:t>可能與提告威嚇效果有關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85F8AA-11CD-4F17-90C1-5EDC587588F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33337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BC9B861-BEAA-46E0-9107-C9F3E4492CBB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03</a:t>
            </a:r>
          </a:p>
        </p:txBody>
      </p:sp>
      <p:sp>
        <p:nvSpPr>
          <p:cNvPr id="22" name="Down Arrow 21">
            <a:extLst>
              <a:ext uri="{FF2B5EF4-FFF2-40B4-BE49-F238E27FC236}">
                <a16:creationId xmlns:a16="http://schemas.microsoft.com/office/drawing/2014/main" id="{97FB5D0D-C0BC-81CE-67A3-7CDEBE7BE995}"/>
              </a:ext>
            </a:extLst>
          </p:cNvPr>
          <p:cNvSpPr/>
          <p:nvPr/>
        </p:nvSpPr>
        <p:spPr>
          <a:xfrm rot="16200000">
            <a:off x="4123164" y="1103739"/>
            <a:ext cx="400045" cy="3126527"/>
          </a:xfrm>
          <a:prstGeom prst="downArrow">
            <a:avLst>
              <a:gd name="adj1" fmla="val 50000"/>
              <a:gd name="adj2" fmla="val 16162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656530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CB7C912D-5FA0-42D4-A211-7F860467C321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研究設計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10BDC8F-5EDE-4F96-935C-88EA5B727BB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兩條流程，共用前處理，在同一測試集上比較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D46A12-80C1-4047-8449-04122E101DE3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避免模型只靠「駁回、准許、有理由」等結論用語作答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32A4BD-8E8D-4C36-9DC7-CDC0349651CF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0820400" cy="19050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709457-1E86-4D6A-8E94-8FEB1A1FB706}"/>
              </a:ext>
            </a:extLst>
          </p:cNvPr>
          <p:cNvSpPr>
            <a:spLocks noGrp="1"/>
          </p:cNvSpPr>
          <p:nvPr/>
        </p:nvSpPr>
        <p:spPr>
          <a:xfrm>
            <a:off x="685800" y="2209800"/>
            <a:ext cx="1714500" cy="647700"/>
          </a:xfrm>
          <a:prstGeom prst="rect">
            <a:avLst/>
          </a:prstGeom>
          <a:solidFill>
            <a:srgbClr val="EEF1F4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C56B9B-F978-4F45-ACB2-7B78ACF75BBD}"/>
              </a:ext>
            </a:extLst>
          </p:cNvPr>
          <p:cNvSpPr>
            <a:spLocks noGrp="1"/>
          </p:cNvSpPr>
          <p:nvPr/>
        </p:nvSpPr>
        <p:spPr>
          <a:xfrm>
            <a:off x="895350" y="2362200"/>
            <a:ext cx="1295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文本清理</a:t>
            </a:r>
          </a:p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中文斷詞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176E4E-2F33-4DF3-8977-CDA5E07A057D}"/>
              </a:ext>
            </a:extLst>
          </p:cNvPr>
          <p:cNvSpPr>
            <a:spLocks noGrp="1"/>
          </p:cNvSpPr>
          <p:nvPr/>
        </p:nvSpPr>
        <p:spPr>
          <a:xfrm>
            <a:off x="2514600" y="2343150"/>
            <a:ext cx="266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D9D60A-C04B-46E3-A21C-32950B7C934E}"/>
              </a:ext>
            </a:extLst>
          </p:cNvPr>
          <p:cNvSpPr>
            <a:spLocks noGrp="1"/>
          </p:cNvSpPr>
          <p:nvPr/>
        </p:nvSpPr>
        <p:spPr>
          <a:xfrm>
            <a:off x="2857500" y="2209800"/>
            <a:ext cx="1905000" cy="647700"/>
          </a:xfrm>
          <a:prstGeom prst="rect">
            <a:avLst/>
          </a:prstGeom>
          <a:solidFill>
            <a:srgbClr val="EEF1F4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D90A4C-3B99-428F-BC96-9F15E5DB8286}"/>
              </a:ext>
            </a:extLst>
          </p:cNvPr>
          <p:cNvSpPr>
            <a:spLocks noGrp="1"/>
          </p:cNvSpPr>
          <p:nvPr/>
        </p:nvSpPr>
        <p:spPr>
          <a:xfrm>
            <a:off x="3048000" y="2409825"/>
            <a:ext cx="1571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BoW ／ TF ／ TF-IDF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30954F4-B2F8-4C2A-A198-B71A33813DE7}"/>
              </a:ext>
            </a:extLst>
          </p:cNvPr>
          <p:cNvSpPr>
            <a:spLocks noGrp="1"/>
          </p:cNvSpPr>
          <p:nvPr/>
        </p:nvSpPr>
        <p:spPr>
          <a:xfrm>
            <a:off x="4876800" y="2343150"/>
            <a:ext cx="266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493FE1-2FC6-419E-B63F-E9173B71EA6A}"/>
              </a:ext>
            </a:extLst>
          </p:cNvPr>
          <p:cNvSpPr>
            <a:spLocks noGrp="1"/>
          </p:cNvSpPr>
          <p:nvPr/>
        </p:nvSpPr>
        <p:spPr>
          <a:xfrm>
            <a:off x="5219700" y="2209800"/>
            <a:ext cx="1828800" cy="647700"/>
          </a:xfrm>
          <a:prstGeom prst="rect">
            <a:avLst/>
          </a:prstGeom>
          <a:solidFill>
            <a:srgbClr val="EEF1F4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A685A8-24D7-46AC-A2EF-A69F545596E3}"/>
              </a:ext>
            </a:extLst>
          </p:cNvPr>
          <p:cNvSpPr>
            <a:spLocks noGrp="1"/>
          </p:cNvSpPr>
          <p:nvPr/>
        </p:nvSpPr>
        <p:spPr>
          <a:xfrm>
            <a:off x="5476875" y="2409825"/>
            <a:ext cx="1381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卡方特徵選擇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327815-7131-473E-928D-C1BF5B45F7C1}"/>
              </a:ext>
            </a:extLst>
          </p:cNvPr>
          <p:cNvSpPr>
            <a:spLocks noGrp="1"/>
          </p:cNvSpPr>
          <p:nvPr/>
        </p:nvSpPr>
        <p:spPr>
          <a:xfrm>
            <a:off x="7200900" y="2381250"/>
            <a:ext cx="114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分成兩條流程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52E171-5925-4057-8D24-52428BACCEF7}"/>
              </a:ext>
            </a:extLst>
          </p:cNvPr>
          <p:cNvSpPr>
            <a:spLocks noGrp="1"/>
          </p:cNvSpPr>
          <p:nvPr/>
        </p:nvSpPr>
        <p:spPr>
          <a:xfrm>
            <a:off x="5334000" y="3333750"/>
            <a:ext cx="2571750" cy="742950"/>
          </a:xfrm>
          <a:prstGeom prst="rect">
            <a:avLst/>
          </a:prstGeom>
          <a:solidFill>
            <a:srgbClr val="DCEE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C721A6-5540-42CD-87C7-4D9B1AFBF41C}"/>
              </a:ext>
            </a:extLst>
          </p:cNvPr>
          <p:cNvSpPr>
            <a:spLocks noGrp="1"/>
          </p:cNvSpPr>
          <p:nvPr/>
        </p:nvSpPr>
        <p:spPr>
          <a:xfrm>
            <a:off x="5581650" y="3524250"/>
            <a:ext cx="2143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 dirty="0" err="1">
                <a:solidFill>
                  <a:srgbClr val="111827"/>
                </a:solidFill>
              </a:rPr>
              <a:t>流程</a:t>
            </a:r>
            <a:r>
              <a:rPr sz="1650" b="1" dirty="0">
                <a:solidFill>
                  <a:srgbClr val="111827"/>
                </a:solidFill>
              </a:rPr>
              <a:t> A｜SVM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E87E36-BF00-44B8-AAF4-B94E9D477230}"/>
              </a:ext>
            </a:extLst>
          </p:cNvPr>
          <p:cNvSpPr>
            <a:spLocks noGrp="1"/>
          </p:cNvSpPr>
          <p:nvPr/>
        </p:nvSpPr>
        <p:spPr>
          <a:xfrm>
            <a:off x="5581650" y="3829050"/>
            <a:ext cx="1905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選詞後直接分類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A836E2-9D58-4A96-B41C-A6CA2EA1AB59}"/>
              </a:ext>
            </a:extLst>
          </p:cNvPr>
          <p:cNvSpPr>
            <a:spLocks noGrp="1"/>
          </p:cNvSpPr>
          <p:nvPr/>
        </p:nvSpPr>
        <p:spPr>
          <a:xfrm>
            <a:off x="5334000" y="4419600"/>
            <a:ext cx="2571750" cy="857250"/>
          </a:xfrm>
          <a:prstGeom prst="rect">
            <a:avLst/>
          </a:prstGeom>
          <a:solidFill>
            <a:srgbClr val="E6F4F1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A554CB-8803-462B-8168-9574B5CE53F9}"/>
              </a:ext>
            </a:extLst>
          </p:cNvPr>
          <p:cNvSpPr>
            <a:spLocks noGrp="1"/>
          </p:cNvSpPr>
          <p:nvPr/>
        </p:nvSpPr>
        <p:spPr>
          <a:xfrm>
            <a:off x="5581650" y="459105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流程 B｜MNIR + SVM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60B2A8B-84D6-4346-AC02-66BBA395ED6D}"/>
              </a:ext>
            </a:extLst>
          </p:cNvPr>
          <p:cNvSpPr>
            <a:spLocks noGrp="1"/>
          </p:cNvSpPr>
          <p:nvPr/>
        </p:nvSpPr>
        <p:spPr>
          <a:xfrm>
            <a:off x="5581650" y="4953000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MNIR 二維轉換後再分類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89CCD3-D9EB-400C-B4C7-D8BBDC3A972D}"/>
              </a:ext>
            </a:extLst>
          </p:cNvPr>
          <p:cNvSpPr>
            <a:spLocks noGrp="1"/>
          </p:cNvSpPr>
          <p:nvPr/>
        </p:nvSpPr>
        <p:spPr>
          <a:xfrm>
            <a:off x="8020050" y="3543300"/>
            <a:ext cx="266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16E5E3C-4BCD-4652-9791-413C85776389}"/>
              </a:ext>
            </a:extLst>
          </p:cNvPr>
          <p:cNvSpPr>
            <a:spLocks noGrp="1"/>
          </p:cNvSpPr>
          <p:nvPr/>
        </p:nvSpPr>
        <p:spPr>
          <a:xfrm>
            <a:off x="8020050" y="4686300"/>
            <a:ext cx="266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025" b="1">
                <a:solidFill>
                  <a:srgbClr val="147A73"/>
                </a:solidFill>
              </a:defRPr>
            </a:pPr>
            <a:r>
              <a:rPr sz="2025" b="1">
                <a:solidFill>
                  <a:srgbClr val="147A73"/>
                </a:solidFill>
              </a:rPr>
              <a:t>→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A339A0-A4B6-402D-A815-5E7279E27F43}"/>
              </a:ext>
            </a:extLst>
          </p:cNvPr>
          <p:cNvSpPr>
            <a:spLocks noGrp="1"/>
          </p:cNvSpPr>
          <p:nvPr/>
        </p:nvSpPr>
        <p:spPr>
          <a:xfrm>
            <a:off x="8439150" y="3333750"/>
            <a:ext cx="2381250" cy="194310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A28B0E1-E16D-4A35-A205-F585AB2BAC8C}"/>
              </a:ext>
            </a:extLst>
          </p:cNvPr>
          <p:cNvSpPr>
            <a:spLocks noGrp="1"/>
          </p:cNvSpPr>
          <p:nvPr/>
        </p:nvSpPr>
        <p:spPr>
          <a:xfrm>
            <a:off x="8705850" y="358140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同一資料切分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9CFE53C-7D90-4F59-AC12-4B877930167E}"/>
              </a:ext>
            </a:extLst>
          </p:cNvPr>
          <p:cNvSpPr>
            <a:spLocks noGrp="1"/>
          </p:cNvSpPr>
          <p:nvPr/>
        </p:nvSpPr>
        <p:spPr>
          <a:xfrm>
            <a:off x="8705850" y="3924300"/>
            <a:ext cx="171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訓練集 → 驗證集</a:t>
            </a:r>
          </a:p>
          <a:p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→ 同一測試集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460756A-A748-4596-99F0-96F262FDA0A8}"/>
              </a:ext>
            </a:extLst>
          </p:cNvPr>
          <p:cNvSpPr>
            <a:spLocks noGrp="1"/>
          </p:cNvSpPr>
          <p:nvPr/>
        </p:nvSpPr>
        <p:spPr>
          <a:xfrm>
            <a:off x="8705850" y="4572000"/>
            <a:ext cx="17145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829180-73C6-424D-8ED2-CE44102D8B3C}"/>
              </a:ext>
            </a:extLst>
          </p:cNvPr>
          <p:cNvSpPr>
            <a:spLocks noGrp="1"/>
          </p:cNvSpPr>
          <p:nvPr/>
        </p:nvSpPr>
        <p:spPr>
          <a:xfrm>
            <a:off x="8705850" y="478155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paired bootstrap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F4B74C3-EA81-4E04-B6C8-4DC5F2D23B28}"/>
              </a:ext>
            </a:extLst>
          </p:cNvPr>
          <p:cNvSpPr>
            <a:spLocks noGrp="1"/>
          </p:cNvSpPr>
          <p:nvPr/>
        </p:nvSpPr>
        <p:spPr>
          <a:xfrm>
            <a:off x="8705850" y="5048250"/>
            <a:ext cx="1809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0">
                <a:solidFill>
                  <a:srgbClr val="5D6775"/>
                </a:solidFill>
              </a:defRPr>
            </a:pPr>
            <a:r>
              <a:rPr sz="1050" b="0">
                <a:solidFill>
                  <a:srgbClr val="5D6775"/>
                </a:solidFill>
              </a:rPr>
              <a:t>以相同樣本索引配對比較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9848707-E4B0-4501-A2C5-0CF137542DE2}"/>
              </a:ext>
            </a:extLst>
          </p:cNvPr>
          <p:cNvSpPr>
            <a:spLocks noGrp="1"/>
          </p:cNvSpPr>
          <p:nvPr/>
        </p:nvSpPr>
        <p:spPr>
          <a:xfrm>
            <a:off x="685800" y="5676900"/>
            <a:ext cx="101346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975C8DE-93BB-400A-A7B1-C5EA3FF94202}"/>
              </a:ext>
            </a:extLst>
          </p:cNvPr>
          <p:cNvSpPr>
            <a:spLocks noGrp="1"/>
          </p:cNvSpPr>
          <p:nvPr/>
        </p:nvSpPr>
        <p:spPr>
          <a:xfrm>
            <a:off x="685800" y="5886450"/>
            <a:ext cx="2381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主要指標：Macro F1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27904A1-84BD-4006-A2BA-19D615877A95}"/>
              </a:ext>
            </a:extLst>
          </p:cNvPr>
          <p:cNvSpPr>
            <a:spLocks noGrp="1"/>
          </p:cNvSpPr>
          <p:nvPr/>
        </p:nvSpPr>
        <p:spPr>
          <a:xfrm>
            <a:off x="3543300" y="590550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輔助解讀：Accuracy、類別 F1、多數類別基準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B15F9C0-78B4-436F-85BD-8D44CE554454}"/>
              </a:ext>
            </a:extLst>
          </p:cNvPr>
          <p:cNvSpPr>
            <a:spLocks noGrp="1"/>
          </p:cNvSpPr>
          <p:nvPr/>
        </p:nvSpPr>
        <p:spPr>
          <a:xfrm>
            <a:off x="8705850" y="59055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三類結果樣本並不平均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F12961-772E-4EBF-8C2A-75CFB01C69C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33337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C2A2012-36BB-46CD-9644-5AEF7AB8FF30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15866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2F81596-6DD7-4DB1-9308-3FF8F5175B2F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發現一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AC8F164-19ED-4227-B1F9-062631B581E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Direct SVM 在四類案件中都較佳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D970DA-04BE-4729-A131-84D8C3D8598A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相對於加入 MNIR 轉換的流程，Macro F1 差異皆為正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F9D312-A7D8-4A30-A4FF-6BC137D0B205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0820400" cy="19050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graphicFrame>
        <p:nvGraphicFramePr>
          <p:cNvPr id="18" name="Chart"/>
          <p:cNvGraphicFramePr/>
          <p:nvPr>
            <p:extLst>
              <p:ext uri="{D42A27DB-BD31-4B8C-83A1-F6EECF244321}">
                <p14:modId xmlns:p14="http://schemas.microsoft.com/office/powerpoint/2010/main" val="446583214"/>
              </p:ext>
            </p:extLst>
          </p:nvPr>
        </p:nvGraphicFramePr>
        <p:xfrm>
          <a:off x="838200" y="2362200"/>
          <a:ext cx="5905500" cy="3333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6764AADA-04D7-406A-B441-4CDD91D964D0}"/>
              </a:ext>
            </a:extLst>
          </p:cNvPr>
          <p:cNvSpPr>
            <a:spLocks noGrp="1"/>
          </p:cNvSpPr>
          <p:nvPr/>
        </p:nvSpPr>
        <p:spPr>
          <a:xfrm>
            <a:off x="7486650" y="2381250"/>
            <a:ext cx="3333750" cy="318135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BFC3FF-BDD6-4F18-A6D8-403B21BBBCC5}"/>
              </a:ext>
            </a:extLst>
          </p:cNvPr>
          <p:cNvSpPr>
            <a:spLocks noGrp="1"/>
          </p:cNvSpPr>
          <p:nvPr/>
        </p:nvSpPr>
        <p:spPr>
          <a:xfrm>
            <a:off x="7772400" y="26479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方向一致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2EA564-315B-4DA2-8D9E-68873AD70270}"/>
              </a:ext>
            </a:extLst>
          </p:cNvPr>
          <p:cNvSpPr>
            <a:spLocks noGrp="1"/>
          </p:cNvSpPr>
          <p:nvPr/>
        </p:nvSpPr>
        <p:spPr>
          <a:xfrm>
            <a:off x="7772400" y="3143250"/>
            <a:ext cx="247650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四個資料集的</a:t>
            </a:r>
          </a:p>
          <a:p>
            <a:pPr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95% paired bootstrap</a:t>
            </a:r>
          </a:p>
          <a:p>
            <a:pPr>
              <a:defRPr sz="2175" b="1">
                <a:solidFill>
                  <a:srgbClr val="111827"/>
                </a:solidFill>
              </a:defRPr>
            </a:pPr>
            <a:r>
              <a:rPr sz="2175" b="1">
                <a:solidFill>
                  <a:srgbClr val="111827"/>
                </a:solidFill>
              </a:rPr>
              <a:t>信賴區間皆未跨零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1D4A6B-79A2-4A64-BF39-A734AC8D15F1}"/>
              </a:ext>
            </a:extLst>
          </p:cNvPr>
          <p:cNvSpPr>
            <a:spLocks noGrp="1"/>
          </p:cNvSpPr>
          <p:nvPr/>
        </p:nvSpPr>
        <p:spPr>
          <a:xfrm>
            <a:off x="7772400" y="4324350"/>
            <a:ext cx="238125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B6D093-3D87-486A-9DC2-A530B4D995B1}"/>
              </a:ext>
            </a:extLst>
          </p:cNvPr>
          <p:cNvSpPr>
            <a:spLocks noGrp="1"/>
          </p:cNvSpPr>
          <p:nvPr/>
        </p:nvSpPr>
        <p:spPr>
          <a:xfrm>
            <a:off x="7772400" y="45720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複雜度不等於效果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7E6EF0-1E4E-41B4-8584-5879F0FEAF7C}"/>
              </a:ext>
            </a:extLst>
          </p:cNvPr>
          <p:cNvSpPr>
            <a:spLocks noGrp="1"/>
          </p:cNvSpPr>
          <p:nvPr/>
        </p:nvSpPr>
        <p:spPr>
          <a:xfrm>
            <a:off x="7772400" y="4972050"/>
            <a:ext cx="2571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MNIR 的二維壓縮可能讓部分</a:t>
            </a:r>
          </a:p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高維可分訊號無法被利用。</a:t>
            </a:r>
          </a:p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這是合理推論，非機制驗證。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07AF69-192B-41B3-B3A3-0684C7CFB47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33337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665870-14B3-431F-AE44-5C7BBCA65351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98069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F5ADB47-D6C6-4120-A1FE-96720ADB750B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發現二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08CBD07-114C-40AF-95BD-5DF3E338577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不同案件，說著不同的文字語言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BCDC8CD-82F2-4E88-97B7-3BD7F24472D0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不存在一種文字表示可以在所有案件中勝出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EF0CAF-728F-4D3B-916A-A97A082BE59A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0820400" cy="19050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45EB33-6307-4C7A-BD46-0E0FA2E2E92A}"/>
              </a:ext>
            </a:extLst>
          </p:cNvPr>
          <p:cNvSpPr>
            <a:spLocks noGrp="1"/>
          </p:cNvSpPr>
          <p:nvPr/>
        </p:nvSpPr>
        <p:spPr>
          <a:xfrm>
            <a:off x="838200" y="2343150"/>
            <a:ext cx="2000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1">
                <a:solidFill>
                  <a:srgbClr val="5D6775"/>
                </a:solidFill>
              </a:defRPr>
            </a:pPr>
            <a:r>
              <a:rPr sz="1275" b="1">
                <a:solidFill>
                  <a:srgbClr val="5D6775"/>
                </a:solidFill>
              </a:rPr>
              <a:t>案件類型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C6AE5E-9BA8-4970-B6AE-64444F6ABDC2}"/>
              </a:ext>
            </a:extLst>
          </p:cNvPr>
          <p:cNvSpPr>
            <a:spLocks noGrp="1"/>
          </p:cNvSpPr>
          <p:nvPr/>
        </p:nvSpPr>
        <p:spPr>
          <a:xfrm>
            <a:off x="5105400" y="23431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1">
                <a:solidFill>
                  <a:srgbClr val="5D6775"/>
                </a:solidFill>
              </a:defRPr>
            </a:pPr>
            <a:r>
              <a:rPr sz="1275" b="1">
                <a:solidFill>
                  <a:srgbClr val="5D6775"/>
                </a:solidFill>
              </a:rPr>
              <a:t>最佳文字表示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DC0742-5B57-45CF-9C6D-05CE2F392869}"/>
              </a:ext>
            </a:extLst>
          </p:cNvPr>
          <p:cNvSpPr>
            <a:spLocks noGrp="1"/>
          </p:cNvSpPr>
          <p:nvPr/>
        </p:nvSpPr>
        <p:spPr>
          <a:xfrm>
            <a:off x="685800" y="2647950"/>
            <a:ext cx="81915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CF9DE7-5181-4238-88B0-67F2FC553822}"/>
              </a:ext>
            </a:extLst>
          </p:cNvPr>
          <p:cNvSpPr>
            <a:spLocks noGrp="1"/>
          </p:cNvSpPr>
          <p:nvPr/>
        </p:nvSpPr>
        <p:spPr>
          <a:xfrm>
            <a:off x="838200" y="28765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行政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94E385-9BCF-47E1-B526-2A50A67B1894}"/>
              </a:ext>
            </a:extLst>
          </p:cNvPr>
          <p:cNvSpPr>
            <a:spLocks noGrp="1"/>
          </p:cNvSpPr>
          <p:nvPr/>
        </p:nvSpPr>
        <p:spPr>
          <a:xfrm>
            <a:off x="5105400" y="28765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BoW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C98DA5-09B5-45B9-8F5A-F25DC023D519}"/>
              </a:ext>
            </a:extLst>
          </p:cNvPr>
          <p:cNvSpPr>
            <a:spLocks noGrp="1"/>
          </p:cNvSpPr>
          <p:nvPr/>
        </p:nvSpPr>
        <p:spPr>
          <a:xfrm>
            <a:off x="685800" y="3295650"/>
            <a:ext cx="81915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6D2B10-0601-476E-A4CA-561BBBE49EA1}"/>
              </a:ext>
            </a:extLst>
          </p:cNvPr>
          <p:cNvSpPr>
            <a:spLocks noGrp="1"/>
          </p:cNvSpPr>
          <p:nvPr/>
        </p:nvSpPr>
        <p:spPr>
          <a:xfrm>
            <a:off x="838200" y="34861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民事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83BC09-E46A-4F7D-A3BF-D4EC77F4FC07}"/>
              </a:ext>
            </a:extLst>
          </p:cNvPr>
          <p:cNvSpPr>
            <a:spLocks noGrp="1"/>
          </p:cNvSpPr>
          <p:nvPr/>
        </p:nvSpPr>
        <p:spPr>
          <a:xfrm>
            <a:off x="5105400" y="34861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TF-IDF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F1734D-1693-4B23-897A-F81BFD12422C}"/>
              </a:ext>
            </a:extLst>
          </p:cNvPr>
          <p:cNvSpPr>
            <a:spLocks noGrp="1"/>
          </p:cNvSpPr>
          <p:nvPr/>
        </p:nvSpPr>
        <p:spPr>
          <a:xfrm>
            <a:off x="685800" y="3905250"/>
            <a:ext cx="81915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BF1111-0AF2-4C9B-A4F4-9E1D09239882}"/>
              </a:ext>
            </a:extLst>
          </p:cNvPr>
          <p:cNvSpPr>
            <a:spLocks noGrp="1"/>
          </p:cNvSpPr>
          <p:nvPr/>
        </p:nvSpPr>
        <p:spPr>
          <a:xfrm>
            <a:off x="838200" y="40957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刑事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7005067-4A46-4233-B9AD-A6DB263E1987}"/>
              </a:ext>
            </a:extLst>
          </p:cNvPr>
          <p:cNvSpPr>
            <a:spLocks noGrp="1"/>
          </p:cNvSpPr>
          <p:nvPr/>
        </p:nvSpPr>
        <p:spPr>
          <a:xfrm>
            <a:off x="5105400" y="40957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TF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672FB0E-1AB6-4D1E-A625-0004CA519873}"/>
              </a:ext>
            </a:extLst>
          </p:cNvPr>
          <p:cNvSpPr>
            <a:spLocks noGrp="1"/>
          </p:cNvSpPr>
          <p:nvPr/>
        </p:nvSpPr>
        <p:spPr>
          <a:xfrm>
            <a:off x="685800" y="4514850"/>
            <a:ext cx="81915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D7028F-51BB-4B03-B653-E2025BE65826}"/>
              </a:ext>
            </a:extLst>
          </p:cNvPr>
          <p:cNvSpPr>
            <a:spLocks noGrp="1"/>
          </p:cNvSpPr>
          <p:nvPr/>
        </p:nvSpPr>
        <p:spPr>
          <a:xfrm>
            <a:off x="838200" y="47053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刑事附帶民事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C075AF8-2962-4D9C-9D5A-86FAB6B066EC}"/>
              </a:ext>
            </a:extLst>
          </p:cNvPr>
          <p:cNvSpPr>
            <a:spLocks noGrp="1"/>
          </p:cNvSpPr>
          <p:nvPr/>
        </p:nvSpPr>
        <p:spPr>
          <a:xfrm>
            <a:off x="5105400" y="47053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BoW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AF9FC0-9DEB-46FE-9FFF-52A1C3639F9F}"/>
              </a:ext>
            </a:extLst>
          </p:cNvPr>
          <p:cNvSpPr>
            <a:spLocks noGrp="1"/>
          </p:cNvSpPr>
          <p:nvPr/>
        </p:nvSpPr>
        <p:spPr>
          <a:xfrm>
            <a:off x="685800" y="5124450"/>
            <a:ext cx="81915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286DFBD-AFA1-47EE-838F-91E85561FD9C}"/>
              </a:ext>
            </a:extLst>
          </p:cNvPr>
          <p:cNvSpPr>
            <a:spLocks noGrp="1"/>
          </p:cNvSpPr>
          <p:nvPr/>
        </p:nvSpPr>
        <p:spPr>
          <a:xfrm>
            <a:off x="9182100" y="2324100"/>
            <a:ext cx="1638300" cy="3333750"/>
          </a:xfrm>
          <a:prstGeom prst="rect">
            <a:avLst/>
          </a:prstGeom>
          <a:solidFill>
            <a:srgbClr val="DCEE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039007D-9224-4C87-98E1-60C1D55F28E0}"/>
              </a:ext>
            </a:extLst>
          </p:cNvPr>
          <p:cNvSpPr>
            <a:spLocks noGrp="1"/>
          </p:cNvSpPr>
          <p:nvPr/>
        </p:nvSpPr>
        <p:spPr>
          <a:xfrm>
            <a:off x="9324975" y="2724150"/>
            <a:ext cx="13525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250" b="1">
                <a:solidFill>
                  <a:srgbClr val="111827"/>
                </a:solidFill>
              </a:defRPr>
            </a:pPr>
            <a:r>
              <a:rPr sz="2250" b="1" dirty="0" err="1">
                <a:solidFill>
                  <a:srgbClr val="111827"/>
                </a:solidFill>
              </a:rPr>
              <a:t>法律問題</a:t>
            </a:r>
            <a:endParaRPr sz="2250" b="1" dirty="0">
              <a:solidFill>
                <a:srgbClr val="111827"/>
              </a:solidFill>
            </a:endParaRPr>
          </a:p>
          <a:p>
            <a:pPr>
              <a:defRPr sz="2250" b="1">
                <a:solidFill>
                  <a:srgbClr val="111827"/>
                </a:solidFill>
              </a:defRPr>
            </a:pPr>
            <a:r>
              <a:rPr sz="2250" b="1" dirty="0" err="1">
                <a:solidFill>
                  <a:srgbClr val="111827"/>
                </a:solidFill>
              </a:rPr>
              <a:t>本來就</a:t>
            </a:r>
            <a:endParaRPr sz="2250" b="1" dirty="0">
              <a:solidFill>
                <a:srgbClr val="111827"/>
              </a:solidFill>
            </a:endParaRPr>
          </a:p>
          <a:p>
            <a:pPr>
              <a:defRPr sz="2250" b="1">
                <a:solidFill>
                  <a:srgbClr val="111827"/>
                </a:solidFill>
              </a:defRPr>
            </a:pPr>
            <a:r>
              <a:rPr sz="2250" b="1" dirty="0" err="1">
                <a:solidFill>
                  <a:srgbClr val="111827"/>
                </a:solidFill>
              </a:rPr>
              <a:t>不同</a:t>
            </a:r>
            <a:endParaRPr sz="2250" b="1" dirty="0">
              <a:solidFill>
                <a:srgbClr val="111827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77DB39-E4BB-4ABD-82A5-9BD82F14AEA3}"/>
              </a:ext>
            </a:extLst>
          </p:cNvPr>
          <p:cNvSpPr>
            <a:spLocks noGrp="1"/>
          </p:cNvSpPr>
          <p:nvPr/>
        </p:nvSpPr>
        <p:spPr>
          <a:xfrm>
            <a:off x="9248775" y="4381500"/>
            <a:ext cx="15049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 dirty="0" err="1">
                <a:solidFill>
                  <a:srgbClr val="5D6775"/>
                </a:solidFill>
              </a:rPr>
              <a:t>行政：處分合法性</a:t>
            </a:r>
            <a:endParaRPr sz="1200" b="0" dirty="0">
              <a:solidFill>
                <a:srgbClr val="5D6775"/>
              </a:solidFill>
            </a:endParaRPr>
          </a:p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 dirty="0" err="1">
                <a:solidFill>
                  <a:srgbClr val="5D6775"/>
                </a:solidFill>
              </a:rPr>
              <a:t>民事：侵權、賠償、攻防</a:t>
            </a:r>
            <a:endParaRPr sz="1200" b="0" dirty="0">
              <a:solidFill>
                <a:srgbClr val="5D6775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A75D44-43CD-47CE-9D6A-6876B3264D89}"/>
              </a:ext>
            </a:extLst>
          </p:cNvPr>
          <p:cNvSpPr>
            <a:spLocks noGrp="1"/>
          </p:cNvSpPr>
          <p:nvPr/>
        </p:nvSpPr>
        <p:spPr>
          <a:xfrm>
            <a:off x="685800" y="59436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0">
                <a:solidFill>
                  <a:srgbClr val="5D6775"/>
                </a:solidFill>
              </a:defRPr>
            </a:pPr>
            <a:r>
              <a:rPr sz="1425" b="0">
                <a:solidFill>
                  <a:srgbClr val="5D6775"/>
                </a:solidFill>
              </a:rPr>
              <a:t>法律程序、請求內容、敘事方式與裁判結構不同，保留下來的分類訊號也會不同。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1409499-5FEB-4473-9C31-FDF7D07B071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33337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804C1F8-532D-43F8-9C19-83C4972985A3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2818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C8DC1E04-32A7-4E36-AA17-B498CC913359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發現三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CB5A6F3-E090-4D15-8788-2601B2B47C1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高準確率，可能掩蓋少數類別的失敗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4BF51F-413A-407E-AFBF-A5428BDC4AC8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以民事案件最佳模型為例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F8C839-9B41-45DB-80BB-9D89E888FE70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0820400" cy="19050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04D745C-06C4-460D-9E22-DDD6CFF57AEF}"/>
              </a:ext>
            </a:extLst>
          </p:cNvPr>
          <p:cNvSpPr>
            <a:spLocks noGrp="1"/>
          </p:cNvSpPr>
          <p:nvPr/>
        </p:nvSpPr>
        <p:spPr>
          <a:xfrm>
            <a:off x="685800" y="2324100"/>
            <a:ext cx="2000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3300" b="1">
                <a:solidFill>
                  <a:srgbClr val="111827"/>
                </a:solidFill>
              </a:defRPr>
            </a:pPr>
            <a:r>
              <a:rPr sz="3300" b="1">
                <a:solidFill>
                  <a:srgbClr val="111827"/>
                </a:solidFill>
              </a:rPr>
              <a:t>0.680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E7CC96-F6ED-44AD-892A-BA34BD13FBBD}"/>
              </a:ext>
            </a:extLst>
          </p:cNvPr>
          <p:cNvSpPr>
            <a:spLocks noGrp="1"/>
          </p:cNvSpPr>
          <p:nvPr/>
        </p:nvSpPr>
        <p:spPr>
          <a:xfrm>
            <a:off x="685800" y="2847975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Accuracy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A0B78E7-79CD-4D4F-AFF7-3B599D37DBE7}"/>
              </a:ext>
            </a:extLst>
          </p:cNvPr>
          <p:cNvSpPr>
            <a:spLocks noGrp="1"/>
          </p:cNvSpPr>
          <p:nvPr/>
        </p:nvSpPr>
        <p:spPr>
          <a:xfrm>
            <a:off x="3200400" y="2324100"/>
            <a:ext cx="2000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3300" b="1">
                <a:solidFill>
                  <a:srgbClr val="3D8DFF"/>
                </a:solidFill>
              </a:defRPr>
            </a:pPr>
            <a:r>
              <a:rPr sz="3300" b="1">
                <a:solidFill>
                  <a:srgbClr val="3D8DFF"/>
                </a:solidFill>
              </a:rPr>
              <a:t>0.428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6739D7-2128-4FFE-A75C-05ABE55734D1}"/>
              </a:ext>
            </a:extLst>
          </p:cNvPr>
          <p:cNvSpPr>
            <a:spLocks noGrp="1"/>
          </p:cNvSpPr>
          <p:nvPr/>
        </p:nvSpPr>
        <p:spPr>
          <a:xfrm>
            <a:off x="3200400" y="2847975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0">
                <a:solidFill>
                  <a:srgbClr val="5D6775"/>
                </a:solidFill>
              </a:defRPr>
            </a:pPr>
            <a:r>
              <a:rPr sz="1200" b="0">
                <a:solidFill>
                  <a:srgbClr val="5D6775"/>
                </a:solidFill>
              </a:rPr>
              <a:t>Macro F1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BDAB168-96AC-4136-8D36-FE058A19F919}"/>
              </a:ext>
            </a:extLst>
          </p:cNvPr>
          <p:cNvSpPr>
            <a:spLocks noGrp="1"/>
          </p:cNvSpPr>
          <p:nvPr/>
        </p:nvSpPr>
        <p:spPr>
          <a:xfrm>
            <a:off x="685800" y="3181350"/>
            <a:ext cx="47625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476F94-479F-44BD-A43C-B79597F50261}"/>
              </a:ext>
            </a:extLst>
          </p:cNvPr>
          <p:cNvSpPr>
            <a:spLocks noGrp="1"/>
          </p:cNvSpPr>
          <p:nvPr/>
        </p:nvSpPr>
        <p:spPr>
          <a:xfrm>
            <a:off x="685800" y="3562350"/>
            <a:ext cx="1428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1">
                <a:solidFill>
                  <a:srgbClr val="5D6775"/>
                </a:solidFill>
              </a:defRPr>
            </a:pPr>
            <a:r>
              <a:rPr sz="1350" b="1">
                <a:solidFill>
                  <a:srgbClr val="5D6775"/>
                </a:solidFill>
              </a:rPr>
              <a:t>各類別 F1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8F8C88-E989-460C-9098-1D895C1CAF40}"/>
              </a:ext>
            </a:extLst>
          </p:cNvPr>
          <p:cNvSpPr>
            <a:spLocks noGrp="1"/>
          </p:cNvSpPr>
          <p:nvPr/>
        </p:nvSpPr>
        <p:spPr>
          <a:xfrm>
            <a:off x="685800" y="4019550"/>
            <a:ext cx="952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Lose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54B0A7-71E6-472D-A55B-BA2340D8D3BB}"/>
              </a:ext>
            </a:extLst>
          </p:cNvPr>
          <p:cNvSpPr>
            <a:spLocks noGrp="1"/>
          </p:cNvSpPr>
          <p:nvPr/>
        </p:nvSpPr>
        <p:spPr>
          <a:xfrm>
            <a:off x="1619250" y="4057650"/>
            <a:ext cx="2291715" cy="161925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9CFEA33-A54D-4F0B-9039-F11A7F560040}"/>
              </a:ext>
            </a:extLst>
          </p:cNvPr>
          <p:cNvSpPr>
            <a:spLocks noGrp="1"/>
          </p:cNvSpPr>
          <p:nvPr/>
        </p:nvSpPr>
        <p:spPr>
          <a:xfrm>
            <a:off x="4667250" y="4000500"/>
            <a:ext cx="723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0.802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E1E2CCD-CA7B-4790-92F2-B5C8042F42E1}"/>
              </a:ext>
            </a:extLst>
          </p:cNvPr>
          <p:cNvSpPr>
            <a:spLocks noGrp="1"/>
          </p:cNvSpPr>
          <p:nvPr/>
        </p:nvSpPr>
        <p:spPr>
          <a:xfrm>
            <a:off x="685800" y="4533900"/>
            <a:ext cx="952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Mixed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C55C67-44C0-41E3-BC50-AD5A05EECDDD}"/>
              </a:ext>
            </a:extLst>
          </p:cNvPr>
          <p:cNvSpPr>
            <a:spLocks noGrp="1"/>
          </p:cNvSpPr>
          <p:nvPr/>
        </p:nvSpPr>
        <p:spPr>
          <a:xfrm>
            <a:off x="1619250" y="4572000"/>
            <a:ext cx="1005840" cy="161925"/>
          </a:xfrm>
          <a:prstGeom prst="rect">
            <a:avLst/>
          </a:prstGeom>
          <a:solidFill>
            <a:srgbClr val="D97706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AD00C6-9ACD-447D-8318-6D757D7DE562}"/>
              </a:ext>
            </a:extLst>
          </p:cNvPr>
          <p:cNvSpPr>
            <a:spLocks noGrp="1"/>
          </p:cNvSpPr>
          <p:nvPr/>
        </p:nvSpPr>
        <p:spPr>
          <a:xfrm>
            <a:off x="4667250" y="4514850"/>
            <a:ext cx="723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0.352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F2EB1A-DEB3-4F58-8999-67D69065C649}"/>
              </a:ext>
            </a:extLst>
          </p:cNvPr>
          <p:cNvSpPr>
            <a:spLocks noGrp="1"/>
          </p:cNvSpPr>
          <p:nvPr/>
        </p:nvSpPr>
        <p:spPr>
          <a:xfrm>
            <a:off x="685800" y="5048250"/>
            <a:ext cx="952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Win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6D83660-EB7F-4E45-B9CE-6BD4306F2E95}"/>
              </a:ext>
            </a:extLst>
          </p:cNvPr>
          <p:cNvSpPr>
            <a:spLocks noGrp="1"/>
          </p:cNvSpPr>
          <p:nvPr/>
        </p:nvSpPr>
        <p:spPr>
          <a:xfrm>
            <a:off x="1619250" y="5086350"/>
            <a:ext cx="371475" cy="161925"/>
          </a:xfrm>
          <a:prstGeom prst="rect">
            <a:avLst/>
          </a:prstGeom>
          <a:solidFill>
            <a:srgbClr val="C2410C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740E5D-0EF9-466B-82C2-41D084E00A45}"/>
              </a:ext>
            </a:extLst>
          </p:cNvPr>
          <p:cNvSpPr>
            <a:spLocks noGrp="1"/>
          </p:cNvSpPr>
          <p:nvPr/>
        </p:nvSpPr>
        <p:spPr>
          <a:xfrm>
            <a:off x="4667250" y="5029200"/>
            <a:ext cx="723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1">
                <a:solidFill>
                  <a:srgbClr val="111827"/>
                </a:solidFill>
              </a:defRPr>
            </a:pPr>
            <a:r>
              <a:rPr sz="1275" b="1">
                <a:solidFill>
                  <a:srgbClr val="111827"/>
                </a:solidFill>
              </a:rPr>
              <a:t>0.130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BC8E02C-4903-44CA-94FB-A7F6CE601E0D}"/>
              </a:ext>
            </a:extLst>
          </p:cNvPr>
          <p:cNvSpPr>
            <a:spLocks noGrp="1"/>
          </p:cNvSpPr>
          <p:nvPr/>
        </p:nvSpPr>
        <p:spPr>
          <a:xfrm>
            <a:off x="6477000" y="2305050"/>
            <a:ext cx="4343400" cy="325755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03E8778-11BE-4D79-940D-33F769F7F7D9}"/>
              </a:ext>
            </a:extLst>
          </p:cNvPr>
          <p:cNvSpPr>
            <a:spLocks noGrp="1"/>
          </p:cNvSpPr>
          <p:nvPr/>
        </p:nvSpPr>
        <p:spPr>
          <a:xfrm>
            <a:off x="6819900" y="2609850"/>
            <a:ext cx="171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3225" b="1">
                <a:solidFill>
                  <a:srgbClr val="C2410C"/>
                </a:solidFill>
              </a:defRPr>
            </a:pPr>
            <a:r>
              <a:rPr sz="3225" b="1">
                <a:solidFill>
                  <a:srgbClr val="C2410C"/>
                </a:solidFill>
              </a:rPr>
              <a:t>86 件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F971D4-C165-44C6-937C-EBFAC6C9448C}"/>
              </a:ext>
            </a:extLst>
          </p:cNvPr>
          <p:cNvSpPr>
            <a:spLocks noGrp="1"/>
          </p:cNvSpPr>
          <p:nvPr/>
        </p:nvSpPr>
        <p:spPr>
          <a:xfrm>
            <a:off x="6819900" y="3162300"/>
            <a:ext cx="238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5D6775"/>
                </a:solidFill>
              </a:defRPr>
            </a:pPr>
            <a:r>
              <a:rPr sz="1350" b="0">
                <a:solidFill>
                  <a:srgbClr val="5D6775"/>
                </a:solidFill>
              </a:rPr>
              <a:t>測試集中實際勝訴案件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F9B28FF-FC2A-4E4A-9A8C-7B700E76EA1F}"/>
              </a:ext>
            </a:extLst>
          </p:cNvPr>
          <p:cNvSpPr>
            <a:spLocks noGrp="1"/>
          </p:cNvSpPr>
          <p:nvPr/>
        </p:nvSpPr>
        <p:spPr>
          <a:xfrm>
            <a:off x="6819900" y="3619500"/>
            <a:ext cx="323850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D535024-8ACC-4138-8412-2931A439389A}"/>
              </a:ext>
            </a:extLst>
          </p:cNvPr>
          <p:cNvSpPr>
            <a:spLocks noGrp="1"/>
          </p:cNvSpPr>
          <p:nvPr/>
        </p:nvSpPr>
        <p:spPr>
          <a:xfrm>
            <a:off x="6819900" y="3924300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只有 7 件被正確辨識為勝訴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48C2A48-D7DD-4363-86A6-3AC697598B58}"/>
              </a:ext>
            </a:extLst>
          </p:cNvPr>
          <p:cNvSpPr>
            <a:spLocks noGrp="1"/>
          </p:cNvSpPr>
          <p:nvPr/>
        </p:nvSpPr>
        <p:spPr>
          <a:xfrm>
            <a:off x="6819900" y="4400550"/>
            <a:ext cx="266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Win recall = 0.081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192501-7544-4ACA-A882-D1BCDAB6AD74}"/>
              </a:ext>
            </a:extLst>
          </p:cNvPr>
          <p:cNvSpPr>
            <a:spLocks noGrp="1"/>
          </p:cNvSpPr>
          <p:nvPr/>
        </p:nvSpPr>
        <p:spPr>
          <a:xfrm>
            <a:off x="6819900" y="4991100"/>
            <a:ext cx="3143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模型主要學到的是最常見的敗訴結果。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7EA3623-57E8-46C1-B71F-39818401A6EA}"/>
              </a:ext>
            </a:extLst>
          </p:cNvPr>
          <p:cNvSpPr>
            <a:spLocks noGrp="1"/>
          </p:cNvSpPr>
          <p:nvPr/>
        </p:nvSpPr>
        <p:spPr>
          <a:xfrm>
            <a:off x="685800" y="5943600"/>
            <a:ext cx="923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下一步：拆解高度異質的 Mixed 標籤，並採用類別權重或重抽樣。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287DF2-AC71-4F13-B879-4C2B590209A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33337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B13C7B8-F8F4-4593-A71D-099966E1EE91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3772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F302962-84B0-4D4F-B1A3-245409AB8490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研究價值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77C309D2-8F81-49D5-A2D8-B2EF503058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模型輸出是分類，研究貢獻不只是一組標籤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DB4C55-3C75-42D4-9138-236F34F6117C}"/>
              </a:ext>
            </a:extLst>
          </p:cNvPr>
          <p:cNvSpPr>
            <a:spLocks noGrp="1"/>
          </p:cNvSpPr>
          <p:nvPr/>
        </p:nvSpPr>
        <p:spPr>
          <a:xfrm>
            <a:off x="685800" y="1381125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這是已完成判決的文本分類，不是事前預測個案勝敗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8DFB3B-CD64-4671-8577-14E024884A97}"/>
              </a:ext>
            </a:extLst>
          </p:cNvPr>
          <p:cNvSpPr>
            <a:spLocks noGrp="1"/>
          </p:cNvSpPr>
          <p:nvPr/>
        </p:nvSpPr>
        <p:spPr>
          <a:xfrm>
            <a:off x="685800" y="1790700"/>
            <a:ext cx="10820400" cy="19050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2F3D6A-18DC-40A4-81DA-2F0528E0C79A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914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可用於：初步整理｜資料結構化｜樣本篩選｜案件分布掌握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C967C9-71A8-46E7-AC85-DC7BAD624B1B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2190750" cy="2324100"/>
          </a:xfrm>
          <a:prstGeom prst="rect">
            <a:avLst/>
          </a:prstGeom>
          <a:solidFill>
            <a:srgbClr val="EEF1F4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A735F3-ABA4-4FEB-9B30-4E5C47748089}"/>
              </a:ext>
            </a:extLst>
          </p:cNvPr>
          <p:cNvSpPr>
            <a:spLocks noGrp="1"/>
          </p:cNvSpPr>
          <p:nvPr/>
        </p:nvSpPr>
        <p:spPr>
          <a:xfrm>
            <a:off x="876300" y="3086100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5DCF07-C829-4258-8454-A9C8779D3C2A}"/>
              </a:ext>
            </a:extLst>
          </p:cNvPr>
          <p:cNvSpPr>
            <a:spLocks noGrp="1"/>
          </p:cNvSpPr>
          <p:nvPr/>
        </p:nvSpPr>
        <p:spPr>
          <a:xfrm>
            <a:off x="876300" y="3486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可重複流程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6241E8-9EE4-41D4-8143-3009F00D5DEE}"/>
              </a:ext>
            </a:extLst>
          </p:cNvPr>
          <p:cNvSpPr>
            <a:spLocks noGrp="1"/>
          </p:cNvSpPr>
          <p:nvPr/>
        </p:nvSpPr>
        <p:spPr>
          <a:xfrm>
            <a:off x="876300" y="4000500"/>
            <a:ext cx="1809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建立智慧財產權判決</a:t>
            </a:r>
          </a:p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分類流程。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D29B8-7636-49E2-9A07-60129D739DC5}"/>
              </a:ext>
            </a:extLst>
          </p:cNvPr>
          <p:cNvSpPr>
            <a:spLocks noGrp="1"/>
          </p:cNvSpPr>
          <p:nvPr/>
        </p:nvSpPr>
        <p:spPr>
          <a:xfrm>
            <a:off x="3333750" y="2857500"/>
            <a:ext cx="2190750" cy="2324100"/>
          </a:xfrm>
          <a:prstGeom prst="rect">
            <a:avLst/>
          </a:prstGeom>
          <a:solidFill>
            <a:srgbClr val="EEF1F4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28F64D-6DBD-45B3-8E15-FC7CE5818DC8}"/>
              </a:ext>
            </a:extLst>
          </p:cNvPr>
          <p:cNvSpPr>
            <a:spLocks noGrp="1"/>
          </p:cNvSpPr>
          <p:nvPr/>
        </p:nvSpPr>
        <p:spPr>
          <a:xfrm>
            <a:off x="3524250" y="3086100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5F680D-5805-438B-AD55-A8275E8E99A6}"/>
              </a:ext>
            </a:extLst>
          </p:cNvPr>
          <p:cNvSpPr>
            <a:spLocks noGrp="1"/>
          </p:cNvSpPr>
          <p:nvPr/>
        </p:nvSpPr>
        <p:spPr>
          <a:xfrm>
            <a:off x="3524250" y="3486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案件異質性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7EE2DB-E826-4C7A-8685-97999DEC3320}"/>
              </a:ext>
            </a:extLst>
          </p:cNvPr>
          <p:cNvSpPr>
            <a:spLocks noGrp="1"/>
          </p:cNvSpPr>
          <p:nvPr/>
        </p:nvSpPr>
        <p:spPr>
          <a:xfrm>
            <a:off x="3524250" y="4000500"/>
            <a:ext cx="1809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四種案件適合的文字</a:t>
            </a:r>
          </a:p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特徵並不相同。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8FB96C-9619-4C61-8643-0A133FE62338}"/>
              </a:ext>
            </a:extLst>
          </p:cNvPr>
          <p:cNvSpPr>
            <a:spLocks noGrp="1"/>
          </p:cNvSpPr>
          <p:nvPr/>
        </p:nvSpPr>
        <p:spPr>
          <a:xfrm>
            <a:off x="5981700" y="2857500"/>
            <a:ext cx="2190750" cy="2324100"/>
          </a:xfrm>
          <a:prstGeom prst="rect">
            <a:avLst/>
          </a:prstGeom>
          <a:solidFill>
            <a:srgbClr val="EEF1F4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4DEB20-F226-4532-9F9E-A095A8937E37}"/>
              </a:ext>
            </a:extLst>
          </p:cNvPr>
          <p:cNvSpPr>
            <a:spLocks noGrp="1"/>
          </p:cNvSpPr>
          <p:nvPr/>
        </p:nvSpPr>
        <p:spPr>
          <a:xfrm>
            <a:off x="6172200" y="3086100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7396478-080E-4385-9433-32E113D66B9E}"/>
              </a:ext>
            </a:extLst>
          </p:cNvPr>
          <p:cNvSpPr>
            <a:spLocks noGrp="1"/>
          </p:cNvSpPr>
          <p:nvPr/>
        </p:nvSpPr>
        <p:spPr>
          <a:xfrm>
            <a:off x="6172200" y="3486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強基準比較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D3189DA-9D45-45CD-96A3-B6CAF2331BBC}"/>
              </a:ext>
            </a:extLst>
          </p:cNvPr>
          <p:cNvSpPr>
            <a:spLocks noGrp="1"/>
          </p:cNvSpPr>
          <p:nvPr/>
        </p:nvSpPr>
        <p:spPr>
          <a:xfrm>
            <a:off x="6172200" y="4000500"/>
            <a:ext cx="1809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Direct SVM 在四類案件</a:t>
            </a:r>
          </a:p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皆高於 MNIR 流程。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E9080D5-D412-438B-B25E-9E38F2DA2541}"/>
              </a:ext>
            </a:extLst>
          </p:cNvPr>
          <p:cNvSpPr>
            <a:spLocks noGrp="1"/>
          </p:cNvSpPr>
          <p:nvPr/>
        </p:nvSpPr>
        <p:spPr>
          <a:xfrm>
            <a:off x="8629650" y="2857500"/>
            <a:ext cx="2190750" cy="2324100"/>
          </a:xfrm>
          <a:prstGeom prst="rect">
            <a:avLst/>
          </a:prstGeom>
          <a:solidFill>
            <a:srgbClr val="DCEE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0783EA-3CF9-462A-80CD-47E2DE48D343}"/>
              </a:ext>
            </a:extLst>
          </p:cNvPr>
          <p:cNvSpPr>
            <a:spLocks noGrp="1"/>
          </p:cNvSpPr>
          <p:nvPr/>
        </p:nvSpPr>
        <p:spPr>
          <a:xfrm>
            <a:off x="8820150" y="3086100"/>
            <a:ext cx="47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AC7A55E-367B-4A1B-8D3F-9F153D95ED3C}"/>
              </a:ext>
            </a:extLst>
          </p:cNvPr>
          <p:cNvSpPr>
            <a:spLocks noGrp="1"/>
          </p:cNvSpPr>
          <p:nvPr/>
        </p:nvSpPr>
        <p:spPr>
          <a:xfrm>
            <a:off x="8820150" y="3486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評估的盲點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7CEE61-180B-45EF-94B3-3485890B4B54}"/>
              </a:ext>
            </a:extLst>
          </p:cNvPr>
          <p:cNvSpPr>
            <a:spLocks noGrp="1"/>
          </p:cNvSpPr>
          <p:nvPr/>
        </p:nvSpPr>
        <p:spPr>
          <a:xfrm>
            <a:off x="8820150" y="4000500"/>
            <a:ext cx="1809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不只追求 Accuracy；</a:t>
            </a:r>
          </a:p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還要處理少數類別</a:t>
            </a:r>
          </a:p>
          <a:p>
            <a:pPr>
              <a:defRPr sz="1275" b="0">
                <a:solidFill>
                  <a:srgbClr val="5D6775"/>
                </a:solidFill>
              </a:defRPr>
            </a:pPr>
            <a:r>
              <a:rPr sz="1275" b="0">
                <a:solidFill>
                  <a:srgbClr val="5D6775"/>
                </a:solidFill>
              </a:rPr>
              <a:t>樣本不足與標籤不平衡。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4A1B0DF-D97F-4051-A206-388FDCDA98A8}"/>
              </a:ext>
            </a:extLst>
          </p:cNvPr>
          <p:cNvSpPr>
            <a:spLocks noGrp="1"/>
          </p:cNvSpPr>
          <p:nvPr/>
        </p:nvSpPr>
        <p:spPr>
          <a:xfrm>
            <a:off x="685800" y="5715000"/>
            <a:ext cx="933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研究提供後續法律文本研究在資料處理、模型比較與評估方式上的實證基礎。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289934-39EB-4326-9C6A-B56F887DC1F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33337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D4EFC30-BD5C-4A64-890F-6CC09AAF16C2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14881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B9ECF76-C0FE-4C47-8814-DDA3A594E138}"/>
              </a:ext>
            </a:extLst>
          </p:cNvPr>
          <p:cNvSpPr>
            <a:spLocks noGrp="1"/>
          </p:cNvSpPr>
          <p:nvPr/>
        </p:nvSpPr>
        <p:spPr>
          <a:xfrm>
            <a:off x="685800" y="457200"/>
            <a:ext cx="333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結論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F28E85-5EA5-4A3B-95A3-5C011B3D7974}"/>
              </a:ext>
            </a:extLst>
          </p:cNvPr>
          <p:cNvSpPr>
            <a:spLocks noGrp="1"/>
          </p:cNvSpPr>
          <p:nvPr/>
        </p:nvSpPr>
        <p:spPr>
          <a:xfrm>
            <a:off x="685800" y="1219200"/>
            <a:ext cx="5810250" cy="1314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4350" b="1">
                <a:solidFill>
                  <a:srgbClr val="111827"/>
                </a:solidFill>
              </a:defRPr>
            </a:pPr>
            <a:r>
              <a:rPr sz="4350" b="1">
                <a:solidFill>
                  <a:srgbClr val="111827"/>
                </a:solidFill>
              </a:rPr>
              <a:t>判決文本</a:t>
            </a:r>
          </a:p>
          <a:p>
            <a:pPr>
              <a:defRPr sz="4350" b="1">
                <a:solidFill>
                  <a:srgbClr val="111827"/>
                </a:solidFill>
              </a:defRPr>
            </a:pPr>
            <a:r>
              <a:rPr sz="4350" b="1">
                <a:solidFill>
                  <a:srgbClr val="111827"/>
                </a:solidFill>
              </a:rPr>
              <a:t>確實會說話。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14F6EB-5343-4689-B7D5-25097D85C47B}"/>
              </a:ext>
            </a:extLst>
          </p:cNvPr>
          <p:cNvSpPr>
            <a:spLocks noGrp="1"/>
          </p:cNvSpPr>
          <p:nvPr/>
        </p:nvSpPr>
        <p:spPr>
          <a:xfrm>
            <a:off x="685800" y="2781300"/>
            <a:ext cx="523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但它說的是有條件的訊號。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33EA9B-C0DE-48C4-AB98-8510C094ABB8}"/>
              </a:ext>
            </a:extLst>
          </p:cNvPr>
          <p:cNvSpPr>
            <a:spLocks noGrp="1"/>
          </p:cNvSpPr>
          <p:nvPr/>
        </p:nvSpPr>
        <p:spPr>
          <a:xfrm>
            <a:off x="685800" y="3371850"/>
            <a:ext cx="4953000" cy="381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311B46-CC91-44E2-8EC7-57B9262A389E}"/>
              </a:ext>
            </a:extLst>
          </p:cNvPr>
          <p:cNvSpPr>
            <a:spLocks noGrp="1"/>
          </p:cNvSpPr>
          <p:nvPr/>
        </p:nvSpPr>
        <p:spPr>
          <a:xfrm>
            <a:off x="685800" y="398145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案件異質性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A62273-2EBF-4F48-9A6D-6C47747095CF}"/>
              </a:ext>
            </a:extLst>
          </p:cNvPr>
          <p:cNvSpPr>
            <a:spLocks noGrp="1"/>
          </p:cNvSpPr>
          <p:nvPr/>
        </p:nvSpPr>
        <p:spPr>
          <a:xfrm>
            <a:off x="2743200" y="398145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0">
                <a:solidFill>
                  <a:srgbClr val="5D6775"/>
                </a:solidFill>
              </a:defRPr>
            </a:pPr>
            <a:r>
              <a:rPr sz="1425" b="0">
                <a:solidFill>
                  <a:srgbClr val="5D6775"/>
                </a:solidFill>
              </a:rPr>
              <a:t>不同案件需要不同文字表示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D4486F-9350-4FF9-868C-1592C8FA59FC}"/>
              </a:ext>
            </a:extLst>
          </p:cNvPr>
          <p:cNvSpPr>
            <a:spLocks noGrp="1"/>
          </p:cNvSpPr>
          <p:nvPr/>
        </p:nvSpPr>
        <p:spPr>
          <a:xfrm>
            <a:off x="685800" y="459105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強基準必要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C887D3-2A26-431B-A748-3B3FD02F7172}"/>
              </a:ext>
            </a:extLst>
          </p:cNvPr>
          <p:cNvSpPr>
            <a:spLocks noGrp="1"/>
          </p:cNvSpPr>
          <p:nvPr/>
        </p:nvSpPr>
        <p:spPr>
          <a:xfrm>
            <a:off x="2743200" y="459105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0">
                <a:solidFill>
                  <a:srgbClr val="5D6775"/>
                </a:solidFill>
              </a:defRPr>
            </a:pPr>
            <a:r>
              <a:rPr sz="1425" b="0">
                <a:solidFill>
                  <a:srgbClr val="5D6775"/>
                </a:solidFill>
              </a:rPr>
              <a:t>更複雜的流程不一定較佳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EFC7F0-F278-431A-A197-A7350963955D}"/>
              </a:ext>
            </a:extLst>
          </p:cNvPr>
          <p:cNvSpPr>
            <a:spLocks noGrp="1"/>
          </p:cNvSpPr>
          <p:nvPr/>
        </p:nvSpPr>
        <p:spPr>
          <a:xfrm>
            <a:off x="685800" y="520065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500" b="1">
                <a:solidFill>
                  <a:srgbClr val="111827"/>
                </a:solidFill>
              </a:defRPr>
            </a:pPr>
            <a:r>
              <a:rPr sz="1500" b="1" dirty="0" err="1">
                <a:solidFill>
                  <a:srgbClr val="111827"/>
                </a:solidFill>
              </a:rPr>
              <a:t>少數類別不能被忽略</a:t>
            </a:r>
            <a:endParaRPr sz="1500" b="1" dirty="0">
              <a:solidFill>
                <a:srgbClr val="111827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9FDD44-2582-494F-92D2-DF9AA74431DF}"/>
              </a:ext>
            </a:extLst>
          </p:cNvPr>
          <p:cNvSpPr>
            <a:spLocks noGrp="1"/>
          </p:cNvSpPr>
          <p:nvPr/>
        </p:nvSpPr>
        <p:spPr>
          <a:xfrm>
            <a:off x="2743200" y="520065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425" b="0">
                <a:solidFill>
                  <a:srgbClr val="5D6775"/>
                </a:solidFill>
              </a:defRPr>
            </a:pPr>
            <a:r>
              <a:rPr sz="1425" b="0">
                <a:solidFill>
                  <a:srgbClr val="5D6775"/>
                </a:solidFill>
              </a:rPr>
              <a:t>整體準確率可能遮蔽失敗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40E4D6A-15FE-4A1A-88CC-8FC10705E72F}"/>
              </a:ext>
            </a:extLst>
          </p:cNvPr>
          <p:cNvSpPr>
            <a:spLocks noGrp="1"/>
          </p:cNvSpPr>
          <p:nvPr/>
        </p:nvSpPr>
        <p:spPr>
          <a:xfrm>
            <a:off x="7524750" y="1181100"/>
            <a:ext cx="3295650" cy="4267200"/>
          </a:xfrm>
          <a:prstGeom prst="rect">
            <a:avLst/>
          </a:prstGeom>
          <a:solidFill>
            <a:srgbClr val="F8FAFC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3EF3D8-5492-49D2-A369-266EABD040E1}"/>
              </a:ext>
            </a:extLst>
          </p:cNvPr>
          <p:cNvSpPr>
            <a:spLocks noGrp="1"/>
          </p:cNvSpPr>
          <p:nvPr/>
        </p:nvSpPr>
        <p:spPr>
          <a:xfrm>
            <a:off x="7829550" y="1543050"/>
            <a:ext cx="190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275" b="1">
                <a:solidFill>
                  <a:srgbClr val="3D8DFF"/>
                </a:solidFill>
              </a:defRPr>
            </a:pPr>
            <a:r>
              <a:rPr sz="1275" b="1">
                <a:solidFill>
                  <a:srgbClr val="3D8DFF"/>
                </a:solidFill>
              </a:rPr>
              <a:t>研究回答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1E3DAB-9D09-4F48-9B43-CC5DEFC85842}"/>
              </a:ext>
            </a:extLst>
          </p:cNvPr>
          <p:cNvSpPr>
            <a:spLocks noGrp="1"/>
          </p:cNvSpPr>
          <p:nvPr/>
        </p:nvSpPr>
        <p:spPr>
          <a:xfrm>
            <a:off x="7829550" y="2038350"/>
            <a:ext cx="259080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2700" b="1">
                <a:solidFill>
                  <a:srgbClr val="111827"/>
                </a:solidFill>
              </a:defRPr>
            </a:pPr>
            <a:r>
              <a:rPr sz="2700" b="1" dirty="0" err="1">
                <a:solidFill>
                  <a:srgbClr val="111827"/>
                </a:solidFill>
              </a:rPr>
              <a:t>詞彙分布仍可留下可辨識的結果訊號</a:t>
            </a:r>
            <a:endParaRPr sz="2700" b="1" dirty="0">
              <a:solidFill>
                <a:srgbClr val="111827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751CB3-A558-41FE-83C6-F86402341CC7}"/>
              </a:ext>
            </a:extLst>
          </p:cNvPr>
          <p:cNvSpPr>
            <a:spLocks noGrp="1"/>
          </p:cNvSpPr>
          <p:nvPr/>
        </p:nvSpPr>
        <p:spPr>
          <a:xfrm>
            <a:off x="7829550" y="3905250"/>
            <a:ext cx="2190750" cy="9525"/>
          </a:xfrm>
          <a:prstGeom prst="rect">
            <a:avLst/>
          </a:prstGeom>
          <a:solidFill>
            <a:srgbClr val="C6CCD3"/>
          </a:solidFill>
          <a:ln w="0">
            <a:noFill/>
            <a:prstDash val="solid"/>
          </a:ln>
        </p:spPr>
        <p:txBody>
          <a:bodyPr anchor="ctr"/>
          <a:lstStyle/>
          <a:p>
            <a:endParaRPr lang="en-TW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EB5712-0DEE-4DAF-8DDA-FED67788534D}"/>
              </a:ext>
            </a:extLst>
          </p:cNvPr>
          <p:cNvSpPr>
            <a:spLocks noGrp="1"/>
          </p:cNvSpPr>
          <p:nvPr/>
        </p:nvSpPr>
        <p:spPr>
          <a:xfrm>
            <a:off x="7829549" y="4210050"/>
            <a:ext cx="2590799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350" b="0">
                <a:solidFill>
                  <a:srgbClr val="5D6775"/>
                </a:solidFill>
              </a:defRPr>
            </a:pPr>
            <a:r>
              <a:rPr sz="1350" b="0" dirty="0" err="1">
                <a:solidFill>
                  <a:srgbClr val="5D6775"/>
                </a:solidFill>
              </a:rPr>
              <a:t>後續導入深度學習或預訓練語言模型時，可作為比較基礎</a:t>
            </a:r>
            <a:r>
              <a:rPr sz="1350" b="0" dirty="0">
                <a:solidFill>
                  <a:srgbClr val="5D6775"/>
                </a:solidFill>
              </a:rPr>
              <a:t>。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2B5614-CB8E-4C29-AAE0-8148AE4C6387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謝謝各位評審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62D02DF-E5BC-462E-86B6-252F6D9D4C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33337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0">
                <a:solidFill>
                  <a:srgbClr val="5D6775"/>
                </a:solidFill>
              </a:defRPr>
            </a:pPr>
            <a:r>
              <a:rPr sz="825" b="0">
                <a:solidFill>
                  <a:srgbClr val="5D6775"/>
                </a:solidFill>
              </a:rPr>
              <a:t>崇越論文大賞決賽  |  M0263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369F4B-BB74-4036-B06D-E5D0D7F42EBF}"/>
              </a:ext>
            </a:extLst>
          </p:cNvPr>
          <p:cNvSpPr>
            <a:spLocks noGrp="1"/>
          </p:cNvSpPr>
          <p:nvPr/>
        </p:nvSpPr>
        <p:spPr>
          <a:xfrm>
            <a:off x="11163300" y="6457950"/>
            <a:ext cx="342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825" b="1">
                <a:solidFill>
                  <a:srgbClr val="5D6775"/>
                </a:solidFill>
              </a:defRPr>
            </a:pPr>
            <a:r>
              <a:rPr sz="825" b="1">
                <a:solidFill>
                  <a:srgbClr val="5D6775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8028115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881</Words>
  <Application>Microsoft Macintosh PowerPoint</Application>
  <DocSecurity>0</DocSecurity>
  <PresentationFormat>Widescreen</PresentationFormat>
  <Paragraphs>222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1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陳信全</cp:lastModifiedBy>
  <cp:revision>1</cp:revision>
  <dcterms:created xsi:type="dcterms:W3CDTF">2026-08-21T13:37:04Z</dcterms:created>
  <dcterms:modified xsi:type="dcterms:W3CDTF">2026-08-21T13:52:13Z</dcterms:modified>
</cp:coreProperties>
</file>