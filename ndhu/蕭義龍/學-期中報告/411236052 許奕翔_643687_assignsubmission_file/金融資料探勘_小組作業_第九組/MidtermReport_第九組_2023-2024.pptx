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79" r:id="rId3"/>
    <p:sldId id="257" r:id="rId4"/>
    <p:sldId id="260" r:id="rId5"/>
    <p:sldId id="278" r:id="rId6"/>
    <p:sldId id="280" r:id="rId7"/>
    <p:sldId id="281" r:id="rId8"/>
    <p:sldId id="267" r:id="rId9"/>
    <p:sldId id="283" r:id="rId10"/>
    <p:sldId id="285" r:id="rId11"/>
    <p:sldId id="284" r:id="rId12"/>
    <p:sldId id="286" r:id="rId13"/>
    <p:sldId id="287" r:id="rId14"/>
    <p:sldId id="263" r:id="rId15"/>
    <p:sldId id="268" r:id="rId16"/>
    <p:sldId id="261" r:id="rId17"/>
    <p:sldId id="288" r:id="rId18"/>
    <p:sldId id="26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BD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5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A5B76D1-23E2-4501-BA05-3F8ED82E3D79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7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7470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870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5566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893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2311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755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359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1752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812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516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852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5498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5354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402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1501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76D1-23E2-4501-BA05-3F8ED82E3D79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88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A5B76D1-23E2-4501-BA05-3F8ED82E3D79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2FDBD86-C183-4883-B7EA-DBFA52D50A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5558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3E29F6-180C-A555-2825-C3B631D807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dirty="0">
                <a:latin typeface="+mj-ea"/>
              </a:rPr>
              <a:t>金融資料探勘</a:t>
            </a:r>
            <a:r>
              <a:rPr lang="en-US" altLang="zh-TW" b="1" dirty="0">
                <a:latin typeface="+mj-ea"/>
              </a:rPr>
              <a:t>-</a:t>
            </a:r>
            <a:r>
              <a:rPr lang="zh-TW" altLang="en-US" b="1" dirty="0">
                <a:latin typeface="+mj-ea"/>
              </a:rPr>
              <a:t>第二組書面報告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0A96B2-7692-48F2-A457-E9E3306CED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1" dirty="0">
                <a:latin typeface="+mj-ea"/>
                <a:ea typeface="+mj-ea"/>
              </a:rPr>
              <a:t>411236057</a:t>
            </a:r>
            <a:r>
              <a:rPr lang="zh-TW" altLang="en-US" b="1" dirty="0">
                <a:latin typeface="+mj-ea"/>
                <a:ea typeface="+mj-ea"/>
              </a:rPr>
              <a:t>黃柏崴</a:t>
            </a:r>
            <a:endParaRPr lang="en-US" altLang="zh-TW" b="1" dirty="0">
              <a:latin typeface="+mj-ea"/>
              <a:ea typeface="+mj-ea"/>
            </a:endParaRPr>
          </a:p>
          <a:p>
            <a:r>
              <a:rPr lang="en-US" altLang="zh-TW" b="1" dirty="0">
                <a:latin typeface="+mj-ea"/>
                <a:ea typeface="+mj-ea"/>
              </a:rPr>
              <a:t>411236052</a:t>
            </a:r>
            <a:r>
              <a:rPr lang="zh-TW" altLang="en-US" b="1" dirty="0">
                <a:latin typeface="+mj-ea"/>
                <a:ea typeface="+mj-ea"/>
              </a:rPr>
              <a:t>許奕翔</a:t>
            </a:r>
          </a:p>
        </p:txBody>
      </p:sp>
    </p:spTree>
    <p:extLst>
      <p:ext uri="{BB962C8B-B14F-4D97-AF65-F5344CB8AC3E}">
        <p14:creationId xmlns:p14="http://schemas.microsoft.com/office/powerpoint/2010/main" val="713001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F6DD05-D363-C8F7-5480-8D1842D7F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研究主題與研究動機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A45A48-9383-7F16-5B11-82DA90751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研究疫情緩解後台股經濟回暖之最近年份</a:t>
            </a:r>
            <a:r>
              <a:rPr lang="en-US" altLang="zh-TW" b="1" dirty="0"/>
              <a:t>(2023~2024)</a:t>
            </a:r>
            <a:r>
              <a:rPr lang="zh-TW" altLang="en-US" b="1" dirty="0"/>
              <a:t>，故選擇最靠近現在的兩年，配合</a:t>
            </a:r>
            <a:r>
              <a:rPr lang="en-US" altLang="zh-TW" b="1" dirty="0"/>
              <a:t>IV</a:t>
            </a:r>
            <a:r>
              <a:rPr lang="zh-TW" altLang="en-US" b="1" dirty="0"/>
              <a:t>、標準差、</a:t>
            </a:r>
            <a:r>
              <a:rPr lang="en-US" altLang="zh-TW" b="1" dirty="0"/>
              <a:t>HV</a:t>
            </a:r>
            <a:r>
              <a:rPr lang="zh-TW" altLang="en-US" b="1" dirty="0"/>
              <a:t>、</a:t>
            </a:r>
            <a:r>
              <a:rPr lang="en-US" altLang="zh-TW" b="1" dirty="0"/>
              <a:t>VRP</a:t>
            </a:r>
            <a:r>
              <a:rPr lang="zh-TW" altLang="en-US" b="1" dirty="0"/>
              <a:t>、</a:t>
            </a:r>
            <a:r>
              <a:rPr lang="en-US" altLang="zh-TW" b="1" dirty="0"/>
              <a:t>PCR</a:t>
            </a:r>
            <a:r>
              <a:rPr lang="zh-TW" altLang="en-US" b="1" dirty="0"/>
              <a:t>、乖離率圖表分析台指選擇權走向是否合理及背後事件造成的影響。</a:t>
            </a:r>
            <a:endParaRPr lang="en-US" altLang="zh-TW" b="1" dirty="0"/>
          </a:p>
          <a:p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438162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4D82B7-45AB-3DA2-FFB5-4C6A74035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latin typeface="+mj-ea"/>
              </a:rPr>
              <a:t>研究年度及分工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BC8765-FF0F-EF45-3ECB-B272ED269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b="1" dirty="0"/>
              <a:t>年度選擇原因：新冠疫情後的經濟復甦與</a:t>
            </a:r>
            <a:r>
              <a:rPr lang="en-US" altLang="zh-TW" b="1" dirty="0"/>
              <a:t>AI</a:t>
            </a:r>
            <a:r>
              <a:rPr lang="zh-TW" altLang="en-US" b="1" dirty="0"/>
              <a:t>浪潮帶來的影響</a:t>
            </a:r>
            <a:endParaRPr lang="en-US" altLang="zh-TW" b="1" dirty="0"/>
          </a:p>
          <a:p>
            <a:pPr marL="0" indent="0">
              <a:buNone/>
            </a:pPr>
            <a:endParaRPr lang="en-US" altLang="zh-TW" b="1" dirty="0"/>
          </a:p>
          <a:p>
            <a:pPr marL="0" indent="0">
              <a:buNone/>
            </a:pPr>
            <a:r>
              <a:rPr lang="zh-TW" altLang="en-US" b="1" dirty="0"/>
              <a:t>分工：</a:t>
            </a:r>
            <a:endParaRPr lang="en-US" altLang="zh-TW" b="1" dirty="0"/>
          </a:p>
          <a:p>
            <a:pPr marL="0" indent="0">
              <a:buNone/>
            </a:pPr>
            <a:r>
              <a:rPr lang="en-US" altLang="zh-TW" b="1" dirty="0"/>
              <a:t>411236052</a:t>
            </a:r>
            <a:r>
              <a:rPr lang="zh-TW" altLang="en-US" b="1" dirty="0"/>
              <a:t> 許奕翔</a:t>
            </a:r>
            <a:r>
              <a:rPr lang="en-US" altLang="zh-TW" b="1" dirty="0"/>
              <a:t>(AI</a:t>
            </a:r>
            <a:r>
              <a:rPr lang="zh-TW" altLang="en-US" b="1" dirty="0"/>
              <a:t> 協作、財務統計與圖表製作、</a:t>
            </a:r>
            <a:r>
              <a:rPr lang="en-US" altLang="zh-TW" b="1" dirty="0"/>
              <a:t>2023</a:t>
            </a:r>
            <a:r>
              <a:rPr lang="zh-TW" altLang="en-US" b="1" dirty="0"/>
              <a:t>年資料</a:t>
            </a:r>
            <a:r>
              <a:rPr lang="en-US" altLang="zh-TW" b="1" dirty="0"/>
              <a:t>)</a:t>
            </a:r>
          </a:p>
          <a:p>
            <a:pPr marL="0" indent="0">
              <a:buNone/>
            </a:pPr>
            <a:r>
              <a:rPr lang="en-US" altLang="zh-TW" b="1" dirty="0"/>
              <a:t>411236052</a:t>
            </a:r>
            <a:r>
              <a:rPr lang="zh-TW" altLang="en-US" b="1" dirty="0"/>
              <a:t> 黃柏崴</a:t>
            </a:r>
            <a:r>
              <a:rPr lang="en-US" altLang="zh-TW" b="1" dirty="0"/>
              <a:t>(</a:t>
            </a:r>
            <a:r>
              <a:rPr lang="zh-TW" altLang="en-US" b="1" dirty="0"/>
              <a:t>事件分析、問題與修正、資料處理、</a:t>
            </a:r>
            <a:r>
              <a:rPr lang="en-US" altLang="zh-TW" b="1" dirty="0"/>
              <a:t>2024</a:t>
            </a:r>
            <a:r>
              <a:rPr lang="zh-TW" altLang="en-US" b="1" dirty="0"/>
              <a:t>年資料</a:t>
            </a:r>
            <a:r>
              <a:rPr lang="en-US" altLang="zh-TW" b="1" dirty="0"/>
              <a:t>)</a:t>
            </a:r>
          </a:p>
          <a:p>
            <a:pPr marL="0" indent="0">
              <a:buNone/>
            </a:pPr>
            <a:endParaRPr lang="en-US" altLang="zh-TW" b="1" dirty="0"/>
          </a:p>
          <a:p>
            <a:pPr marL="0" indent="0">
              <a:buNone/>
            </a:pPr>
            <a:endParaRPr lang="en-US" altLang="zh-TW" b="1" dirty="0"/>
          </a:p>
          <a:p>
            <a:pPr marL="0" indent="0">
              <a:buNone/>
            </a:pPr>
            <a:endParaRPr lang="en-US" altLang="zh-TW" b="1" dirty="0"/>
          </a:p>
          <a:p>
            <a:pPr marL="0" indent="0">
              <a:buNone/>
            </a:pP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775998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08204D-E672-397C-C837-BE1B2265F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資料來源與樣本說明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763DF51-972D-F2F7-B9B6-CB2E9119DBC9}"/>
              </a:ext>
            </a:extLst>
          </p:cNvPr>
          <p:cNvSpPr/>
          <p:nvPr/>
        </p:nvSpPr>
        <p:spPr>
          <a:xfrm>
            <a:off x="1295401" y="2571752"/>
            <a:ext cx="2581274" cy="130386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rgbClr val="C00000"/>
                </a:solidFill>
              </a:rPr>
              <a:t>原始逐筆資料</a:t>
            </a:r>
            <a:br>
              <a:rPr lang="en-US" altLang="zh-TW" dirty="0">
                <a:solidFill>
                  <a:sysClr val="windowText" lastClr="000000"/>
                </a:solidFill>
              </a:rPr>
            </a:br>
            <a:r>
              <a:rPr lang="en-US" altLang="zh-TW" dirty="0">
                <a:solidFill>
                  <a:sysClr val="windowText" lastClr="000000"/>
                </a:solidFill>
              </a:rPr>
              <a:t>2023~2024</a:t>
            </a:r>
            <a:r>
              <a:rPr lang="zh-TW" altLang="en-US" dirty="0">
                <a:solidFill>
                  <a:sysClr val="windowText" lastClr="000000"/>
                </a:solidFill>
              </a:rPr>
              <a:t>台指選</a:t>
            </a:r>
            <a:br>
              <a:rPr lang="en-US" altLang="zh-TW" dirty="0">
                <a:solidFill>
                  <a:sysClr val="windowText" lastClr="000000"/>
                </a:solidFill>
              </a:rPr>
            </a:br>
            <a:r>
              <a:rPr lang="en-US" altLang="zh-TW" dirty="0">
                <a:solidFill>
                  <a:sysClr val="windowText" lastClr="000000"/>
                </a:solidFill>
              </a:rPr>
              <a:t>2023~2024</a:t>
            </a:r>
            <a:r>
              <a:rPr lang="zh-TW" altLang="en-US" dirty="0">
                <a:solidFill>
                  <a:sysClr val="windowText" lastClr="000000"/>
                </a:solidFill>
              </a:rPr>
              <a:t>大盤指數</a:t>
            </a:r>
            <a:r>
              <a:rPr lang="en-US" altLang="zh-TW" dirty="0">
                <a:solidFill>
                  <a:sysClr val="windowText" lastClr="000000"/>
                </a:solidFill>
              </a:rPr>
              <a:t>(S0)</a:t>
            </a:r>
            <a:br>
              <a:rPr lang="en-US" altLang="zh-TW" dirty="0">
                <a:solidFill>
                  <a:sysClr val="windowText" lastClr="000000"/>
                </a:solidFill>
              </a:rPr>
            </a:br>
            <a:r>
              <a:rPr lang="en-US" altLang="zh-TW" dirty="0">
                <a:solidFill>
                  <a:sysClr val="windowText" lastClr="000000"/>
                </a:solidFill>
              </a:rPr>
              <a:t>2023~2024</a:t>
            </a:r>
            <a:r>
              <a:rPr lang="zh-TW" altLang="en-US" dirty="0">
                <a:solidFill>
                  <a:sysClr val="windowText" lastClr="000000"/>
                </a:solidFill>
              </a:rPr>
              <a:t>台銀利率</a:t>
            </a:r>
            <a:r>
              <a:rPr lang="en-US" altLang="zh-TW" dirty="0">
                <a:solidFill>
                  <a:sysClr val="windowText" lastClr="000000"/>
                </a:solidFill>
              </a:rPr>
              <a:t>(Rf)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35A5158-C0D9-15D7-470C-00FA5ACD1BD0}"/>
              </a:ext>
            </a:extLst>
          </p:cNvPr>
          <p:cNvSpPr/>
          <p:nvPr/>
        </p:nvSpPr>
        <p:spPr>
          <a:xfrm>
            <a:off x="4652963" y="2571752"/>
            <a:ext cx="2581274" cy="130386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rgbClr val="C00000"/>
                </a:solidFill>
              </a:rPr>
              <a:t>篩選條件</a:t>
            </a:r>
            <a:br>
              <a:rPr lang="en-US" altLang="zh-TW" dirty="0">
                <a:solidFill>
                  <a:sysClr val="windowText" lastClr="000000"/>
                </a:solidFill>
              </a:rPr>
            </a:br>
            <a:r>
              <a:rPr lang="en-US" altLang="zh-TW" dirty="0">
                <a:solidFill>
                  <a:sysClr val="windowText" lastClr="000000"/>
                </a:solidFill>
              </a:rPr>
              <a:t>volume&gt;=30</a:t>
            </a:r>
          </a:p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(</a:t>
            </a:r>
            <a:r>
              <a:rPr lang="zh-TW" altLang="en-US" dirty="0">
                <a:solidFill>
                  <a:sysClr val="windowText" lastClr="000000"/>
                </a:solidFill>
              </a:rPr>
              <a:t>避免成交量過低合約</a:t>
            </a:r>
            <a:r>
              <a:rPr lang="en-US" altLang="zh-TW" dirty="0">
                <a:solidFill>
                  <a:sysClr val="windowText" lastClr="000000"/>
                </a:solidFill>
              </a:rPr>
              <a:t>)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11F3A8A-53A0-3B0D-514B-B75431DA70A3}"/>
              </a:ext>
            </a:extLst>
          </p:cNvPr>
          <p:cNvSpPr/>
          <p:nvPr/>
        </p:nvSpPr>
        <p:spPr>
          <a:xfrm>
            <a:off x="8010526" y="2571752"/>
            <a:ext cx="2581274" cy="130386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rgbClr val="C00000"/>
                </a:solidFill>
              </a:rPr>
              <a:t>投資人分類方式：</a:t>
            </a:r>
            <a:br>
              <a:rPr lang="en-US" altLang="zh-TW" dirty="0">
                <a:solidFill>
                  <a:sysClr val="windowText" lastClr="000000"/>
                </a:solidFill>
              </a:rPr>
            </a:br>
            <a:r>
              <a:rPr lang="zh-TW" altLang="en-US" dirty="0">
                <a:solidFill>
                  <a:sysClr val="windowText" lastClr="000000"/>
                </a:solidFill>
              </a:rPr>
              <a:t>看漲：買方</a:t>
            </a:r>
            <a:r>
              <a:rPr lang="en-US" altLang="zh-TW" dirty="0">
                <a:solidFill>
                  <a:sysClr val="windowText" lastClr="000000"/>
                </a:solidFill>
              </a:rPr>
              <a:t>(Call)</a:t>
            </a:r>
            <a:br>
              <a:rPr lang="en-US" altLang="zh-TW" dirty="0">
                <a:solidFill>
                  <a:sysClr val="windowText" lastClr="000000"/>
                </a:solidFill>
              </a:rPr>
            </a:br>
            <a:r>
              <a:rPr lang="zh-TW" altLang="en-US" dirty="0">
                <a:solidFill>
                  <a:sysClr val="windowText" lastClr="000000"/>
                </a:solidFill>
              </a:rPr>
              <a:t>看跌：賣方</a:t>
            </a:r>
            <a:r>
              <a:rPr lang="en-US" altLang="zh-TW" dirty="0">
                <a:solidFill>
                  <a:sysClr val="windowText" lastClr="000000"/>
                </a:solidFill>
              </a:rPr>
              <a:t>(Put)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64FEE12-77CE-B9C4-C6E4-44AA48AD0DCC}"/>
              </a:ext>
            </a:extLst>
          </p:cNvPr>
          <p:cNvSpPr/>
          <p:nvPr/>
        </p:nvSpPr>
        <p:spPr>
          <a:xfrm>
            <a:off x="8010526" y="4572001"/>
            <a:ext cx="2581274" cy="15716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rgbClr val="C00000"/>
                </a:solidFill>
              </a:rPr>
              <a:t>財務模型：</a:t>
            </a:r>
            <a:br>
              <a:rPr lang="en-US" altLang="zh-TW" dirty="0">
                <a:solidFill>
                  <a:srgbClr val="C00000"/>
                </a:solidFill>
              </a:rPr>
            </a:br>
            <a:r>
              <a:rPr lang="zh-TW" altLang="en-US" dirty="0">
                <a:solidFill>
                  <a:schemeClr val="tx1"/>
                </a:solidFill>
              </a:rPr>
              <a:t>隱含波動率</a:t>
            </a:r>
            <a:r>
              <a:rPr lang="en-US" altLang="zh-TW" dirty="0">
                <a:solidFill>
                  <a:schemeClr val="tx1"/>
                </a:solidFill>
              </a:rPr>
              <a:t>(IV)</a:t>
            </a:r>
          </a:p>
          <a:p>
            <a:pPr algn="ctr"/>
            <a:r>
              <a:rPr lang="zh-TW" altLang="en-US" dirty="0">
                <a:solidFill>
                  <a:schemeClr val="tx1"/>
                </a:solidFill>
              </a:rPr>
              <a:t>標準差</a:t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zh-TW" altLang="en-US" dirty="0">
                <a:solidFill>
                  <a:schemeClr val="tx1"/>
                </a:solidFill>
              </a:rPr>
              <a:t>歷史波動率</a:t>
            </a:r>
            <a:r>
              <a:rPr lang="en-US" altLang="zh-TW" dirty="0">
                <a:solidFill>
                  <a:schemeClr val="tx1"/>
                </a:solidFill>
              </a:rPr>
              <a:t>(HV)</a:t>
            </a:r>
          </a:p>
          <a:p>
            <a:pPr algn="ctr"/>
            <a:r>
              <a:rPr lang="zh-TW" altLang="en-US" dirty="0">
                <a:solidFill>
                  <a:schemeClr val="tx1"/>
                </a:solidFill>
              </a:rPr>
              <a:t>波動風險溢酬</a:t>
            </a:r>
            <a:r>
              <a:rPr lang="en-US" altLang="zh-TW" dirty="0">
                <a:solidFill>
                  <a:schemeClr val="tx1"/>
                </a:solidFill>
              </a:rPr>
              <a:t>(VRP)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912BE80-2D60-7796-58C0-8F26DF9AEC97}"/>
              </a:ext>
            </a:extLst>
          </p:cNvPr>
          <p:cNvSpPr/>
          <p:nvPr/>
        </p:nvSpPr>
        <p:spPr>
          <a:xfrm>
            <a:off x="4652963" y="4572002"/>
            <a:ext cx="2581274" cy="130386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rgbClr val="C00000"/>
                </a:solidFill>
              </a:rPr>
              <a:t>異常狀況處理：</a:t>
            </a:r>
            <a:br>
              <a:rPr lang="en-US" altLang="zh-TW" dirty="0">
                <a:solidFill>
                  <a:srgbClr val="C00000"/>
                </a:solidFill>
              </a:rPr>
            </a:br>
            <a:r>
              <a:rPr lang="zh-TW" altLang="en-US" dirty="0">
                <a:ln>
                  <a:solidFill>
                    <a:sysClr val="windowText" lastClr="000000"/>
                  </a:solidFill>
                </a:ln>
                <a:solidFill>
                  <a:srgbClr val="C00000"/>
                </a:solidFill>
              </a:rPr>
              <a:t>遇到空值會自動剔除</a:t>
            </a:r>
            <a:endParaRPr lang="en-US" altLang="zh-TW" dirty="0">
              <a:ln>
                <a:solidFill>
                  <a:sysClr val="windowText" lastClr="000000"/>
                </a:solidFill>
              </a:ln>
              <a:solidFill>
                <a:srgbClr val="C00000"/>
              </a:solidFill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BE2FA17E-A45C-34BD-EB3D-D48B87B6C18C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876675" y="3223685"/>
            <a:ext cx="776288" cy="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AD76DEDD-BF7D-53A1-3ABB-A6FF31775D55}"/>
              </a:ext>
            </a:extLst>
          </p:cNvPr>
          <p:cNvCxnSpPr>
            <a:cxnSpLocks/>
          </p:cNvCxnSpPr>
          <p:nvPr/>
        </p:nvCxnSpPr>
        <p:spPr>
          <a:xfrm>
            <a:off x="7234238" y="3223685"/>
            <a:ext cx="776288" cy="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DB10BF3D-DA99-578E-49B1-E08413A8A762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9301163" y="3875618"/>
            <a:ext cx="0" cy="696383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3EB5D4C-2826-4C71-CA72-17FCBB6B2DB4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7234237" y="5223935"/>
            <a:ext cx="776288" cy="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86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87D8C-3C25-14D8-BBF7-41A1B8A4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6246CB-452C-BDA1-E94B-979E73E8E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/>
              <a:t>資料整理與整合流程</a:t>
            </a:r>
            <a:endParaRPr lang="zh-TW" altLang="en-US" b="1" dirty="0">
              <a:latin typeface="+mj-ea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964C27-6617-2C5B-2ED4-D27C26C27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TW" b="1" dirty="0"/>
          </a:p>
          <a:p>
            <a:pPr marL="0" indent="0">
              <a:buNone/>
            </a:pPr>
            <a:endParaRPr lang="en-US" altLang="zh-TW" b="1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7F42906-CE32-9801-633E-742BD51D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423" y="2448428"/>
            <a:ext cx="2125576" cy="134913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88ECF1B-B5D4-106C-7DDD-A3AA8C4A4168}"/>
              </a:ext>
            </a:extLst>
          </p:cNvPr>
          <p:cNvSpPr txBox="1"/>
          <p:nvPr/>
        </p:nvSpPr>
        <p:spPr>
          <a:xfrm>
            <a:off x="881609" y="2448428"/>
            <a:ext cx="345907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/>
              <a:t>隱含波動率公式</a:t>
            </a:r>
            <a:r>
              <a:rPr lang="en-US" altLang="zh-TW" sz="3200" b="1" dirty="0"/>
              <a:t>:</a:t>
            </a:r>
          </a:p>
          <a:p>
            <a:r>
              <a:rPr lang="zh-TW" altLang="en-US" sz="2400" dirty="0"/>
              <a:t>市場成交價帶入</a:t>
            </a:r>
            <a:r>
              <a:rPr lang="en-US" altLang="zh-TW" sz="2400" dirty="0"/>
              <a:t>Black-Scholes</a:t>
            </a:r>
            <a:r>
              <a:rPr lang="zh-TW" altLang="en-US" sz="2400" dirty="0"/>
              <a:t>模型，配合二分法計算</a:t>
            </a:r>
            <a:endParaRPr lang="en-US" altLang="zh-TW" sz="2400" b="1" dirty="0"/>
          </a:p>
          <a:p>
            <a:endParaRPr lang="zh-TW" altLang="en-US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1977E1E-31A7-6C0C-A9A7-1888DAAFC86C}"/>
              </a:ext>
            </a:extLst>
          </p:cNvPr>
          <p:cNvSpPr txBox="1"/>
          <p:nvPr/>
        </p:nvSpPr>
        <p:spPr>
          <a:xfrm>
            <a:off x="912898" y="4628585"/>
            <a:ext cx="61150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PCR </a:t>
            </a:r>
            <a:r>
              <a:rPr lang="zh-TW" altLang="en-US" sz="3200" b="1" dirty="0"/>
              <a:t>計算</a:t>
            </a:r>
            <a:r>
              <a:rPr lang="en-US" altLang="zh-TW" sz="3200" b="1" dirty="0"/>
              <a:t>:</a:t>
            </a:r>
          </a:p>
          <a:p>
            <a:r>
              <a:rPr lang="zh-TW" altLang="en-US" sz="3200" b="1" dirty="0"/>
              <a:t> 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32DAAA7-30FB-B359-7941-AD6413F6D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371" y="4517646"/>
            <a:ext cx="2190628" cy="103837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2DBA2495-AE68-54E9-D591-250EEAFBA0DB}"/>
              </a:ext>
            </a:extLst>
          </p:cNvPr>
          <p:cNvSpPr txBox="1"/>
          <p:nvPr/>
        </p:nvSpPr>
        <p:spPr>
          <a:xfrm>
            <a:off x="6876047" y="2556932"/>
            <a:ext cx="340314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/>
              <a:t>到期日對應、</a:t>
            </a:r>
            <a:r>
              <a:rPr lang="en-US" altLang="zh-TW" sz="3200" b="1" dirty="0"/>
              <a:t>Maturity</a:t>
            </a:r>
            <a:r>
              <a:rPr lang="zh-TW" altLang="en-US" sz="3200" b="1" dirty="0"/>
              <a:t>皆為詢問</a:t>
            </a:r>
            <a:r>
              <a:rPr lang="en-US" altLang="zh-TW" sz="3200" b="1" dirty="0"/>
              <a:t>AI Code</a:t>
            </a:r>
            <a:r>
              <a:rPr lang="zh-TW" altLang="en-US" sz="3200" b="1" dirty="0"/>
              <a:t>代碼生成</a:t>
            </a:r>
            <a:endParaRPr lang="en-US" altLang="zh-TW" sz="3200" b="1" dirty="0"/>
          </a:p>
          <a:p>
            <a:endParaRPr lang="en-US" altLang="zh-TW" sz="3200" b="1" dirty="0"/>
          </a:p>
          <a:p>
            <a:r>
              <a:rPr lang="en-US" altLang="zh-TW" sz="3200" b="1" dirty="0"/>
              <a:t>Rf</a:t>
            </a:r>
            <a:r>
              <a:rPr lang="zh-TW" altLang="en-US" sz="3200" b="1" dirty="0"/>
              <a:t>為台灣銀行公告之利率</a:t>
            </a:r>
            <a:endParaRPr lang="en-US" altLang="zh-TW" sz="3200" b="1" dirty="0"/>
          </a:p>
          <a:p>
            <a:r>
              <a:rPr lang="en-US" altLang="zh-TW" sz="3200" b="1" dirty="0"/>
              <a:t>VRP=IV-RV</a:t>
            </a:r>
            <a:endParaRPr lang="zh-TW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240592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357249-6345-DD9E-9F82-E1B94491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資料整理與整合流程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6A160B-E1F4-4290-CD60-D09ECB6C3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三年整合作法</a:t>
            </a:r>
            <a:r>
              <a:rPr lang="en-US" altLang="zh-TW" b="1" dirty="0"/>
              <a:t>:</a:t>
            </a:r>
            <a:r>
              <a:rPr lang="zh-TW" altLang="en-US" b="1" dirty="0"/>
              <a:t>由於兩組員操作程序相同，故將資料套用進同一個公式即可完成整合</a:t>
            </a:r>
            <a:endParaRPr lang="en-US" altLang="zh-TW" b="1" dirty="0"/>
          </a:p>
          <a:p>
            <a:endParaRPr lang="en-US" altLang="zh-TW" b="1" dirty="0"/>
          </a:p>
          <a:p>
            <a:r>
              <a:rPr lang="zh-TW" altLang="en-US" b="1" dirty="0"/>
              <a:t>清理流程</a:t>
            </a:r>
            <a:r>
              <a:rPr lang="en-US" altLang="zh-TW" b="1" dirty="0"/>
              <a:t>:</a:t>
            </a:r>
            <a:r>
              <a:rPr lang="zh-TW" altLang="en-US" b="1" dirty="0"/>
              <a:t>使用</a:t>
            </a:r>
            <a:r>
              <a:rPr lang="en-US" altLang="zh-TW" b="1" dirty="0"/>
              <a:t>AI</a:t>
            </a:r>
            <a:r>
              <a:rPr lang="zh-TW" altLang="en-US" b="1" dirty="0"/>
              <a:t>輔助生成的</a:t>
            </a:r>
            <a:r>
              <a:rPr lang="en-US" altLang="zh-TW" b="1" dirty="0"/>
              <a:t>code</a:t>
            </a:r>
            <a:r>
              <a:rPr lang="zh-TW" altLang="en-US" b="1" dirty="0"/>
              <a:t>篩選出不符合需求的樣本，先將不需要的資料清除掉</a:t>
            </a:r>
          </a:p>
        </p:txBody>
      </p:sp>
    </p:spTree>
    <p:extLst>
      <p:ext uri="{BB962C8B-B14F-4D97-AF65-F5344CB8AC3E}">
        <p14:creationId xmlns:p14="http://schemas.microsoft.com/office/powerpoint/2010/main" val="604090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A75CD-17D3-9273-6854-4EB38DF36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9BB500-774C-592E-5837-AF443154E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指標定義與統計方法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86E1C74-3252-62CC-65B4-B58DAC168E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2" y="2448345"/>
            <a:ext cx="8250977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看漲投資人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TW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買入看漲 (Long Call)： 支付權利金，預期標的指數大幅上漲。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賣出看跌 (Short Put)： 收取權利金，預期標的指數不會下跌（看平或小漲）。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看跌投資人 </a:t>
            </a:r>
            <a:endParaRPr kumimoji="0" lang="zh-TW" altLang="zh-TW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買入看跌 (Long Put)： 支付權利金，預期標的指數大幅下跌（或用於避險）。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賣出看漲 (Short Call)： 收取權利金，預期標的指數不會上漲（看平或小跌）。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ABC3994-DAC9-71C1-06B9-CA7FBE3C4598}"/>
              </a:ext>
            </a:extLst>
          </p:cNvPr>
          <p:cNvSpPr txBox="1"/>
          <p:nvPr/>
        </p:nvSpPr>
        <p:spPr>
          <a:xfrm>
            <a:off x="1409701" y="4295004"/>
            <a:ext cx="82509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每日</a:t>
            </a:r>
            <a:r>
              <a:rPr lang="en-US" altLang="zh-TW" sz="2400" b="1" dirty="0">
                <a:solidFill>
                  <a:srgbClr val="FF0000"/>
                </a:solidFill>
                <a:latin typeface="+mj-ea"/>
                <a:ea typeface="+mj-ea"/>
              </a:rPr>
              <a:t>IV</a:t>
            </a:r>
            <a:r>
              <a:rPr lang="zh-TW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平均數</a:t>
            </a:r>
            <a:endParaRPr lang="en-US" altLang="zh-TW" sz="2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zh-TW" altLang="en-US" b="1" dirty="0">
                <a:latin typeface="+mj-ea"/>
                <a:ea typeface="+mj-ea"/>
              </a:rPr>
              <a:t>衡量市場整體波動程度，通常會計算當日所有有效樣本的隱含波動率算術平均值。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C56956A-94E3-B0ED-A505-39046625A582}"/>
              </a:ext>
            </a:extLst>
          </p:cNvPr>
          <p:cNvSpPr txBox="1"/>
          <p:nvPr/>
        </p:nvSpPr>
        <p:spPr>
          <a:xfrm>
            <a:off x="1409699" y="4941335"/>
            <a:ext cx="82509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</a:rPr>
              <a:t>樣本標準差</a:t>
            </a:r>
            <a:endParaRPr lang="en-US" altLang="zh-TW" sz="2400" b="1" dirty="0">
              <a:solidFill>
                <a:srgbClr val="FF0000"/>
              </a:solidFill>
            </a:endParaRPr>
          </a:p>
          <a:p>
            <a:r>
              <a:rPr lang="zh-TW" altLang="en-US" b="1" dirty="0"/>
              <a:t>衡量隱含波動率在當日的離散程度</a:t>
            </a:r>
            <a:endParaRPr lang="en-US" altLang="zh-TW" b="1" dirty="0"/>
          </a:p>
          <a:p>
            <a:r>
              <a:rPr lang="zh-TW" altLang="en-US" b="1" dirty="0"/>
              <a:t>標準差越大，代表不同履約價之間的 </a:t>
            </a:r>
            <a:r>
              <a:rPr lang="en-US" altLang="zh-TW" b="1" dirty="0"/>
              <a:t>IV </a:t>
            </a:r>
            <a:r>
              <a:rPr lang="zh-TW" altLang="en-US" b="1" dirty="0"/>
              <a:t>差異越明顯，通常反映市場對極端風險的預期不一。</a:t>
            </a:r>
            <a:endParaRPr lang="en-US" altLang="zh-TW" b="1" dirty="0"/>
          </a:p>
          <a:p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824703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049EC-B572-7791-CDD8-7E047431A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C95BD-75B8-D144-6C1E-AC0A2139B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指標定義與統計方法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601F18-1271-B16A-EDB4-CA5CB7D3F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chemeClr val="accent4"/>
                </a:solidFill>
              </a:rPr>
              <a:t>平均數</a:t>
            </a:r>
            <a:r>
              <a:rPr lang="en-US" altLang="zh-TW" b="1" dirty="0">
                <a:solidFill>
                  <a:schemeClr val="accent4"/>
                </a:solidFill>
              </a:rPr>
              <a:t>(IV)</a:t>
            </a:r>
            <a:r>
              <a:rPr lang="zh-TW" altLang="en-US" b="1" dirty="0">
                <a:solidFill>
                  <a:schemeClr val="accent4"/>
                </a:solidFill>
              </a:rPr>
              <a:t>：</a:t>
            </a:r>
            <a:r>
              <a:rPr lang="zh-TW" altLang="en-US" dirty="0"/>
              <a:t>代表當下全體投資人</a:t>
            </a:r>
            <a:r>
              <a:rPr lang="zh-TW" altLang="en-US" b="1" dirty="0">
                <a:solidFill>
                  <a:schemeClr val="tx1"/>
                </a:solidFill>
              </a:rPr>
              <a:t>對未來大盤震盪幅度的平均預期</a:t>
            </a:r>
            <a:r>
              <a:rPr lang="zh-TW" altLang="en-US" dirty="0"/>
              <a:t>。數值越高，預期未來波動越劇烈。</a:t>
            </a:r>
            <a:endParaRPr lang="en-US" altLang="zh-TW" dirty="0"/>
          </a:p>
          <a:p>
            <a:r>
              <a:rPr lang="zh-TW" altLang="en-US" b="1" dirty="0">
                <a:solidFill>
                  <a:schemeClr val="accent4"/>
                </a:solidFill>
              </a:rPr>
              <a:t>樣本標準差：</a:t>
            </a:r>
            <a:r>
              <a:rPr lang="zh-TW" altLang="en-US" b="1" dirty="0"/>
              <a:t>代表「市場預期的分歧程度」，</a:t>
            </a:r>
            <a:r>
              <a:rPr lang="zh-TW" altLang="en-US" dirty="0"/>
              <a:t> 數值越大，表示投資人對未來越沒把握、看法越發散（離散程度高）。</a:t>
            </a:r>
            <a:endParaRPr lang="en-US" altLang="zh-TW" dirty="0"/>
          </a:p>
          <a:p>
            <a:r>
              <a:rPr lang="zh-TW" altLang="en-US" b="1" dirty="0">
                <a:solidFill>
                  <a:schemeClr val="accent2"/>
                </a:solidFill>
              </a:rPr>
              <a:t>當 </a:t>
            </a:r>
            <a:r>
              <a:rPr lang="en-US" altLang="zh-TW" b="1" dirty="0">
                <a:solidFill>
                  <a:schemeClr val="accent2"/>
                </a:solidFill>
              </a:rPr>
              <a:t>Put </a:t>
            </a:r>
            <a:r>
              <a:rPr lang="zh-TW" altLang="en-US" b="1" dirty="0">
                <a:solidFill>
                  <a:schemeClr val="accent2"/>
                </a:solidFill>
              </a:rPr>
              <a:t>的 </a:t>
            </a:r>
            <a:r>
              <a:rPr lang="en-US" altLang="zh-TW" b="1" dirty="0">
                <a:solidFill>
                  <a:schemeClr val="accent2"/>
                </a:solidFill>
              </a:rPr>
              <a:t>IV </a:t>
            </a:r>
            <a:r>
              <a:rPr lang="zh-TW" altLang="en-US" b="1" dirty="0">
                <a:solidFill>
                  <a:schemeClr val="accent2"/>
                </a:solidFill>
              </a:rPr>
              <a:t>平均數較高時 （下行風險溢酬）：</a:t>
            </a:r>
            <a:r>
              <a:rPr lang="zh-TW" altLang="en-US" dirty="0"/>
              <a:t>避險需求強烈。</a:t>
            </a:r>
            <a:endParaRPr lang="en-US" altLang="zh-TW" dirty="0"/>
          </a:p>
          <a:p>
            <a:r>
              <a:rPr lang="zh-TW" altLang="en-US" b="1" dirty="0">
                <a:solidFill>
                  <a:schemeClr val="accent5"/>
                </a:solidFill>
              </a:rPr>
              <a:t>當 </a:t>
            </a:r>
            <a:r>
              <a:rPr lang="en-US" altLang="zh-TW" b="1" dirty="0">
                <a:solidFill>
                  <a:schemeClr val="accent5"/>
                </a:solidFill>
              </a:rPr>
              <a:t>Put </a:t>
            </a:r>
            <a:r>
              <a:rPr lang="zh-TW" altLang="en-US" b="1" dirty="0">
                <a:solidFill>
                  <a:schemeClr val="accent5"/>
                </a:solidFill>
              </a:rPr>
              <a:t>的 </a:t>
            </a:r>
            <a:r>
              <a:rPr lang="en-US" altLang="zh-TW" b="1" dirty="0">
                <a:solidFill>
                  <a:schemeClr val="accent5"/>
                </a:solidFill>
              </a:rPr>
              <a:t>IV </a:t>
            </a:r>
            <a:r>
              <a:rPr lang="zh-TW" altLang="en-US" b="1" dirty="0">
                <a:solidFill>
                  <a:schemeClr val="accent5"/>
                </a:solidFill>
              </a:rPr>
              <a:t>樣本標準差較大時</a:t>
            </a:r>
            <a:r>
              <a:rPr lang="en-US" altLang="zh-TW" b="1" dirty="0">
                <a:solidFill>
                  <a:schemeClr val="accent5"/>
                </a:solidFill>
              </a:rPr>
              <a:t>(</a:t>
            </a:r>
            <a:r>
              <a:rPr lang="zh-TW" altLang="en-US" b="1" dirty="0">
                <a:solidFill>
                  <a:schemeClr val="accent5"/>
                </a:solidFill>
              </a:rPr>
              <a:t>預期極度發散）：</a:t>
            </a:r>
            <a:r>
              <a:rPr lang="zh-TW" altLang="en-US" dirty="0"/>
              <a:t>恐慌與分歧並存，導致定價極度混亂與充滿不確定性。。</a:t>
            </a:r>
          </a:p>
        </p:txBody>
      </p:sp>
    </p:spTree>
    <p:extLst>
      <p:ext uri="{BB962C8B-B14F-4D97-AF65-F5344CB8AC3E}">
        <p14:creationId xmlns:p14="http://schemas.microsoft.com/office/powerpoint/2010/main" val="3798121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FFAC2-A923-FC29-5EB5-8CF1E9B55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2DF531-A1F1-100E-D9C4-A62B5697E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實證結果與圖表分析</a:t>
            </a:r>
          </a:p>
        </p:txBody>
      </p:sp>
      <p:pic>
        <p:nvPicPr>
          <p:cNvPr id="3" name="內容版面配置區 6">
            <a:extLst>
              <a:ext uri="{FF2B5EF4-FFF2-40B4-BE49-F238E27FC236}">
                <a16:creationId xmlns:a16="http://schemas.microsoft.com/office/drawing/2014/main" id="{5DB0A20F-5723-9EE9-EA8F-9AB61E74E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236"/>
          <a:stretch>
            <a:fillRect/>
          </a:stretch>
        </p:blipFill>
        <p:spPr>
          <a:xfrm>
            <a:off x="671594" y="3547520"/>
            <a:ext cx="5424406" cy="269373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A03CD71-02B4-6FDE-ED18-DE6E1797F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549" y="3729790"/>
            <a:ext cx="5152060" cy="251146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6771C57-A4BD-EA78-6F55-A39358CC7FF1}"/>
              </a:ext>
            </a:extLst>
          </p:cNvPr>
          <p:cNvSpPr txBox="1"/>
          <p:nvPr/>
        </p:nvSpPr>
        <p:spPr>
          <a:xfrm>
            <a:off x="1046747" y="2424880"/>
            <a:ext cx="99621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2023(</a:t>
            </a:r>
            <a:r>
              <a:rPr lang="zh-TW" altLang="en-US" b="1" dirty="0"/>
              <a:t>左</a:t>
            </a:r>
            <a:r>
              <a:rPr lang="en-US" altLang="zh-TW" b="1" dirty="0"/>
              <a:t>)</a:t>
            </a:r>
            <a:r>
              <a:rPr lang="zh-TW" altLang="en-US" b="1" dirty="0"/>
              <a:t>相比</a:t>
            </a:r>
            <a:r>
              <a:rPr lang="en-US" altLang="zh-TW" b="1" dirty="0"/>
              <a:t>2024(</a:t>
            </a:r>
            <a:r>
              <a:rPr lang="zh-TW" altLang="en-US" b="1" dirty="0"/>
              <a:t>右</a:t>
            </a:r>
            <a:r>
              <a:rPr lang="en-US" altLang="zh-TW" b="1" dirty="0"/>
              <a:t>)</a:t>
            </a:r>
            <a:r>
              <a:rPr lang="zh-TW" altLang="en-US" b="1" dirty="0"/>
              <a:t>，除了在年初有較大波動，其餘整年較為平緩，而</a:t>
            </a:r>
            <a:r>
              <a:rPr lang="en-US" altLang="zh-TW" b="1" dirty="0"/>
              <a:t>2024</a:t>
            </a:r>
            <a:r>
              <a:rPr lang="zh-TW" altLang="en-US" b="1" dirty="0"/>
              <a:t>年</a:t>
            </a:r>
            <a:r>
              <a:rPr lang="en-US" altLang="zh-TW" b="1" dirty="0"/>
              <a:t>30MA</a:t>
            </a:r>
            <a:r>
              <a:rPr lang="zh-TW" altLang="en-US" b="1" dirty="0"/>
              <a:t>趨勢呈現高震盪，代表整體的風險溢酬正在升高，高</a:t>
            </a:r>
            <a:r>
              <a:rPr lang="en-US" altLang="zh-TW" b="1" dirty="0"/>
              <a:t>IV</a:t>
            </a:r>
            <a:r>
              <a:rPr lang="zh-TW" altLang="en-US" b="1" dirty="0"/>
              <a:t>提供賣方非常好的權利金收入，卻在年中遇到黑天鵝時導致</a:t>
            </a:r>
            <a:r>
              <a:rPr lang="en-US" altLang="zh-TW" b="1" dirty="0"/>
              <a:t>IV</a:t>
            </a:r>
            <a:r>
              <a:rPr lang="zh-TW" altLang="en-US" b="1" dirty="0"/>
              <a:t>翻倍</a:t>
            </a:r>
            <a:r>
              <a:rPr lang="en-US" altLang="zh-TW" b="1" dirty="0"/>
              <a:t>(</a:t>
            </a:r>
            <a:r>
              <a:rPr lang="zh-TW" altLang="en-US" b="1" dirty="0"/>
              <a:t>右圖高峰</a:t>
            </a:r>
            <a:r>
              <a:rPr lang="en-US" altLang="zh-TW" b="1" dirty="0"/>
              <a:t>)</a:t>
            </a:r>
            <a:r>
              <a:rPr lang="zh-TW" altLang="en-US" b="1" dirty="0"/>
              <a:t>，</a:t>
            </a:r>
            <a:r>
              <a:rPr lang="en-US" altLang="zh-TW" b="1" dirty="0"/>
              <a:t>IV</a:t>
            </a:r>
            <a:r>
              <a:rPr lang="zh-TW" altLang="en-US" b="1" dirty="0"/>
              <a:t>的劇烈波動代表選擇權定價變得非常昂貴，交易者進場之前必須更嚴謹考慮波動率風險，而不是僅靠趨勢判斷。</a:t>
            </a: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2844617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347F6-1D3D-5F59-505C-B607B832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7A8B54-7655-36CC-209E-46FF6A261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實證結果與圖表分析</a:t>
            </a:r>
          </a:p>
        </p:txBody>
      </p:sp>
      <p:pic>
        <p:nvPicPr>
          <p:cNvPr id="3" name="內容版面配置區 6">
            <a:extLst>
              <a:ext uri="{FF2B5EF4-FFF2-40B4-BE49-F238E27FC236}">
                <a16:creationId xmlns:a16="http://schemas.microsoft.com/office/drawing/2014/main" id="{4430F741-3392-CAF0-0EF4-81F7210C0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6" t="33118" r="-3006" b="33118"/>
          <a:stretch>
            <a:fillRect/>
          </a:stretch>
        </p:blipFill>
        <p:spPr>
          <a:xfrm>
            <a:off x="720055" y="3570148"/>
            <a:ext cx="5440114" cy="270153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97105A9-36D6-18D3-6110-F04DEF879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169" y="3621283"/>
            <a:ext cx="5297994" cy="259926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7A1E94A6-BCEC-5BEF-9E45-8F16BEFD95CC}"/>
              </a:ext>
            </a:extLst>
          </p:cNvPr>
          <p:cNvSpPr txBox="1"/>
          <p:nvPr/>
        </p:nvSpPr>
        <p:spPr>
          <a:xfrm>
            <a:off x="1295402" y="2427146"/>
            <a:ext cx="96773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/>
              <a:t>2023 年的標準差分布較為平均，屬於「可預期的波動」；而 2024 年則展現了典型的「黑天鵝特質」，標準差</a:t>
            </a:r>
            <a:r>
              <a:rPr lang="en-US" altLang="zh-TW" b="1" dirty="0"/>
              <a:t>Put</a:t>
            </a:r>
            <a:r>
              <a:rPr lang="zh-TW" altLang="en-US" b="1" dirty="0"/>
              <a:t>的</a:t>
            </a:r>
            <a:r>
              <a:rPr lang="en-US" altLang="zh-TW" b="1" dirty="0"/>
              <a:t>5MA</a:t>
            </a:r>
            <a:r>
              <a:rPr lang="zh-TW" altLang="en-US" b="1" dirty="0"/>
              <a:t>多次高過</a:t>
            </a:r>
            <a:r>
              <a:rPr lang="en-US" altLang="zh-TW" b="1" dirty="0"/>
              <a:t>30MA</a:t>
            </a:r>
            <a:r>
              <a:rPr lang="zh-TW" altLang="en-US" b="1" dirty="0"/>
              <a:t>，顯示市場多次遭遇波動率衝擊，標準差提高代表風險更難以預測，這要求交易者在 2024 年必須具備更強的動態風險控管能力。</a:t>
            </a:r>
          </a:p>
        </p:txBody>
      </p:sp>
    </p:spTree>
    <p:extLst>
      <p:ext uri="{BB962C8B-B14F-4D97-AF65-F5344CB8AC3E}">
        <p14:creationId xmlns:p14="http://schemas.microsoft.com/office/powerpoint/2010/main" val="477985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DE1C6-408E-07A3-F72A-F173390F2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BDA85E-9C8A-8D44-4B6C-7B1275D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實證結果與圖表分析</a:t>
            </a:r>
          </a:p>
        </p:txBody>
      </p:sp>
      <p:pic>
        <p:nvPicPr>
          <p:cNvPr id="3" name="內容版面配置區 2">
            <a:extLst>
              <a:ext uri="{FF2B5EF4-FFF2-40B4-BE49-F238E27FC236}">
                <a16:creationId xmlns:a16="http://schemas.microsoft.com/office/drawing/2014/main" id="{74CC05B8-B7AF-C7C0-4F6A-2A9E3E3058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590" t="24970" r="-1590" b="51203"/>
          <a:stretch>
            <a:fillRect/>
          </a:stretch>
        </p:blipFill>
        <p:spPr>
          <a:xfrm>
            <a:off x="6476164" y="4114937"/>
            <a:ext cx="5287448" cy="202103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91853E9-9B8C-2065-E0FC-143998F08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58" y="4114937"/>
            <a:ext cx="5858206" cy="202103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0C0D191-4D71-1EF2-39AE-6C481DDF5D4B}"/>
              </a:ext>
            </a:extLst>
          </p:cNvPr>
          <p:cNvSpPr txBox="1"/>
          <p:nvPr/>
        </p:nvSpPr>
        <p:spPr>
          <a:xfrm>
            <a:off x="1046747" y="2514600"/>
            <a:ext cx="102328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VRP&gt;0</a:t>
            </a:r>
            <a:r>
              <a:rPr lang="zh-TW" altLang="en-US" b="1" dirty="0"/>
              <a:t>代表</a:t>
            </a:r>
            <a:r>
              <a:rPr lang="en-US" altLang="zh-TW" b="1" dirty="0"/>
              <a:t>IV&gt;RV</a:t>
            </a:r>
            <a:r>
              <a:rPr lang="zh-TW" altLang="en-US" b="1" dirty="0"/>
              <a:t>，意味著選擇權偏貴，對賣方有利，</a:t>
            </a:r>
            <a:r>
              <a:rPr lang="en-US" altLang="zh-TW" b="1" dirty="0"/>
              <a:t>2023</a:t>
            </a:r>
            <a:r>
              <a:rPr lang="zh-TW" altLang="en-US" b="1" dirty="0"/>
              <a:t>台股</a:t>
            </a:r>
            <a:r>
              <a:rPr lang="en-US" altLang="zh-TW" b="1" dirty="0"/>
              <a:t>VRP</a:t>
            </a:r>
            <a:r>
              <a:rPr lang="zh-TW" altLang="en-US" b="1" dirty="0"/>
              <a:t>雖然偶有探至小於</a:t>
            </a:r>
            <a:r>
              <a:rPr lang="en-US" altLang="zh-TW" b="1" dirty="0"/>
              <a:t>0</a:t>
            </a:r>
            <a:r>
              <a:rPr lang="zh-TW" altLang="en-US" b="1" dirty="0"/>
              <a:t>的情況，但整年幾乎都在</a:t>
            </a:r>
            <a:r>
              <a:rPr lang="en-US" altLang="zh-TW" b="1" dirty="0"/>
              <a:t>0</a:t>
            </a:r>
            <a:r>
              <a:rPr lang="zh-TW" altLang="en-US" b="1" dirty="0"/>
              <a:t>之上，代表著選擇權賺取時間價值的策略非常理想，</a:t>
            </a:r>
            <a:r>
              <a:rPr lang="en-US" altLang="zh-TW" b="1" dirty="0"/>
              <a:t>2024</a:t>
            </a:r>
            <a:r>
              <a:rPr lang="zh-TW" altLang="en-US" b="1" dirty="0"/>
              <a:t>年</a:t>
            </a:r>
            <a:r>
              <a:rPr lang="en-US" altLang="zh-TW" b="1" dirty="0"/>
              <a:t>RV</a:t>
            </a:r>
            <a:r>
              <a:rPr lang="zh-TW" altLang="en-US" b="1" dirty="0"/>
              <a:t>暴增時期，賣方面臨嚴重的對沖成本，伴隨嚴重的歷史事件</a:t>
            </a:r>
            <a:r>
              <a:rPr lang="en-US" altLang="zh-TW" b="1" dirty="0"/>
              <a:t>(</a:t>
            </a:r>
            <a:r>
              <a:rPr lang="zh-TW" altLang="en-US" b="1" dirty="0"/>
              <a:t>如日圓平倉</a:t>
            </a:r>
            <a:r>
              <a:rPr lang="en-US" altLang="zh-TW" b="1" dirty="0"/>
              <a:t>)</a:t>
            </a:r>
            <a:r>
              <a:rPr lang="zh-TW" altLang="en-US" b="1" dirty="0"/>
              <a:t>，劇烈震盪之後</a:t>
            </a:r>
            <a:r>
              <a:rPr lang="en-US" altLang="zh-TW" b="1" dirty="0"/>
              <a:t>VRP</a:t>
            </a:r>
            <a:r>
              <a:rPr lang="zh-TW" altLang="en-US" b="1" dirty="0"/>
              <a:t>迅速升回正值且創下高位，這是因為市場受到驚嚇讓</a:t>
            </a:r>
            <a:r>
              <a:rPr lang="en-US" altLang="zh-TW" b="1" dirty="0"/>
              <a:t>IV</a:t>
            </a:r>
            <a:r>
              <a:rPr lang="zh-TW" altLang="en-US" b="1" dirty="0"/>
              <a:t>維持在高檔，若隨後行情轉為高位震盪或是緩步回升，則將出現大量的套利機會。</a:t>
            </a:r>
          </a:p>
        </p:txBody>
      </p:sp>
    </p:spTree>
    <p:extLst>
      <p:ext uri="{BB962C8B-B14F-4D97-AF65-F5344CB8AC3E}">
        <p14:creationId xmlns:p14="http://schemas.microsoft.com/office/powerpoint/2010/main" val="1871108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88231-BCDF-279E-9039-8F35D94D4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CF3759-AEA5-2B5C-BF93-D493AD522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實證結果與圖表分析</a:t>
            </a:r>
          </a:p>
        </p:txBody>
      </p:sp>
      <p:pic>
        <p:nvPicPr>
          <p:cNvPr id="3" name="內容版面配置區 2">
            <a:extLst>
              <a:ext uri="{FF2B5EF4-FFF2-40B4-BE49-F238E27FC236}">
                <a16:creationId xmlns:a16="http://schemas.microsoft.com/office/drawing/2014/main" id="{78800AC1-F7EB-233B-9895-B5D25F0F5C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737" t="51945" r="737" b="24228"/>
          <a:stretch>
            <a:fillRect/>
          </a:stretch>
        </p:blipFill>
        <p:spPr>
          <a:xfrm>
            <a:off x="6360696" y="4248907"/>
            <a:ext cx="5181032" cy="198035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5E52438-985B-D0D0-E029-2BAF63645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80" y="4334344"/>
            <a:ext cx="5695516" cy="196886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9D05CE0-7F61-247E-89C7-D49E8B9B68CC}"/>
              </a:ext>
            </a:extLst>
          </p:cNvPr>
          <p:cNvSpPr txBox="1"/>
          <p:nvPr/>
        </p:nvSpPr>
        <p:spPr>
          <a:xfrm>
            <a:off x="1040732" y="2484521"/>
            <a:ext cx="103291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PCR&gt;1</a:t>
            </a:r>
            <a:r>
              <a:rPr lang="zh-TW" altLang="en-US" b="1" dirty="0"/>
              <a:t>，代表賣權力量強，市場偏向多頭，反之亦然，</a:t>
            </a:r>
            <a:r>
              <a:rPr lang="en-US" altLang="zh-TW" b="1" dirty="0"/>
              <a:t>2023</a:t>
            </a:r>
            <a:r>
              <a:rPr lang="zh-TW" altLang="en-US" b="1" dirty="0"/>
              <a:t>年</a:t>
            </a:r>
            <a:r>
              <a:rPr lang="en-US" altLang="zh-TW" b="1" dirty="0"/>
              <a:t>PCR 30MA</a:t>
            </a:r>
            <a:r>
              <a:rPr lang="zh-TW" altLang="en-US" b="1" dirty="0"/>
              <a:t>長期在</a:t>
            </a:r>
            <a:r>
              <a:rPr lang="en-US" altLang="zh-TW" b="1" dirty="0"/>
              <a:t>1</a:t>
            </a:r>
            <a:r>
              <a:rPr lang="zh-TW" altLang="en-US" b="1" dirty="0"/>
              <a:t>之間徘徊，代表此年多空力量相對平衡，此年台股是一個相對理性的環境。</a:t>
            </a:r>
            <a:r>
              <a:rPr lang="en-US" altLang="zh-TW" b="1" dirty="0"/>
              <a:t>2024</a:t>
            </a:r>
            <a:r>
              <a:rPr lang="zh-TW" altLang="en-US" b="1" dirty="0"/>
              <a:t>年中旬</a:t>
            </a:r>
            <a:r>
              <a:rPr lang="en-US" altLang="zh-TW" b="1" dirty="0"/>
              <a:t>PCR</a:t>
            </a:r>
            <a:r>
              <a:rPr lang="zh-TW" altLang="en-US" b="1" dirty="0"/>
              <a:t>則跌至</a:t>
            </a:r>
            <a:r>
              <a:rPr lang="en-US" altLang="zh-TW" b="1" dirty="0"/>
              <a:t>0.7</a:t>
            </a:r>
            <a:r>
              <a:rPr lang="zh-TW" altLang="en-US" b="1" dirty="0"/>
              <a:t>附近，對應市場大規模修正，也和前一張的</a:t>
            </a:r>
            <a:r>
              <a:rPr lang="en-US" altLang="zh-TW" b="1" dirty="0"/>
              <a:t>VRP</a:t>
            </a:r>
            <a:r>
              <a:rPr lang="zh-TW" altLang="en-US" b="1" dirty="0"/>
              <a:t>圖表相互對應，這段時間</a:t>
            </a:r>
            <a:r>
              <a:rPr lang="en-US" altLang="zh-TW" b="1" dirty="0"/>
              <a:t>IV</a:t>
            </a:r>
            <a:r>
              <a:rPr lang="zh-TW" altLang="en-US" b="1" dirty="0"/>
              <a:t>大幅飆升，</a:t>
            </a:r>
            <a:r>
              <a:rPr lang="en-US" altLang="zh-TW" b="1" dirty="0"/>
              <a:t>RV</a:t>
            </a:r>
            <a:r>
              <a:rPr lang="zh-TW" altLang="en-US" b="1" dirty="0"/>
              <a:t>則開始失控，此時期市場情緒極度不安，賣權支撐消失，交易者大量布局買權空單，年末</a:t>
            </a:r>
            <a:r>
              <a:rPr lang="en-US" altLang="zh-TW" b="1" dirty="0"/>
              <a:t>PCR</a:t>
            </a:r>
            <a:r>
              <a:rPr lang="zh-TW" altLang="en-US" b="1" dirty="0"/>
              <a:t>雖然回到</a:t>
            </a:r>
            <a:r>
              <a:rPr lang="en-US" altLang="zh-TW" b="1" dirty="0"/>
              <a:t>1</a:t>
            </a:r>
            <a:r>
              <a:rPr lang="zh-TW" altLang="en-US" b="1" dirty="0"/>
              <a:t>之上，但</a:t>
            </a:r>
            <a:r>
              <a:rPr lang="en-US" altLang="zh-TW" b="1" dirty="0"/>
              <a:t>5MA</a:t>
            </a:r>
            <a:r>
              <a:rPr lang="zh-TW" altLang="en-US" b="1" dirty="0"/>
              <a:t>擺動卻依然劇烈，顯示市場雖然試圖止跌，但短線多空博弈仍然劇烈，市場行情並不穩定。</a:t>
            </a: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1290805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B3485-392B-C47B-FA82-D2E93B35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C82287-661A-1A77-C73F-11E45FBD6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實證結果與圖表分析</a:t>
            </a:r>
          </a:p>
        </p:txBody>
      </p:sp>
      <p:pic>
        <p:nvPicPr>
          <p:cNvPr id="3" name="內容版面配置區 2">
            <a:extLst>
              <a:ext uri="{FF2B5EF4-FFF2-40B4-BE49-F238E27FC236}">
                <a16:creationId xmlns:a16="http://schemas.microsoft.com/office/drawing/2014/main" id="{54E1677A-AAF9-D2F5-56FC-A3BB41B94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06" t="78789" r="-806" b="-2616"/>
          <a:stretch>
            <a:fillRect/>
          </a:stretch>
        </p:blipFill>
        <p:spPr>
          <a:xfrm>
            <a:off x="6383196" y="4190102"/>
            <a:ext cx="5227182" cy="230872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FD2BFDA-35D6-BB01-A128-B4486E20E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14" y="4277189"/>
            <a:ext cx="5289886" cy="177780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F676B5D-25F0-B66C-8725-BC5A79A5ACE0}"/>
              </a:ext>
            </a:extLst>
          </p:cNvPr>
          <p:cNvSpPr txBox="1"/>
          <p:nvPr/>
        </p:nvSpPr>
        <p:spPr>
          <a:xfrm>
            <a:off x="1143000" y="2460458"/>
            <a:ext cx="101606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/>
              <a:t>乖離率計算公式為 現價</a:t>
            </a:r>
            <a:r>
              <a:rPr lang="en-US" altLang="zh-TW" b="1" dirty="0"/>
              <a:t>-</a:t>
            </a:r>
            <a:r>
              <a:rPr lang="zh-TW" altLang="en-US" b="1" dirty="0"/>
              <a:t>均線</a:t>
            </a:r>
            <a:r>
              <a:rPr lang="en-US" altLang="zh-TW" b="1" dirty="0"/>
              <a:t>/</a:t>
            </a:r>
            <a:r>
              <a:rPr lang="zh-TW" altLang="en-US" b="1" dirty="0"/>
              <a:t>均線，</a:t>
            </a:r>
            <a:r>
              <a:rPr lang="en-US" altLang="zh-TW" b="1" dirty="0"/>
              <a:t>2023</a:t>
            </a:r>
            <a:r>
              <a:rPr lang="zh-TW" altLang="en-US" b="1" dirty="0"/>
              <a:t>年</a:t>
            </a:r>
            <a:r>
              <a:rPr lang="en-US" altLang="zh-TW" b="1" dirty="0"/>
              <a:t>30MA</a:t>
            </a:r>
            <a:r>
              <a:rPr lang="zh-TW" altLang="en-US" b="1" dirty="0"/>
              <a:t>長期貼近於</a:t>
            </a:r>
            <a:r>
              <a:rPr lang="en-US" altLang="zh-TW" b="1" dirty="0"/>
              <a:t>0</a:t>
            </a:r>
            <a:r>
              <a:rPr lang="zh-TW" altLang="en-US" b="1" dirty="0"/>
              <a:t> ，對應著市場溫和上升或是橫盤整理的行情，</a:t>
            </a:r>
            <a:r>
              <a:rPr lang="en-US" altLang="zh-TW" b="1" dirty="0"/>
              <a:t>5MA</a:t>
            </a:r>
            <a:r>
              <a:rPr lang="zh-TW" altLang="en-US" b="1" dirty="0"/>
              <a:t>雖然頻繁上下穿梭，卻也很快回到</a:t>
            </a:r>
            <a:r>
              <a:rPr lang="en-US" altLang="zh-TW" b="1" dirty="0"/>
              <a:t>0</a:t>
            </a:r>
            <a:r>
              <a:rPr lang="zh-TW" altLang="en-US" b="1" dirty="0"/>
              <a:t>附近。</a:t>
            </a:r>
            <a:r>
              <a:rPr lang="en-US" altLang="zh-TW" b="1" dirty="0"/>
              <a:t>2024</a:t>
            </a:r>
            <a:r>
              <a:rPr lang="zh-TW" altLang="en-US" b="1" dirty="0"/>
              <a:t>進入到下半年，</a:t>
            </a:r>
            <a:r>
              <a:rPr lang="en-US" altLang="zh-TW" b="1" dirty="0"/>
              <a:t>30MA</a:t>
            </a:r>
            <a:r>
              <a:rPr lang="zh-TW" altLang="en-US" b="1" dirty="0"/>
              <a:t>開始顯著維持在</a:t>
            </a:r>
            <a:r>
              <a:rPr lang="en-US" altLang="zh-TW" b="1" dirty="0"/>
              <a:t>0</a:t>
            </a:r>
            <a:r>
              <a:rPr lang="zh-TW" altLang="en-US" b="1" dirty="0"/>
              <a:t>上方，進入到強烈趨勢期，價格長期跑在均線之前，而八月</a:t>
            </a:r>
            <a:r>
              <a:rPr lang="en-US" altLang="zh-TW" b="1" dirty="0"/>
              <a:t>5MA</a:t>
            </a:r>
            <a:r>
              <a:rPr lang="zh-TW" altLang="en-US" b="1" dirty="0"/>
              <a:t>出現極深的向下插針，也對應</a:t>
            </a:r>
            <a:r>
              <a:rPr lang="en-US" altLang="zh-TW" b="1" dirty="0"/>
              <a:t>VRP</a:t>
            </a:r>
            <a:r>
              <a:rPr lang="zh-TW" altLang="en-US" b="1" dirty="0"/>
              <a:t>跟</a:t>
            </a:r>
            <a:r>
              <a:rPr lang="en-US" altLang="zh-TW" b="1" dirty="0"/>
              <a:t>PCR</a:t>
            </a:r>
            <a:r>
              <a:rPr lang="zh-TW" altLang="en-US" b="1" dirty="0"/>
              <a:t>暴跌清算期間，這種正乖離過大出現的急殺也是多頭市場典型的「閃崩」特徵，</a:t>
            </a:r>
            <a:r>
              <a:rPr lang="en-US" altLang="zh-TW" b="1" dirty="0"/>
              <a:t>2024</a:t>
            </a:r>
            <a:r>
              <a:rPr lang="zh-TW" altLang="en-US" b="1" dirty="0"/>
              <a:t>年</a:t>
            </a:r>
            <a:r>
              <a:rPr lang="en-US" altLang="zh-TW" b="1" dirty="0"/>
              <a:t>5MA</a:t>
            </a:r>
            <a:r>
              <a:rPr lang="zh-TW" altLang="en-US" b="1" dirty="0"/>
              <a:t>的震盪也較上一年更大，代表市場的波動更價，對交易者來說不可預測性大幅增加。</a:t>
            </a:r>
          </a:p>
        </p:txBody>
      </p:sp>
    </p:spTree>
    <p:extLst>
      <p:ext uri="{BB962C8B-B14F-4D97-AF65-F5344CB8AC3E}">
        <p14:creationId xmlns:p14="http://schemas.microsoft.com/office/powerpoint/2010/main" val="2400891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BBE038-CD39-B7A3-1F0C-14C458A20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財務與統計含意說明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10E9A88-2140-C779-09CC-91A767468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464432"/>
              </p:ext>
            </p:extLst>
          </p:nvPr>
        </p:nvGraphicFramePr>
        <p:xfrm>
          <a:off x="1295402" y="2557993"/>
          <a:ext cx="8763056" cy="3317875"/>
        </p:xfrm>
        <a:graphic>
          <a:graphicData uri="http://schemas.openxmlformats.org/drawingml/2006/table">
            <a:tbl>
              <a:tblPr/>
              <a:tblGrid>
                <a:gridCol w="2190764">
                  <a:extLst>
                    <a:ext uri="{9D8B030D-6E8A-4147-A177-3AD203B41FA5}">
                      <a16:colId xmlns:a16="http://schemas.microsoft.com/office/drawing/2014/main" val="622591752"/>
                    </a:ext>
                  </a:extLst>
                </a:gridCol>
                <a:gridCol w="2190764">
                  <a:extLst>
                    <a:ext uri="{9D8B030D-6E8A-4147-A177-3AD203B41FA5}">
                      <a16:colId xmlns:a16="http://schemas.microsoft.com/office/drawing/2014/main" val="3180279301"/>
                    </a:ext>
                  </a:extLst>
                </a:gridCol>
                <a:gridCol w="2190764">
                  <a:extLst>
                    <a:ext uri="{9D8B030D-6E8A-4147-A177-3AD203B41FA5}">
                      <a16:colId xmlns:a16="http://schemas.microsoft.com/office/drawing/2014/main" val="3575515162"/>
                    </a:ext>
                  </a:extLst>
                </a:gridCol>
                <a:gridCol w="2190764">
                  <a:extLst>
                    <a:ext uri="{9D8B030D-6E8A-4147-A177-3AD203B41FA5}">
                      <a16:colId xmlns:a16="http://schemas.microsoft.com/office/drawing/2014/main" val="211952613"/>
                    </a:ext>
                  </a:extLst>
                </a:gridCol>
              </a:tblGrid>
              <a:tr h="4895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指標名稱</a:t>
                      </a: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市場意義</a:t>
                      </a: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風險意義</a:t>
                      </a: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離散</a:t>
                      </a:r>
                      <a:r>
                        <a:rPr lang="en-US" altLang="zh-TW" sz="14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TW" altLang="en-US" sz="14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偏倚程度</a:t>
                      </a: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217188"/>
                  </a:ext>
                </a:extLst>
              </a:tr>
              <a:tr h="7070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1">
                          <a:effectLst/>
                          <a:latin typeface="+mn-ea"/>
                          <a:ea typeface="+mn-ea"/>
                        </a:rPr>
                        <a:t>平均 </a:t>
                      </a:r>
                      <a:r>
                        <a:rPr lang="en-US" sz="1400" b="1">
                          <a:effectLst/>
                          <a:latin typeface="+mn-ea"/>
                          <a:ea typeface="+mn-ea"/>
                        </a:rPr>
                        <a:t>IV (Mean)</a:t>
                      </a:r>
                      <a:endParaRPr lang="en-US" sz="1400">
                        <a:effectLst/>
                        <a:latin typeface="+mn-ea"/>
                        <a:ea typeface="+mn-ea"/>
                      </a:endParaRP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dirty="0">
                          <a:effectLst/>
                          <a:latin typeface="+mn-ea"/>
                          <a:ea typeface="+mn-ea"/>
                        </a:rPr>
                        <a:t>市場對波動幅度的預期共識</a:t>
                      </a: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dirty="0">
                          <a:effectLst/>
                          <a:latin typeface="+mn-ea"/>
                          <a:ea typeface="+mn-ea"/>
                        </a:rPr>
                        <a:t>代表總體資產變動風險</a:t>
                      </a: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dirty="0">
                          <a:effectLst/>
                          <a:latin typeface="+mn-ea"/>
                          <a:ea typeface="+mn-ea"/>
                        </a:rPr>
                        <a:t>中心趨勢值</a:t>
                      </a:r>
                      <a:r>
                        <a:rPr lang="en-US" altLang="zh-TW" sz="14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TW" altLang="en-US" sz="1400" dirty="0">
                          <a:effectLst/>
                          <a:latin typeface="+mn-ea"/>
                          <a:ea typeface="+mn-ea"/>
                        </a:rPr>
                        <a:t>無離散意義</a:t>
                      </a:r>
                      <a:r>
                        <a:rPr lang="en-US" altLang="zh-TW" sz="140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TW" altLang="en-US" sz="1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320435"/>
                  </a:ext>
                </a:extLst>
              </a:tr>
              <a:tr h="7070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1">
                          <a:effectLst/>
                          <a:latin typeface="+mn-ea"/>
                          <a:ea typeface="+mn-ea"/>
                        </a:rPr>
                        <a:t>樣本標準差 </a:t>
                      </a:r>
                      <a:r>
                        <a:rPr lang="en-US" altLang="zh-TW" sz="1400" b="1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400" b="1">
                          <a:effectLst/>
                          <a:latin typeface="+mn-ea"/>
                          <a:ea typeface="+mn-ea"/>
                        </a:rPr>
                        <a:t>Std)</a:t>
                      </a:r>
                      <a:endParaRPr lang="en-US" sz="1400">
                        <a:effectLst/>
                        <a:latin typeface="+mn-ea"/>
                        <a:ea typeface="+mn-ea"/>
                      </a:endParaRP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dirty="0">
                          <a:effectLst/>
                          <a:latin typeface="+mn-ea"/>
                          <a:ea typeface="+mn-ea"/>
                        </a:rPr>
                        <a:t>不同履約價間的預期歧見</a:t>
                      </a: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dirty="0">
                          <a:effectLst/>
                          <a:latin typeface="+mn-ea"/>
                          <a:ea typeface="+mn-ea"/>
                        </a:rPr>
                        <a:t>偏斜風險與極端事件機率</a:t>
                      </a: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dirty="0">
                          <a:effectLst/>
                          <a:latin typeface="+mn-ea"/>
                          <a:ea typeface="+mn-ea"/>
                        </a:rPr>
                        <a:t>高離散代表定價分岐大</a:t>
                      </a: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933021"/>
                  </a:ext>
                </a:extLst>
              </a:tr>
              <a:tr h="7070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>
                          <a:effectLst/>
                          <a:latin typeface="+mn-ea"/>
                          <a:ea typeface="+mn-ea"/>
                        </a:rPr>
                        <a:t>Put/Call Ratio</a:t>
                      </a:r>
                      <a:endParaRPr lang="en-US" sz="1400">
                        <a:effectLst/>
                        <a:latin typeface="+mn-ea"/>
                        <a:ea typeface="+mn-ea"/>
                      </a:endParaRP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dirty="0">
                          <a:effectLst/>
                          <a:latin typeface="+mn-ea"/>
                          <a:ea typeface="+mn-ea"/>
                        </a:rPr>
                        <a:t>多空力量對位與情緒失衡</a:t>
                      </a: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dirty="0">
                          <a:effectLst/>
                          <a:latin typeface="+mn-ea"/>
                          <a:ea typeface="+mn-ea"/>
                        </a:rPr>
                        <a:t>反轉風險或支撐壓力強度</a:t>
                      </a: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dirty="0">
                          <a:effectLst/>
                          <a:latin typeface="+mn-ea"/>
                          <a:ea typeface="+mn-ea"/>
                        </a:rPr>
                        <a:t>結構性多空偏倚</a:t>
                      </a:r>
                      <a:r>
                        <a:rPr lang="en-US" altLang="zh-TW" sz="14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TW" altLang="en-US" sz="1400" dirty="0">
                          <a:effectLst/>
                          <a:latin typeface="+mn-ea"/>
                          <a:ea typeface="+mn-ea"/>
                        </a:rPr>
                        <a:t>多工不對稱</a:t>
                      </a:r>
                      <a:r>
                        <a:rPr lang="en-US" altLang="zh-TW" sz="140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TW" altLang="en-US" sz="1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815840"/>
                  </a:ext>
                </a:extLst>
              </a:tr>
              <a:tr h="7070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>
                          <a:effectLst/>
                          <a:latin typeface="+mn-ea"/>
                          <a:ea typeface="+mn-ea"/>
                        </a:rPr>
                        <a:t>VRP </a:t>
                      </a:r>
                      <a:r>
                        <a:rPr lang="zh-TW" altLang="en-US" sz="1400" b="1">
                          <a:effectLst/>
                          <a:latin typeface="+mn-ea"/>
                          <a:ea typeface="+mn-ea"/>
                        </a:rPr>
                        <a:t>乖離率</a:t>
                      </a:r>
                      <a:endParaRPr lang="zh-TW" altLang="en-US" sz="1400">
                        <a:effectLst/>
                        <a:latin typeface="+mn-ea"/>
                        <a:ea typeface="+mn-ea"/>
                      </a:endParaRP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dirty="0">
                          <a:effectLst/>
                          <a:latin typeface="+mn-ea"/>
                          <a:ea typeface="+mn-ea"/>
                        </a:rPr>
                        <a:t>預期溢價與現實之偏離度</a:t>
                      </a: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dirty="0">
                          <a:effectLst/>
                          <a:latin typeface="+mn-ea"/>
                          <a:ea typeface="+mn-ea"/>
                        </a:rPr>
                        <a:t>定價高</a:t>
                      </a:r>
                      <a:r>
                        <a:rPr lang="en-US" altLang="zh-TW" sz="14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TW" altLang="en-US" sz="1400" dirty="0">
                          <a:effectLst/>
                          <a:latin typeface="+mn-ea"/>
                          <a:ea typeface="+mn-ea"/>
                        </a:rPr>
                        <a:t>低估與套利空間</a:t>
                      </a: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dirty="0">
                          <a:effectLst/>
                          <a:latin typeface="+mn-ea"/>
                          <a:ea typeface="+mn-ea"/>
                        </a:rPr>
                        <a:t>預期與現實的偏離離散</a:t>
                      </a:r>
                    </a:p>
                  </a:txBody>
                  <a:tcPr marL="181305" marR="181305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804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039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10579-E1F7-C253-C4DB-64ED978AA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083D8D-68AC-D6D4-C749-2F83032F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問題、限制與修正方式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C3E407-3C6B-CF95-0570-33BCC0A18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問題：下載的資料之中部分交易日因流動性不足或當時系統因素，缺乏特定履約價的買權 </a:t>
            </a:r>
            <a:r>
              <a:rPr lang="en-US" altLang="zh-TW" dirty="0"/>
              <a:t>(Call) </a:t>
            </a:r>
            <a:r>
              <a:rPr lang="zh-TW" altLang="en-US" dirty="0"/>
              <a:t>或賣權 </a:t>
            </a:r>
            <a:r>
              <a:rPr lang="en-US" altLang="zh-TW" dirty="0"/>
              <a:t>(Put) </a:t>
            </a:r>
            <a:r>
              <a:rPr lang="zh-TW" altLang="en-US" dirty="0"/>
              <a:t>數值，從而造成重複出現或缺值的問題。</a:t>
            </a:r>
            <a:endParaRPr lang="en-US" altLang="zh-TW" dirty="0"/>
          </a:p>
          <a:p>
            <a:r>
              <a:rPr lang="zh-TW" altLang="en-US" dirty="0"/>
              <a:t>重複值處理： 採取「先存後整」策略。同日出現多次資料時，先完整保留並進行加權相加，確保數據不遺漏。</a:t>
            </a:r>
            <a:endParaRPr lang="en-US" altLang="zh-TW" dirty="0"/>
          </a:p>
          <a:p>
            <a:r>
              <a:rPr lang="zh-TW" altLang="en-US" dirty="0"/>
              <a:t>缺失值過濾： * 初步保留： 偵測到缺值時先予保留，避免截斷時間序列。</a:t>
            </a:r>
          </a:p>
        </p:txBody>
      </p:sp>
    </p:spTree>
    <p:extLst>
      <p:ext uri="{BB962C8B-B14F-4D97-AF65-F5344CB8AC3E}">
        <p14:creationId xmlns:p14="http://schemas.microsoft.com/office/powerpoint/2010/main" val="32400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CC3F12-AF63-45B2-A97C-FF89FFD11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AI Prompt </a:t>
            </a:r>
            <a:r>
              <a:rPr lang="zh-TW" altLang="en-US" dirty="0"/>
              <a:t>實作與優化紀錄摘要 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9CB983-275F-0BBD-71F1-C3B76B21E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初始 </a:t>
            </a:r>
            <a:r>
              <a:rPr lang="en-US" altLang="zh-TW" dirty="0"/>
              <a:t>Prompt</a:t>
            </a:r>
            <a:r>
              <a:rPr lang="zh-TW" altLang="en-US" dirty="0"/>
              <a:t>：「請幫我寫 </a:t>
            </a:r>
            <a:r>
              <a:rPr lang="en-US" altLang="zh-TW" dirty="0"/>
              <a:t>Python </a:t>
            </a:r>
            <a:r>
              <a:rPr lang="zh-TW" altLang="en-US" dirty="0"/>
              <a:t>代碼，讀取兩個 </a:t>
            </a:r>
            <a:r>
              <a:rPr lang="en-US" altLang="zh-TW" dirty="0"/>
              <a:t>CSV </a:t>
            </a:r>
            <a:r>
              <a:rPr lang="zh-TW" altLang="en-US" dirty="0"/>
              <a:t>檔並畫出 </a:t>
            </a:r>
            <a:r>
              <a:rPr lang="en-US" altLang="zh-TW" dirty="0"/>
              <a:t>IV </a:t>
            </a:r>
            <a:r>
              <a:rPr lang="zh-TW" altLang="en-US" dirty="0"/>
              <a:t>與標準差的對比圖。」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結果：產出基本圖形，但缺乏細節，且發生路徑錯誤與標籤重疊問題，且雲端硬碟經常斷線。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中間修正歷程：手動要求解除 </a:t>
            </a:r>
            <a:r>
              <a:rPr lang="en-US" altLang="zh-TW" dirty="0" err="1"/>
              <a:t>sharex</a:t>
            </a:r>
            <a:r>
              <a:rPr lang="en-US" altLang="zh-TW" dirty="0"/>
              <a:t> </a:t>
            </a:r>
            <a:r>
              <a:rPr lang="zh-TW" altLang="en-US" dirty="0"/>
              <a:t>限制、修正 </a:t>
            </a:r>
            <a:r>
              <a:rPr lang="en-US" altLang="zh-TW" dirty="0" err="1"/>
              <a:t>OSError</a:t>
            </a:r>
            <a:r>
              <a:rPr lang="zh-TW" altLang="en-US" dirty="0"/>
              <a:t>（雲端硬碟斷線），加入自動路徑偵測與防錯機制、由單純折線圖進階為「原始數據（淡化）</a:t>
            </a:r>
            <a:r>
              <a:rPr lang="en-US" altLang="zh-TW" dirty="0"/>
              <a:t>+ </a:t>
            </a:r>
            <a:r>
              <a:rPr lang="zh-TW" altLang="en-US" dirty="0"/>
              <a:t>趨勢均線（加粗）」的層次感。</a:t>
            </a:r>
            <a:endParaRPr lang="en-US" altLang="zh-TW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5741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7D175-D3AA-0605-0C01-8E5F38043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E63802-8BC4-F6CE-2F13-0EE255CB8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AI Prompt </a:t>
            </a:r>
            <a:r>
              <a:rPr lang="zh-TW" altLang="en-US" dirty="0"/>
              <a:t>實作與優化紀錄摘要 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338FE80-277E-8B3E-ADAC-65212678E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5450"/>
          <a:stretch>
            <a:fillRect/>
          </a:stretch>
        </p:blipFill>
        <p:spPr>
          <a:xfrm>
            <a:off x="1399674" y="2574758"/>
            <a:ext cx="2065422" cy="315169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E5535DA-1DA8-10AA-9A60-AD9AF153D77A}"/>
              </a:ext>
            </a:extLst>
          </p:cNvPr>
          <p:cNvSpPr txBox="1"/>
          <p:nvPr/>
        </p:nvSpPr>
        <p:spPr>
          <a:xfrm>
            <a:off x="3651584" y="2520616"/>
            <a:ext cx="71407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/>
              <a:t>左側為實際詢問</a:t>
            </a:r>
            <a:r>
              <a:rPr lang="en-US" altLang="zh-TW" sz="2800" b="1" dirty="0"/>
              <a:t>AI</a:t>
            </a:r>
            <a:r>
              <a:rPr lang="zh-TW" altLang="en-US" sz="2800" b="1" dirty="0"/>
              <a:t>之問題（部分），核心在於直接針對問題進行詢問，前導條件須給明清楚，得到的結果才不會被省略或是被</a:t>
            </a:r>
            <a:r>
              <a:rPr lang="en-US" altLang="zh-TW" sz="2800" b="1" dirty="0"/>
              <a:t>AI</a:t>
            </a:r>
            <a:r>
              <a:rPr lang="zh-TW" altLang="en-US" sz="2800" b="1" dirty="0"/>
              <a:t>誤解意思</a:t>
            </a:r>
          </a:p>
        </p:txBody>
      </p:sp>
    </p:spTree>
    <p:extLst>
      <p:ext uri="{BB962C8B-B14F-4D97-AF65-F5344CB8AC3E}">
        <p14:creationId xmlns:p14="http://schemas.microsoft.com/office/powerpoint/2010/main" val="1217166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7B98D4-3453-53BC-2BE7-10B44CB5B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結論與反思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F5A87B-F9F7-10C9-AEDB-CAAFEB19B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b="1" dirty="0"/>
              <a:t>情緒與現實的共振： </a:t>
            </a:r>
            <a:r>
              <a:rPr lang="en-US" altLang="zh-TW" b="1" dirty="0"/>
              <a:t>2023-2024 </a:t>
            </a:r>
            <a:r>
              <a:rPr lang="zh-TW" altLang="en-US" b="1" dirty="0"/>
              <a:t>年台股漲幅雖大，但隱含波動率 </a:t>
            </a:r>
            <a:r>
              <a:rPr lang="en-US" altLang="zh-TW" b="1" dirty="0"/>
              <a:t>(IV) </a:t>
            </a:r>
            <a:r>
              <a:rPr lang="zh-TW" altLang="en-US" b="1" dirty="0"/>
              <a:t>卻呈現「結構性收斂」，顯示此波 </a:t>
            </a:r>
            <a:r>
              <a:rPr lang="en-US" altLang="zh-TW" b="1" dirty="0"/>
              <a:t>AI </a:t>
            </a:r>
            <a:r>
              <a:rPr lang="zh-TW" altLang="en-US" b="1" dirty="0"/>
              <a:t>狂潮具有紮實的產業基本面支撐，</a:t>
            </a:r>
            <a:endParaRPr lang="en-US" altLang="zh-TW" b="1" dirty="0"/>
          </a:p>
          <a:p>
            <a:r>
              <a:rPr lang="en-US" altLang="zh-TW" b="1" dirty="0"/>
              <a:t>PCR </a:t>
            </a:r>
            <a:r>
              <a:rPr lang="zh-TW" altLang="en-US" b="1" dirty="0"/>
              <a:t>的預警價值： 透過 </a:t>
            </a:r>
            <a:r>
              <a:rPr lang="en-US" altLang="zh-TW" b="1" dirty="0"/>
              <a:t>Put-Call Ratio </a:t>
            </a:r>
            <a:r>
              <a:rPr lang="zh-TW" altLang="en-US" b="1" dirty="0"/>
              <a:t>發現，當指數衝破 </a:t>
            </a:r>
            <a:r>
              <a:rPr lang="en-US" altLang="zh-TW" b="1" dirty="0"/>
              <a:t>23,000 </a:t>
            </a:r>
            <a:r>
              <a:rPr lang="zh-TW" altLang="en-US" b="1" dirty="0"/>
              <a:t>點等關鍵心理水位時，市場情緒往往趨於極端（</a:t>
            </a:r>
            <a:r>
              <a:rPr lang="en-US" altLang="zh-TW" b="1" dirty="0"/>
              <a:t>PCR </a:t>
            </a:r>
            <a:r>
              <a:rPr lang="zh-TW" altLang="en-US" b="1" dirty="0"/>
              <a:t>過低），成為 </a:t>
            </a:r>
            <a:r>
              <a:rPr lang="en-US" altLang="zh-TW" b="1" dirty="0"/>
              <a:t>8 </a:t>
            </a:r>
            <a:r>
              <a:rPr lang="zh-TW" altLang="en-US" b="1" dirty="0"/>
              <a:t>月單日最大跌點前的關鍵預警訊號。</a:t>
            </a:r>
            <a:endParaRPr lang="en-US" altLang="zh-TW" b="1" dirty="0"/>
          </a:p>
          <a:p>
            <a:r>
              <a:rPr lang="zh-TW" altLang="en-US" b="1" dirty="0"/>
              <a:t>避險成本常態化： </a:t>
            </a:r>
            <a:r>
              <a:rPr lang="en-US" altLang="zh-TW" b="1" dirty="0"/>
              <a:t>IV Skew</a:t>
            </a:r>
            <a:r>
              <a:rPr lang="zh-TW" altLang="en-US" b="1" dirty="0"/>
              <a:t>（買賣權價差）長期為正值，反映台股投資人即便在多頭市場中，仍維持高度的風險意識與避險需求</a:t>
            </a:r>
            <a:endParaRPr lang="en-US" altLang="zh-TW" b="1" dirty="0"/>
          </a:p>
          <a:p>
            <a:r>
              <a:rPr lang="en-US" altLang="zh-TW" b="1" dirty="0"/>
              <a:t>AI </a:t>
            </a:r>
            <a:r>
              <a:rPr lang="zh-TW" altLang="en-US" b="1" dirty="0"/>
              <a:t>協作反思： 透過 </a:t>
            </a:r>
            <a:r>
              <a:rPr lang="en-US" altLang="zh-TW" b="1" dirty="0"/>
              <a:t>AI </a:t>
            </a:r>
            <a:r>
              <a:rPr lang="zh-TW" altLang="en-US" b="1" dirty="0"/>
              <a:t>輔助處理大量期權數據，能有效將枯燥的數位轉化為具備「情緒溫度」的分析報告，提升決策的時效性與準確度。</a:t>
            </a:r>
          </a:p>
        </p:txBody>
      </p:sp>
    </p:spTree>
    <p:extLst>
      <p:ext uri="{BB962C8B-B14F-4D97-AF65-F5344CB8AC3E}">
        <p14:creationId xmlns:p14="http://schemas.microsoft.com/office/powerpoint/2010/main" val="31188821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有機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有機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有機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534</TotalTime>
  <Words>1771</Words>
  <Application>Microsoft Office PowerPoint</Application>
  <PresentationFormat>寬螢幕</PresentationFormat>
  <Paragraphs>98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1" baseType="lpstr">
      <vt:lpstr>Arial</vt:lpstr>
      <vt:lpstr>Garamond</vt:lpstr>
      <vt:lpstr>有機</vt:lpstr>
      <vt:lpstr>金融資料探勘-第二組書面報告</vt:lpstr>
      <vt:lpstr>研究主題與研究動機</vt:lpstr>
      <vt:lpstr>研究年度及分工</vt:lpstr>
      <vt:lpstr>資料來源與樣本說明</vt:lpstr>
      <vt:lpstr>資料整理與整合流程</vt:lpstr>
      <vt:lpstr>資料整理與整合流程</vt:lpstr>
      <vt:lpstr>指標定義與統計方法</vt:lpstr>
      <vt:lpstr>指標定義與統計方法</vt:lpstr>
      <vt:lpstr>實證結果與圖表分析</vt:lpstr>
      <vt:lpstr>實證結果與圖表分析</vt:lpstr>
      <vt:lpstr>實證結果與圖表分析</vt:lpstr>
      <vt:lpstr>實證結果與圖表分析</vt:lpstr>
      <vt:lpstr>實證結果與圖表分析</vt:lpstr>
      <vt:lpstr>財務與統計含意說明</vt:lpstr>
      <vt:lpstr>問題、限制與修正方式</vt:lpstr>
      <vt:lpstr>AI Prompt 實作與優化紀錄摘要 </vt:lpstr>
      <vt:lpstr>AI Prompt 實作與優化紀錄摘要 </vt:lpstr>
      <vt:lpstr>結論與反思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BOWEI 黃</dc:creator>
  <cp:lastModifiedBy>BOWEI 黃</cp:lastModifiedBy>
  <cp:revision>15</cp:revision>
  <dcterms:created xsi:type="dcterms:W3CDTF">2026-04-22T17:17:45Z</dcterms:created>
  <dcterms:modified xsi:type="dcterms:W3CDTF">2026-04-30T10:01:43Z</dcterms:modified>
</cp:coreProperties>
</file>