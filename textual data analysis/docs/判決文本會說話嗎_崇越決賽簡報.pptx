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89b702ad914f75" /><Relationship Type="http://schemas.openxmlformats.org/officeDocument/2006/relationships/extended-properties" Target="/docProps/app.xml" Id="R2005ac5071dc4c24" /><Relationship Type="http://schemas.openxmlformats.org/officeDocument/2006/relationships/officeDocument" Target="/ppt/presentation.xml" Id="R2eaffb60870d4f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c44269fc964984"/>
  </p:sldMasterIdLst>
  <p:notesMasterIdLst>
    <p:notesMasterId xmlns:r="http://schemas.openxmlformats.org/officeDocument/2006/relationships" r:id="R1ee05963cfd544e4"/>
  </p:notesMasterIdLst>
  <p:sldIdLst>
    <p:sldId xmlns:r="http://schemas.openxmlformats.org/officeDocument/2006/relationships" id="256" r:id="R8cef945c62a142f5"/>
    <p:sldId xmlns:r="http://schemas.openxmlformats.org/officeDocument/2006/relationships" id="257" r:id="R7318b45365244087"/>
    <p:sldId xmlns:r="http://schemas.openxmlformats.org/officeDocument/2006/relationships" id="258" r:id="R98384c638b924981"/>
    <p:sldId xmlns:r="http://schemas.openxmlformats.org/officeDocument/2006/relationships" id="259" r:id="Rdd05e762b44b41f8"/>
    <p:sldId xmlns:r="http://schemas.openxmlformats.org/officeDocument/2006/relationships" id="260" r:id="R166823ca974e417d"/>
    <p:sldId xmlns:r="http://schemas.openxmlformats.org/officeDocument/2006/relationships" id="261" r:id="R0f82f2c4c4df45d4"/>
    <p:sldId xmlns:r="http://schemas.openxmlformats.org/officeDocument/2006/relationships" id="262" r:id="Ra3d1a5ad71ab4f97"/>
    <p:sldId xmlns:r="http://schemas.openxmlformats.org/officeDocument/2006/relationships" id="263" r:id="R5ccbad6641194696"/>
    <p:sldId xmlns:r="http://schemas.openxmlformats.org/officeDocument/2006/relationships" id="264" r:id="R88a5209a00144b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00721ae9404aa0" /><Relationship Type="http://schemas.openxmlformats.org/officeDocument/2006/relationships/slideMaster" Target="/ppt/slideMasters/slideMaster1.xml" Id="Ra4c44269fc964984" /><Relationship Type="http://schemas.openxmlformats.org/officeDocument/2006/relationships/notesMaster" Target="/ppt/notesMasters/notesMaster1.xml" Id="R1ee05963cfd544e4" /><Relationship Type="http://schemas.openxmlformats.org/officeDocument/2006/relationships/presProps" Target="/ppt/presProps.xml" Id="R5a065b9e6e654902" /><Relationship Type="http://schemas.openxmlformats.org/officeDocument/2006/relationships/tableStyles" Target="/ppt/tableStyles.xml" Id="R867eb41072574aaf" /><Relationship Type="http://schemas.openxmlformats.org/officeDocument/2006/relationships/slide" Target="/ppt/slides/slide1.xml" Id="R8cef945c62a142f5" /><Relationship Type="http://schemas.openxmlformats.org/officeDocument/2006/relationships/slide" Target="/ppt/slides/slide2.xml" Id="R7318b45365244087" /><Relationship Type="http://schemas.openxmlformats.org/officeDocument/2006/relationships/slide" Target="/ppt/slides/slide3.xml" Id="R98384c638b924981" /><Relationship Type="http://schemas.openxmlformats.org/officeDocument/2006/relationships/slide" Target="/ppt/slides/slide4.xml" Id="Rdd05e762b44b41f8" /><Relationship Type="http://schemas.openxmlformats.org/officeDocument/2006/relationships/slide" Target="/ppt/slides/slide5.xml" Id="R166823ca974e417d" /><Relationship Type="http://schemas.openxmlformats.org/officeDocument/2006/relationships/slide" Target="/ppt/slides/slide6.xml" Id="R0f82f2c4c4df45d4" /><Relationship Type="http://schemas.openxmlformats.org/officeDocument/2006/relationships/slide" Target="/ppt/slides/slide7.xml" Id="Ra3d1a5ad71ab4f97" /><Relationship Type="http://schemas.openxmlformats.org/officeDocument/2006/relationships/slide" Target="/ppt/slides/slide8.xml" Id="R5ccbad6641194696" /><Relationship Type="http://schemas.openxmlformats.org/officeDocument/2006/relationships/slide" Target="/ppt/slides/slide9.xml" Id="R88a5209a00144b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bc8946c6064d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667676025d4584" /><Relationship Type="http://schemas.openxmlformats.org/officeDocument/2006/relationships/notesMaster" Target="/ppt/notesMasters/notesMaster1.xml" Id="Rab97cfcadc7341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f033c3743c4ac3" /><Relationship Type="http://schemas.openxmlformats.org/officeDocument/2006/relationships/notesMaster" Target="/ppt/notesMasters/notesMaster1.xml" Id="R9cb0687841a74d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d4f25ea398446b" /><Relationship Type="http://schemas.openxmlformats.org/officeDocument/2006/relationships/notesMaster" Target="/ppt/notesMasters/notesMaster1.xml" Id="Rf3d07a13c02c43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3c0bbaec4d4d38" /><Relationship Type="http://schemas.openxmlformats.org/officeDocument/2006/relationships/notesMaster" Target="/ppt/notesMasters/notesMaster1.xml" Id="Rc2e9c7aec3f64f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8fee57dc4944f8" /><Relationship Type="http://schemas.openxmlformats.org/officeDocument/2006/relationships/notesMaster" Target="/ppt/notesMasters/notesMaster1.xml" Id="Rbc988704c5024d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e08fbd24fb4d23" /><Relationship Type="http://schemas.openxmlformats.org/officeDocument/2006/relationships/notesMaster" Target="/ppt/notesMasters/notesMaster1.xml" Id="R01a8281c6da24e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424f3628cc41cc" /><Relationship Type="http://schemas.openxmlformats.org/officeDocument/2006/relationships/notesMaster" Target="/ppt/notesMasters/notesMaster1.xml" Id="Rb8745cbaf6d547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5da7b124e648e4" /><Relationship Type="http://schemas.openxmlformats.org/officeDocument/2006/relationships/notesMaster" Target="/ppt/notesMasters/notesMaster1.xml" Id="R357771f70c8e4d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049516b17343bb" /><Relationship Type="http://schemas.openxmlformats.org/officeDocument/2006/relationships/notesMaster" Target="/ppt/notesMasters/notesMaster1.xml" Id="R9e9cfc44b10a44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各位評審好。本研究最後保留了 45,344 篇智慧財產權判決。每天讀 10 篇仍需超過 12 年。本研究問的是：不逐句理解完整語意，只觀察詞彙出現與分布，能否區分敗訴、部分勝訴與勝訴？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判決雖然公開，仍以非結構化文字存在。本研究建立透明且可重複的分類基準，並跨四種案件類型比較文字表示與模型流程，以理解法律文本模型的有效邊界。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資料涵蓋 1996 至 2024 年，原始資料 90,027 篇，經篩選後保留 45,344 篇。案件分為四類，結果分為敗訴、部分勝訴與勝訴。刑事附帶民事案件後期較多，但本研究只觀察趨勢，不驗證提告動機。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流程先進行文本清理與中文斷詞，移除明顯結果詞後，以 BoW、TF 或 TF-IDF 表徵，再做卡方特徵選擇。從此分成兩條流程：流程 A 是 Direct SVM；流程 B 是 MNIR 二維轉換後再使用 SVM。兩條流程使用相同的訓練、驗證與測試切分；最後對同一測試集進行有放回重抽樣，並以相同樣本索引比較兩條流程的 Macro F1 差異，以維持配對性。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第一個發現是四類案件中 Direct SVM 的 Macro F1 都高於 MNIR 流程：行政 0.073、民事 0.075、刑事 0.187、刑事附帶民事 0.109。對同一測試集做有放回重抽樣，並以相同樣本索引比較流程，四個 95% 信賴區間皆未跨零。SVM 可直接利用高維稀疏特徵；MNIR 壓成二維分數可能壓縮可分訊號，但這不是已驗證的因果機制。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第二個發現是最佳文字表示依案件而異：行政為 BoW、民事為 TF-IDF、刑事為 TF、刑事附帶民事為 BoW。模型效果不只由演算法決定，也受到制度程序與文本生成方式影響。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第三個發現是高 Accuracy 的誤導性。民事最佳模型 Accuracy 是 0.680，Macro F1 卻是 0.428；敗訴 F1 0.802、Mixed 0.352、Win 0.130。測試集 86 件實際勝訴只有 7 件判對，Win recall 0.081。下一步應處理 Mixed 的異質性與少數類別，而不只是替換模型。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模型輸出是三類標籤，但本研究是已完成判決的文本分類，不能拿來事前預測勝敗。研究價值在於建立可重複流程、證明案件異質性、提供 Direct SVM 強基準，並指出改善不應只追求 Accuracy，而要處理少數類別與 Mixed 標籤的異質性。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最後回到題目：判決文本確實會說話，移除明顯結果詞後仍有一定分類訊號。但它是有條件的：案件類型不同、複雜方法不一定較佳，而且 Accuracy 可能遮蔽少數類別失敗。這些結果是後續使用深度學習與預訓練模型時的比較基礎。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研究講稿：判決文本會說話嗎_崇越決賽_10分鐘講稿.md</a:t>
            </a:r>
          </a:p>
          <a:p xmlns:a="http://schemas.openxmlformats.org/drawingml/2006/main">
            <a:r>
              <a:t>- 原始論文：判決文本會說話嗎？.docx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15e73267f48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0f0a04223243e7" /><Relationship Type="http://schemas.openxmlformats.org/officeDocument/2006/relationships/slideLayout" Target="/ppt/slideLayouts/slideLayout1.xml" Id="R7ec12d48887d44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c12d48887d44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68fb53f3054000" /><Relationship Type="http://schemas.openxmlformats.org/officeDocument/2006/relationships/notesSlide" Target="/ppt/notesSlides/notesSlide1.xml" Id="Ra1379fb6f2564d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d64925bc84c1b" /><Relationship Type="http://schemas.openxmlformats.org/officeDocument/2006/relationships/notesSlide" Target="/ppt/notesSlides/notesSlide2.xml" Id="R4e434b50c8214e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c764eb4ad4ed8" /><Relationship Type="http://schemas.openxmlformats.org/officeDocument/2006/relationships/notesSlide" Target="/ppt/notesSlides/notesSlide3.xml" Id="Rdbe78b6874b54a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3eb4a56654b79" /><Relationship Type="http://schemas.openxmlformats.org/officeDocument/2006/relationships/notesSlide" Target="/ppt/notesSlides/notesSlide4.xml" Id="R5a3baa337a3e47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7da2fbaca443b" /><Relationship Type="http://schemas.openxmlformats.org/officeDocument/2006/relationships/chart" Target="/ppt/slides/charts/chart1.xml" Id="R5d16b4f505cb43e8" /><Relationship Type="http://schemas.openxmlformats.org/officeDocument/2006/relationships/notesSlide" Target="/ppt/notesSlides/notesSlide5.xml" Id="R1c16be6b2a4f4f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c936dad284bca" /><Relationship Type="http://schemas.openxmlformats.org/officeDocument/2006/relationships/notesSlide" Target="/ppt/notesSlides/notesSlide6.xml" Id="Rd7228c3a9aaa41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c0775e2aaf4a2b" /><Relationship Type="http://schemas.openxmlformats.org/officeDocument/2006/relationships/notesSlide" Target="/ppt/notesSlides/notesSlide7.xml" Id="R44aeb8d8fa1f4f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312c0af6e48bf" /><Relationship Type="http://schemas.openxmlformats.org/officeDocument/2006/relationships/notesSlide" Target="/ppt/notesSlides/notesSlide8.xml" Id="R2e037f37c1514f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dd420d6414f39" /><Relationship Type="http://schemas.openxmlformats.org/officeDocument/2006/relationships/notesSlide" Target="/ppt/notesSlides/notesSlide9.xml" Id="R27c3f81f16d2412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Direct SVM − MNIR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行政</c:v>
              </c:pt>
              <c:pt idx="1">
                <c:v>民事</c:v>
              </c:pt>
              <c:pt idx="2">
                <c:v>刑事</c:v>
              </c:pt>
              <c:pt idx="3">
                <c:v>刑事附帶民事</c:v>
              </c:pt>
            </c:strLit>
          </c:cat>
          <c:val>
            <c:numLit>
              <c:formatCode>General</c:formatCode>
              <c:ptCount val="4"/>
              <c:pt idx="0">
                <c:v>0.073</c:v>
              </c:pt>
              <c:pt idx="1">
                <c:v>0.075</c:v>
              </c:pt>
              <c:pt idx="2">
                <c:v>0.187</c:v>
              </c:pt>
              <c:pt idx="3">
                <c:v>0.109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6CCD3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827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83721-AF15-47AB-8D85-21590F43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崇越論文大賞決賽｜M0263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B77D7E8-9049-4E8F-8F5D-737572EF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096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判決文本</a:t>
            </a:r>
          </a:p>
          <a:p xmlns:a="http://schemas.openxmlformats.org/drawingml/2006/main">
            <a:pPr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會說話嗎？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FB4B7-3EBE-47A5-8ABA-8072BABE0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D6775"/>
                </a:solidFill>
              </a:defRPr>
            </a:pPr>
            <a:r>
              <a:rPr sz="1875" b="0">
                <a:solidFill>
                  <a:srgbClr val="5D6775"/>
                </a:solidFill>
              </a:rPr>
              <a:t>以臺灣智慧財產權判決文本分類為例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8A3D9-3353-4364-AB76-1F5D05A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495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620FE-40C8-4CCB-8B5B-6BE07B28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45,344 篇判決｜三類裁判結果｜四種案件類型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9A06C-A460-403B-85B6-6517A8C9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952500"/>
            <a:ext cx="32194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02374-7C9D-4FF0-9F30-6E9AD3CF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447800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3BEDD-788F-4AE7-9D80-1206C707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098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篇可分類判決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9273D-F58D-4F0B-827A-C93515A3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3200"/>
            <a:ext cx="2324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376CD-25CC-4492-AC51-5699FFC8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95625"/>
            <a:ext cx="1714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敗訴</a:t>
            </a:r>
          </a:p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部分勝訴</a:t>
            </a:r>
          </a:p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勝訴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66DA-0D43-4B00-BFED-B3B7D5DC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14875"/>
            <a:ext cx="2333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詞彙分布是否留下</a:t>
            </a:r>
          </a:p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可辨識的結果訊號？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D72EB-2846-4D8F-AEDB-5650392A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10B39-924E-4F2E-9164-DDC7650E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936998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818F9-89A0-4111-AE52-E71A5944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研究問題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D5794C8-6A7A-42F7-BCDF-97DE6CFC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大量公開的判決，仍難以看見整體規律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B201E0-3C4A-41EB-9E89-4B0C83E6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非結構化文本需要一套一致、可運算、可比較的研究流程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BFC90-FE44-4213-ACAB-3D0D03B3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0C1B9-0191-4B1B-8AA0-F3B45371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905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法院公開大量判決書，但它們多半仍是</a:t>
            </a:r>
          </a:p>
          <a:p xmlns:a="http://schemas.openxmlformats.org/drawingml/2006/main"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無法直接比較的長篇文字。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FC7214-7572-4317-AA9D-85F141CC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C65363-7D0C-4696-8FF9-E1E143D8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38550"/>
            <a:ext cx="421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透明基準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68E0B-D9DD-4708-B273-7CA08E0D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62400"/>
            <a:ext cx="4210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 BoW、TF 與 TF-IDF 建立可重複的文字分類比較。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256407-1393-42ED-8F2E-5A93E0EC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1E3FD-F02E-4579-A7BC-59B705A3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24400"/>
            <a:ext cx="421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不預設同質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132C0-291A-48B9-A983-18F18A31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210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行政、民事、刑事與刑事附帶民事，可能有不同文本結構。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623B04-5C88-493C-926D-D6C8ABC1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5339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FEDCF-4AE8-4D50-8292-53C9F11A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71750"/>
            <a:ext cx="3619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11827"/>
                </a:solidFill>
              </a:defRPr>
            </a:pPr>
            <a:r>
              <a:rPr sz="2325" b="1">
                <a:solidFill>
                  <a:srgbClr val="111827"/>
                </a:solidFill>
              </a:rPr>
              <a:t>我要比較的不是</a:t>
            </a:r>
          </a:p>
          <a:p xmlns:a="http://schemas.openxmlformats.org/drawingml/2006/main">
            <a:pPr>
              <a:defRPr sz="2325" b="1">
                <a:solidFill>
                  <a:srgbClr val="111827"/>
                </a:solidFill>
              </a:defRPr>
            </a:pPr>
            <a:r>
              <a:rPr sz="2325" b="1">
                <a:solidFill>
                  <a:srgbClr val="111827"/>
                </a:solidFill>
              </a:rPr>
              <a:t>「哪個模型最炫」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E7B0F-50FD-47C1-A997-6DD018BC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81400"/>
            <a:ext cx="3524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D6775"/>
                </a:solidFill>
              </a:defRPr>
            </a:pPr>
            <a:r>
              <a:rPr sz="1575" b="0">
                <a:solidFill>
                  <a:srgbClr val="5D6775"/>
                </a:solidFill>
              </a:rPr>
              <a:t>而是：不同案件類型、文字表示與模型流程，</a:t>
            </a:r>
          </a:p>
          <a:p xmlns:a="http://schemas.openxmlformats.org/drawingml/2006/main">
            <a:pPr>
              <a:defRPr sz="1575" b="0">
                <a:solidFill>
                  <a:srgbClr val="5D6775"/>
                </a:solidFill>
              </a:defRPr>
            </a:pPr>
            <a:r>
              <a:rPr sz="1575" b="0">
                <a:solidFill>
                  <a:srgbClr val="5D6775"/>
                </a:solidFill>
              </a:rPr>
              <a:t>會不會帶來不同的分類效果？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E0F67B-344A-4F96-94BE-C5DC7ADF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3009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BE330-1C4F-447E-8B12-CB7B586F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法律文本模型在哪裡有效？</a:t>
            </a:r>
          </a:p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又在哪裡仍有限制？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DB4D54-A2B7-4120-8549-DB55AD3C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332BF-9295-4E1E-B751-75F4E3C6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468883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E45952-225C-43FD-9B35-2B129649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研究資料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A0DCE5-59A1-49EC-82EE-462EFEA0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從 90,027 篇原始資料，到 45,344 篇可比較判決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050B9-C0D8-4EB4-8406-D7A0B104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1996–2024 年臺灣智慧財產權相關裁判書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09F66-9DA0-449B-BDCA-47F40BBD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C54A1A-715E-471D-8AAA-43F50D39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90,027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7E962-188F-4A2F-8C12-3B4290F1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原始裁判書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FD5D2-37A9-4910-A01D-58AE4223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146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篩選案件類型與結果</a:t>
            </a:r>
          </a:p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排除無法明確歸類的資料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CEC5F-BBF9-4517-9F2F-AE3C9BD0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190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8417A7-2FD2-41FA-BDAA-2A6E5D58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F16AA-94BA-4C4C-B406-6C8BA791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最終分析樣本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97A1AA-5904-4BA6-87F7-E43D888F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四種案件類型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D45C1-0B7A-4CDD-B901-C896558C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D6775"/>
                </a:solidFill>
              </a:defRPr>
            </a:pPr>
            <a:r>
              <a:rPr sz="1650" b="0">
                <a:solidFill>
                  <a:srgbClr val="5D6775"/>
                </a:solidFill>
              </a:rPr>
              <a:t>行政　民事　刑事　刑事附帶民事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80F1C6-69F3-4A54-9151-ED821AC7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三類裁判結果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9081CC-5443-4D6C-B9E1-2C6AD33E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D6775"/>
                </a:solidFill>
              </a:defRPr>
            </a:pPr>
            <a:r>
              <a:rPr sz="1575" b="0">
                <a:solidFill>
                  <a:srgbClr val="5D6775"/>
                </a:solidFill>
              </a:rPr>
              <a:t>敗訴　部分勝訴　勝訴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840ED-ACB0-4F08-9E3D-0CBDD9C3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24400"/>
            <a:ext cx="30099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BF21E-6668-4572-B6C4-9F628932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53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觀察到的趨勢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CF6D1-8D01-48C0-B99E-9B58BD75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276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刑事附帶民事案件</a:t>
            </a:r>
          </a:p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在後期年度數量較高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5F159-6639-4564-A28A-98AE7D2F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8102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775"/>
                </a:solidFill>
              </a:defRPr>
            </a:pPr>
            <a:r>
              <a:rPr sz="975" b="0">
                <a:solidFill>
                  <a:srgbClr val="5D6775"/>
                </a:solidFill>
              </a:rPr>
              <a:t>不據此推論提告動機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852084-78EE-43A1-A302-B91A4EEE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022FA3-A610-4DCB-865D-07987286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324764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5783B5-D128-4C23-9736-251C6264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研究設計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7B8EB2B-0FD4-45B8-A578-3D07DC08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兩條流程，共用前處理，在同一測試集上比較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28CBCD-8C8A-462C-8F6D-C1DE29F3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避免模型只靠「駁回、准許、有理由、撤銷」等結論用語作答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B074D8-692C-4449-89D2-AE9D62C0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F69D2-EA88-4FAF-A41E-EED9B6F5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71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9BEECB-86B8-4457-A978-4B5812DC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129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文本清理</a:t>
            </a:r>
          </a:p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中文斷詞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DA287-16BE-4632-AC2C-56AE469C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8674F-4EFF-40DF-A3BE-9DC1AE66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09800"/>
            <a:ext cx="190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9FB2C-3521-4D5D-BE5D-9E47257F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09825"/>
            <a:ext cx="1571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BoW ／ TF ／ TF-IDF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2B9EC-85AA-426E-A819-7B309361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66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C255CB-BB7D-475D-8565-3D031E08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09800"/>
            <a:ext cx="1828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12F923-9F42-4D33-9B42-7F0CBF07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09825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卡方特徵選擇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64E6A-6719-4221-8A5C-A11D84E4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812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分成兩條流程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1C229-4EC1-4AEF-A444-7D359D4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33750"/>
            <a:ext cx="2571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898C21-B7D2-4137-8FEC-705B702A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流程 A｜Direct SVM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4395B-CF60-45E6-9128-0E82CBBB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8290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選詞後直接分類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3A2BA-AE50-4F86-9F58-715CACB9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4B9FEB-A49B-4BDD-806E-32BEBCEB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591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流程 B｜MNIR + SVM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6A2B91-D9BB-447D-B442-326C4744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9530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二維轉換後再分類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7264E-FA85-4CD6-AD47-A33736EB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433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D92649-DABE-402C-9362-1C4660FE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8630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7A73"/>
                </a:solidFill>
              </a:defRPr>
            </a:pPr>
            <a:r>
              <a:rPr sz="2025" b="1">
                <a:solidFill>
                  <a:srgbClr val="147A73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6523A-2B89-45A1-8D89-A59F2222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2381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E1FBF-2FA2-4298-9A7A-65A28894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81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同一資料切分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4F46AB-728B-47FE-9F5F-AF2C7F74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訓練集 → 驗證集</a:t>
            </a:r>
          </a:p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→ 同一測試集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31BD00-1642-4765-B279-4EAAE443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572000"/>
            <a:ext cx="171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83EAFB-9B4C-47AB-BF3A-F6D28C91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81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paired bootstrap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EB0AB9-FE80-478C-A7E5-5517120A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0482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D6775"/>
                </a:solidFill>
              </a:defRPr>
            </a:pPr>
            <a:r>
              <a:rPr sz="1050" b="0">
                <a:solidFill>
                  <a:srgbClr val="5D6775"/>
                </a:solidFill>
              </a:rPr>
              <a:t>以相同樣本索引配對比較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0CD4F0-B864-49B7-BE45-4E5DD87A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13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4F1DE2-43D2-42AF-9ABF-2B9B953A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主要指標：Macro F1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9E7B19-93AC-4633-8653-2C0354D5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9055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輔助解讀：Accuracy、類別 F1、多數類別基準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93C529-E618-4FD1-B5EC-C7102929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9055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三類結果樣本並不平均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68CD16-738A-4901-9536-7A012267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EF024-EA79-4ADB-9197-69ABC5A0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492653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B87D4-5187-4E86-BD08-09C33CA5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發現一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403DC5-CCBB-4549-90D9-221CDB13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Direct SVM 在四類案件中都較佳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D0255-F935-47AD-AB8B-B6BD6566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相對於加入 MNIR 轉換的流程，Macro F1 差異皆為正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48AF5-B753-48E7-AE34-0BAA3149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38200" y="2362200"/>
          <a:ext xmlns:a="http://schemas.openxmlformats.org/drawingml/2006/main" cx="5905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16b4f505cb43e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9D005-359F-4066-BF9F-0C998F9E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81250"/>
            <a:ext cx="33337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0ABA1-EE0D-4EC2-8964-5CEEC1BA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47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方向一致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AF530-EE8A-4E52-BB3F-ADF34380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2476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四個資料集的</a:t>
            </a:r>
          </a:p>
          <a:p xmlns:a="http://schemas.openxmlformats.org/drawingml/2006/main"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95% paired bootstrap</a:t>
            </a:r>
          </a:p>
          <a:p xmlns:a="http://schemas.openxmlformats.org/drawingml/2006/main"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信賴區間皆未跨零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B8D71-A7BF-4053-95F9-0DD00D8F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243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16F07-AFE7-4985-B23E-962D0E9A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72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複雜度不等於效果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FCDF9-6A11-4328-B905-59CCA466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的二維壓縮可能讓部分</a:t>
            </a:r>
          </a:p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高維可分訊號無法被利用。</a:t>
            </a:r>
          </a:p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這是合理推論，非機制驗證。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3EC8A-547B-4CEE-A421-9B11267F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E78429-BF7E-4063-8B68-60C4DFE0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86613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AFA3C5-BBBA-4700-A93D-6703F099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發現二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6CB1DC5-4795-4819-844E-A2EF3E1A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不同案件，說著不同的文字語言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ABF97-B3B6-4333-B622-FC89CD82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不存在一種文字表示可以在所有案件中勝出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E774CA-0BF1-475E-8609-22B44D66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0D645-696A-43FB-9B9C-EA5BA61B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案件類型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1A0B0-5588-45E7-9AE8-8D53AAE3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43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最佳文字表示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3719D-E1E9-4CA9-8DE6-D8258E80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19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A3EE9C-8761-4658-AB4A-01561398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行政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DC397-D02B-4A42-8DD4-BA684194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81BA8-4CB9-4BB7-9529-C4257398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819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7477D6-1CA5-4BB7-B57E-A93F4E24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民事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4DDDC-71E8-4ACF-BD1A-B686DC8B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TF-IDF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DF547B-495D-4739-8862-A7F21278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819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3C1FB-D1B1-4135-8F86-0B746DD2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6FBEE-D7F3-4162-9F31-B808C90B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095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TF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409963-A6F2-49E5-9839-747754D2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819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F9A004-0CCA-46DD-8969-A62751A8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刑事附帶民事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D824F-1B63-4D2B-830C-F2BD0A04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05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350A57-33E3-4F55-B040-676D5A3C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819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BECA4C-BB68-470F-A74D-21F09E66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24100"/>
            <a:ext cx="16383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422960-7C96-4755-A024-C6D015AB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24150"/>
            <a:ext cx="104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關鍵</a:t>
            </a:r>
          </a:p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不是</a:t>
            </a:r>
          </a:p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只選</a:t>
            </a:r>
          </a:p>
          <a:p xmlns:a="http://schemas.openxmlformats.org/drawingml/2006/main">
            <a:pPr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演算法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201E09-4364-4734-AF9F-B3DC5633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438650"/>
            <a:ext cx="104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也要理解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資料生成的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制度脈絡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D95FDE-42FD-4F5A-9796-2910301F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法律程序、請求內容、敘事方式與裁判結構不同，保留下來的分類訊號也會不同。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1C18B5-2071-4282-B427-35CBF857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AD0471-91CD-4224-BE66-08CFF6D9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04059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8D2E75-7AD3-48F4-BD60-0D56B413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發現三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684F599-E30F-4A98-AEBA-8B62B1A8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高準確率，可能掩蓋少數類別的失敗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B0AE8-4B9E-4883-B9C7-131ADE03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以民事案件最佳模型為例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BE736-DE43-4332-BC74-1B9E06E1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5D65B-203E-4937-A1B9-1757D468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0.680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ADB88C-A70C-4D43-A171-D261334B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Accuracy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ACA3BF-8E25-465B-BC42-1EE53947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3241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0.428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D43961-5733-4589-A076-3F0C0CE0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47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Macro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833F0-346C-42C7-B4B3-560AC171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09732-B7EC-4C77-8619-DF931040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D6775"/>
                </a:solidFill>
              </a:defRPr>
            </a:pPr>
            <a:r>
              <a:rPr sz="1350" b="1">
                <a:solidFill>
                  <a:srgbClr val="5D6775"/>
                </a:solidFill>
              </a:rPr>
              <a:t>各類別 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2A0162-A7F9-40AC-8F35-D6461410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34D302-EAB9-48F9-99F3-FEC8E93A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57650"/>
            <a:ext cx="229171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C3F85-EB76-4511-9BA3-3B7AF0BA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0.802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08A8D-FF11-45E1-B742-9BA4F0D2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Mixed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FCBA11-06A1-45F9-B1E8-153102C5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72000"/>
            <a:ext cx="100584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9C61BA-CC08-4E28-8FB3-00FA382A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1485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0.352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EA8F6-88A2-4B8B-948F-641E9E42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Win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9C9D59-A7FE-4B77-9AB5-09ED05AC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86350"/>
            <a:ext cx="371475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63E8FD-5504-478D-82DD-27BB154D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0292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0.130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922986-DC65-4B60-A91F-00103787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43434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8A4D4A-FC49-4023-8F64-8FBC6DDD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098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C2410C"/>
                </a:solidFill>
              </a:defRPr>
            </a:pPr>
            <a:r>
              <a:rPr sz="3225" b="1">
                <a:solidFill>
                  <a:srgbClr val="C2410C"/>
                </a:solidFill>
              </a:rPr>
              <a:t>86 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B8EA4D-56F6-46C0-BE7A-6E9ECB1A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62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測試集中實際勝訴案件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723270-EE39-423E-84CF-8EA302C1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195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46857A-4E62-49CB-8EE0-11B4E836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2430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只有 7 件被正確辨識為勝訴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49D464-3714-44B0-BE69-89430386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005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Win recall = 0.081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6AF13E-A661-4542-B362-3FB5D934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9110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模型主要學到的是最常見的敗訴結果。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D793E1-1C94-43A9-A3A9-D3F5978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下一步：拆解 Mixed 標籤、採用類別權重或重抽樣，並區分事實、理由與主文。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4556B5-2BE7-4B31-B04D-BDF66683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9F8524-F695-4F51-9BB8-6BA4D027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892023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14E754-DA8E-4215-8051-20F46DF7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研究價值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2ED2A07-47B2-4FC2-8E14-FB28FC57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模型輸出是分類，研究貢獻不只是一組標籤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FFA53-491A-42B1-9D26-2E6019A2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這是已完成判決的文本分類，不是事前預測個案勝敗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861D9-A2C6-4FB4-88D5-2F1AF6EC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F29DFA-9CBF-43E7-A76A-C14B894E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可用於：初步整理｜資料結構化｜樣本篩選｜案件分布掌握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AC5DA-D8E6-46C9-B1FA-F0756D95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1907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C0427C-393E-4E50-A738-4C5B6E1F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203C7-EB75-45D9-B745-5B5072DB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可重複流程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4D5812-7254-4EA0-B3DB-4929BE0C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建立智慧財產權判決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文本分類基準。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63A5B-D321-46B8-B179-41C53084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21907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5E6D1-9999-4035-9AD2-289733BF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86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1CDB9-926D-42E9-B606-62E8F3E9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0B14F-4B9D-4E3C-9EA0-EA9010C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005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四種案件適合的文字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表示並不相同。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279A6-555A-4983-A1E2-9D101B45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57500"/>
            <a:ext cx="21907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5807F-24AB-4D90-BCFD-267A45B1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86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219FFE-01FE-4322-B07E-BA85AFC6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強基準比較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CB2D83-52D7-4C8F-B50D-BFEC3068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005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Direct SVM 在四類案件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皆高於 MNIR 流程。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2BFDA2-E185-4468-897B-11B3BCAB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57500"/>
            <a:ext cx="21907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38C49-91E8-4B61-B406-881BF790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861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9B503-57ED-48F0-83EC-C7149BE4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評估的盲點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F3CB83-CC59-4842-85E0-6709B1A3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00500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不只追求 Accuracy；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還要處理少數類別與</a:t>
            </a:r>
          </a:p>
          <a:p xmlns:a="http://schemas.openxmlformats.org/drawingml/2006/main"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Mixed 的異質性。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947B86-1CB1-448E-841E-1687754D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研究提供後續法律文本研究在資料處理、模型比較與評估方式上的實證基礎。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EA87D-9FAC-4F27-A1BF-939BD6CB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4B9FE2-14FD-47EE-87D3-91173E5A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5047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E1F479-994D-42EB-BC25-C6A8BE71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結論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6DA4D-0EB2-490C-8E9F-57686AD7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810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判決文本</a:t>
            </a:r>
          </a:p>
          <a:p xmlns:a="http://schemas.openxmlformats.org/drawingml/2006/main">
            <a:pPr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確實會說話。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738B-E44F-471F-9515-35F3359D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但它說的是有條件的訊號。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858663-9BDF-4208-AB80-1D9680A9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44012-99B1-42F5-AB3C-1766FAEF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72A1B-CF3C-4D1D-AA54-ECB75DE7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不同案件需要不同文字表示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84470-A5AD-47F0-B502-2FD1B5D3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強基準必要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3564F-5E97-4165-923E-C183B44D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910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更複雜的流程不一定較佳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652F5-596E-4039-84B7-07E57369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少數類別不能被忽略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C9E055-E688-449B-9C10-5D823DE3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2006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整體準確率可能遮蔽失敗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2159E-27AB-490C-9886-1D9C9BFE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81100"/>
            <a:ext cx="329565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99556-AB5E-467A-977C-CB4B8308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研究回答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55714-E061-4B06-A382-C7C645AB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38350"/>
            <a:ext cx="238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詞彙分布</a:t>
            </a:r>
          </a:p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仍可留下</a:t>
            </a:r>
          </a:p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可辨識的</a:t>
            </a:r>
          </a:p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結果訊號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D74515-906C-4476-B780-8DE5A1A5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905250"/>
            <a:ext cx="219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CC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2BB832-4B9F-4243-8C67-5E45785F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後續導入深度學習或</a:t>
            </a:r>
          </a:p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預訓練語言模型時，</a:t>
            </a:r>
          </a:p>
          <a:p xmlns:a="http://schemas.openxmlformats.org/drawingml/2006/main"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可作為比較基礎。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EAEA6-00B5-400E-B1F0-61B61533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謝謝各位評審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03729-1AB5-43A8-829A-9CEC5D37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333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3D1DA-36A9-4B29-AC6B-96C09940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5795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032302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2026-08-21T12:22:51.7810000Z</dcterms:created>
  <dcterms:modified xsi:type="dcterms:W3CDTF">2026-08-21T12:22:51.7810000Z</dcterms:modified>
</coreProperties>
</file>