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>
        <p:scale>
          <a:sx n="100" d="100"/>
          <a:sy n="100" d="100"/>
        </p:scale>
        <p:origin x="7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96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6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261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19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35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849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860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01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64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87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126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TW" altLang="en-US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6924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517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9290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07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01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64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D97BE0E-B8E8-4337-AB64-BBF448E970CC}" type="datetimeFigureOut">
              <a:rPr lang="zh-TW" altLang="en-US" smtClean="0"/>
              <a:t>2026/4/23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DBD3-140A-4799-B59A-FACB71C1F1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6845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B2F43-917C-4065-AA77-46E5E7C5B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金融資料探勘</a:t>
            </a:r>
            <a:br>
              <a:rPr lang="zh-TW" altLang="zh-TW" dirty="0"/>
            </a:br>
            <a:br>
              <a:rPr lang="en-US" altLang="zh-TW" dirty="0"/>
            </a:br>
            <a:r>
              <a:rPr lang="zh-TW" altLang="zh-TW" sz="3600" dirty="0"/>
              <a:t>期中小組書面報告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07B18D-6396-412C-8092-4690D725E3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zh-TW" dirty="0"/>
              <a:t>第十一組 劉育佑</a:t>
            </a:r>
            <a:r>
              <a:rPr lang="en-US" altLang="zh-TW" dirty="0"/>
              <a:t> 411111220</a:t>
            </a:r>
            <a:r>
              <a:rPr lang="zh-TW" altLang="zh-TW" dirty="0"/>
              <a:t>負責年度</a:t>
            </a:r>
            <a:r>
              <a:rPr lang="en-US" altLang="zh-TW" dirty="0"/>
              <a:t>2020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9715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26E82-5A2D-411C-BA7F-818B0CB8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研究主題與研究動機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DE3EC8-5BE4-47FA-A907-898D25250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sz="2400" dirty="0"/>
              <a:t>隱含波動率（</a:t>
            </a:r>
            <a:r>
              <a:rPr lang="en-US" altLang="zh-TW" sz="2400" dirty="0"/>
              <a:t>Implied Volatility, IV</a:t>
            </a:r>
            <a:r>
              <a:rPr lang="zh-TW" altLang="zh-TW" sz="2400" dirty="0"/>
              <a:t>）為選擇權市場中最重要的風險預期指標之一，反映市場參與者對未來標的資產價格波動程度之預期。此外，買賣權比（</a:t>
            </a:r>
            <a:r>
              <a:rPr lang="en-US" altLang="zh-TW" sz="2400" dirty="0"/>
              <a:t>Put/Call Ratio, PCR</a:t>
            </a:r>
            <a:r>
              <a:rPr lang="zh-TW" altLang="zh-TW" sz="2400" dirty="0"/>
              <a:t>）則常被用來衡量市場多空情緒與避險需求。</a:t>
            </a:r>
          </a:p>
          <a:p>
            <a:pPr marL="0" indent="0">
              <a:buNone/>
            </a:pPr>
            <a:r>
              <a:rPr lang="zh-TW" altLang="zh-TW" sz="2400" dirty="0"/>
              <a:t>本研究以臺指選擇權（</a:t>
            </a:r>
            <a:r>
              <a:rPr lang="en-US" altLang="zh-TW" sz="2400" dirty="0"/>
              <a:t>TXO</a:t>
            </a:r>
            <a:r>
              <a:rPr lang="zh-TW" altLang="zh-TW" sz="2400" dirty="0"/>
              <a:t>）逐筆交易資料為基礎，針對看漲（</a:t>
            </a:r>
            <a:r>
              <a:rPr lang="en-US" altLang="zh-TW" sz="2400" dirty="0"/>
              <a:t>Call</a:t>
            </a:r>
            <a:r>
              <a:rPr lang="zh-TW" altLang="zh-TW" sz="2400" dirty="0"/>
              <a:t>）與看跌（</a:t>
            </a:r>
            <a:r>
              <a:rPr lang="en-US" altLang="zh-TW" sz="2400" dirty="0"/>
              <a:t>Put</a:t>
            </a:r>
            <a:r>
              <a:rPr lang="zh-TW" altLang="zh-TW" sz="2400" dirty="0"/>
              <a:t>）投資人之隱含波動率進行統計分析，並結合</a:t>
            </a:r>
            <a:r>
              <a:rPr lang="en-US" altLang="zh-TW" sz="2400" dirty="0"/>
              <a:t> PCR </a:t>
            </a:r>
            <a:r>
              <a:rPr lang="zh-TW" altLang="zh-TW" sz="2400" dirty="0"/>
              <a:t>指標進行整合解讀，期望達成以下目標：</a:t>
            </a:r>
          </a:p>
          <a:p>
            <a:pPr marL="0" lvl="0" indent="0">
              <a:buNone/>
            </a:pPr>
            <a:r>
              <a:rPr lang="zh-TW" altLang="zh-TW" sz="2400" dirty="0"/>
              <a:t>探討市場對未來波動之預期差異 </a:t>
            </a:r>
            <a:r>
              <a:rPr lang="zh-TW" altLang="en-US" sz="2400" dirty="0"/>
              <a:t>、</a:t>
            </a:r>
            <a:r>
              <a:rPr lang="zh-TW" altLang="zh-TW" sz="2400" dirty="0"/>
              <a:t>分析多空投資人對風險的評價 </a:t>
            </a:r>
            <a:r>
              <a:rPr lang="zh-TW" altLang="en-US" sz="2400" dirty="0"/>
              <a:t>、</a:t>
            </a:r>
            <a:r>
              <a:rPr lang="zh-TW" altLang="zh-TW" sz="2400" dirty="0"/>
              <a:t>衡量市場不確定性與投資人分歧程度 </a:t>
            </a:r>
            <a:r>
              <a:rPr lang="zh-TW" altLang="en-US" sz="2400" dirty="0"/>
              <a:t>、</a:t>
            </a:r>
            <a:r>
              <a:rPr lang="zh-TW" altLang="zh-TW" sz="2400" dirty="0"/>
              <a:t>建立</a:t>
            </a:r>
            <a:r>
              <a:rPr lang="en-US" altLang="zh-TW" sz="2400" dirty="0"/>
              <a:t> IV </a:t>
            </a:r>
            <a:r>
              <a:rPr lang="zh-TW" altLang="zh-TW" sz="2400" dirty="0"/>
              <a:t>與</a:t>
            </a:r>
            <a:r>
              <a:rPr lang="en-US" altLang="zh-TW" sz="2400" dirty="0"/>
              <a:t> PCR </a:t>
            </a:r>
            <a:r>
              <a:rPr lang="zh-TW" altLang="zh-TW" sz="2400" dirty="0"/>
              <a:t>的整合分析框架</a:t>
            </a: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9790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39C19-918D-4AC2-838A-E007D3C8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資料來源與樣本說明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44EF07-CCFB-4251-A747-8DAE3B2DD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04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sz="2400" dirty="0"/>
              <a:t>本研究使用以下資料：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臺指選擇權逐筆交易資料（</a:t>
            </a:r>
            <a:r>
              <a:rPr lang="en-US" altLang="zh-TW" sz="2400" dirty="0"/>
              <a:t>TXO</a:t>
            </a:r>
            <a:r>
              <a:rPr lang="zh-TW" altLang="zh-TW" sz="2400" dirty="0"/>
              <a:t>） </a:t>
            </a:r>
            <a:r>
              <a:rPr lang="en-US" altLang="zh-TW" sz="2400" dirty="0"/>
              <a:t>(</a:t>
            </a:r>
            <a:r>
              <a:rPr lang="zh-TW" altLang="en-US" sz="2400" b="1" dirty="0"/>
              <a:t>臺灣期貨交易所</a:t>
            </a:r>
            <a:r>
              <a:rPr lang="en-US" altLang="zh-TW" sz="2400" dirty="0"/>
              <a:t>)</a:t>
            </a:r>
            <a:endParaRPr lang="zh-TW" altLang="zh-TW" sz="2400" dirty="0"/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標的指數價格（</a:t>
            </a:r>
            <a:r>
              <a:rPr lang="en-US" altLang="zh-TW" sz="2400" dirty="0"/>
              <a:t>S0</a:t>
            </a:r>
            <a:r>
              <a:rPr lang="zh-TW" altLang="zh-TW" sz="2400" dirty="0"/>
              <a:t>）</a:t>
            </a:r>
            <a:r>
              <a:rPr lang="en-US" altLang="zh-TW" sz="2400" dirty="0"/>
              <a:t>(</a:t>
            </a:r>
            <a:r>
              <a:rPr lang="en-US" altLang="zh-TW" sz="2400" b="1" dirty="0"/>
              <a:t>TEJ</a:t>
            </a:r>
            <a:r>
              <a:rPr lang="zh-TW" altLang="en-US" sz="2400" b="1" dirty="0"/>
              <a:t>台灣經濟新報</a:t>
            </a:r>
            <a:r>
              <a:rPr lang="en-US" altLang="zh-TW" sz="2400" dirty="0"/>
              <a:t>)</a:t>
            </a:r>
            <a:r>
              <a:rPr lang="zh-TW" altLang="zh-TW" sz="2400" dirty="0"/>
              <a:t> 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無風險利率（</a:t>
            </a:r>
            <a:r>
              <a:rPr lang="en-US" altLang="zh-TW" sz="2400" dirty="0"/>
              <a:t>Rf</a:t>
            </a:r>
            <a:r>
              <a:rPr lang="zh-TW" altLang="zh-TW" sz="2400" dirty="0"/>
              <a:t>） </a:t>
            </a:r>
            <a:r>
              <a:rPr lang="en-US" altLang="zh-TW" sz="2400" dirty="0"/>
              <a:t>(</a:t>
            </a:r>
            <a:r>
              <a:rPr lang="zh-TW" altLang="en-US" sz="2400" b="1" dirty="0"/>
              <a:t>新臺幣存</a:t>
            </a:r>
            <a:r>
              <a:rPr lang="en-US" altLang="zh-TW" sz="2400" b="1" dirty="0"/>
              <a:t>(</a:t>
            </a:r>
            <a:r>
              <a:rPr lang="zh-TW" altLang="en-US" sz="2400" b="1" dirty="0"/>
              <a:t>放</a:t>
            </a:r>
            <a:r>
              <a:rPr lang="en-US" altLang="zh-TW" sz="2400" b="1" dirty="0"/>
              <a:t>)</a:t>
            </a:r>
            <a:r>
              <a:rPr lang="zh-TW" altLang="en-US" sz="2400" b="1" dirty="0"/>
              <a:t>款牌告利率 </a:t>
            </a:r>
            <a:r>
              <a:rPr lang="en-US" altLang="zh-TW" sz="2400" b="1" dirty="0"/>
              <a:t>- </a:t>
            </a:r>
            <a:r>
              <a:rPr lang="zh-TW" altLang="en-US" sz="2400" b="1" dirty="0"/>
              <a:t>匯率</a:t>
            </a:r>
            <a:r>
              <a:rPr lang="en-US" altLang="zh-TW" sz="2400" b="1" dirty="0"/>
              <a:t>- </a:t>
            </a:r>
            <a:r>
              <a:rPr lang="zh-TW" altLang="en-US" sz="2400" b="1" dirty="0"/>
              <a:t>臺灣銀行</a:t>
            </a:r>
            <a:r>
              <a:rPr lang="en-US" altLang="zh-TW" sz="2400" dirty="0"/>
              <a:t>)</a:t>
            </a:r>
          </a:p>
          <a:p>
            <a:pPr mar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en-US" altLang="zh-TW" sz="2400" dirty="0"/>
              <a:t>(</a:t>
            </a:r>
            <a:r>
              <a:rPr lang="zh-TW" altLang="zh-TW" sz="2400" dirty="0"/>
              <a:t>選擇權逐筆交易資料</a:t>
            </a:r>
            <a:r>
              <a:rPr lang="en-US" altLang="zh-TW" sz="2400" dirty="0"/>
              <a:t>)</a:t>
            </a:r>
            <a:r>
              <a:rPr lang="zh-TW" altLang="zh-TW" sz="2400" dirty="0"/>
              <a:t>採用以下篩選原則：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排除無法反推</a:t>
            </a:r>
            <a:r>
              <a:rPr lang="en-US" altLang="zh-TW" sz="2400" dirty="0"/>
              <a:t> IV </a:t>
            </a:r>
            <a:r>
              <a:rPr lang="zh-TW" altLang="zh-TW" sz="2400" dirty="0"/>
              <a:t>的交易 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排除成交量過低樣本</a:t>
            </a:r>
            <a:endParaRPr lang="zh-TW" altLang="en-US" sz="2400" dirty="0"/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7757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439C19-918D-4AC2-838A-E007D3C8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資料來源與樣本說明</a:t>
            </a:r>
            <a:endParaRPr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44EF07-CCFB-4251-A747-8DAE3B2DD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046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zh-TW" sz="2400" b="1" dirty="0"/>
              <a:t>資料處理流程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整合逐筆交易資料 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計算到期時間（</a:t>
            </a:r>
            <a:r>
              <a:rPr lang="en-US" altLang="zh-TW" sz="2400" dirty="0"/>
              <a:t>Maturity</a:t>
            </a:r>
            <a:r>
              <a:rPr lang="zh-TW" altLang="zh-TW" sz="2400" dirty="0"/>
              <a:t>） 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套用選擇權定價模型反推</a:t>
            </a:r>
            <a:r>
              <a:rPr lang="en-US" altLang="zh-TW" sz="2400" dirty="0"/>
              <a:t> IV </a:t>
            </a:r>
            <a:endParaRPr lang="zh-TW" altLang="zh-TW" sz="2400" dirty="0"/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依</a:t>
            </a:r>
            <a:r>
              <a:rPr lang="en-US" altLang="zh-TW" sz="2400" dirty="0"/>
              <a:t> Call / Put </a:t>
            </a:r>
            <a:r>
              <a:rPr lang="zh-TW" altLang="zh-TW" sz="2400" dirty="0"/>
              <a:t>分類投資人 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以「日」為單位進行統計： </a:t>
            </a:r>
          </a:p>
          <a:p>
            <a:pPr marL="457200" lvl="1" indent="0">
              <a:buNone/>
            </a:pPr>
            <a:r>
              <a:rPr lang="en-US" altLang="zh-TW" sz="2400" dirty="0"/>
              <a:t>		IV </a:t>
            </a:r>
            <a:r>
              <a:rPr lang="zh-TW" altLang="zh-TW" sz="2400" dirty="0"/>
              <a:t>平均數 </a:t>
            </a:r>
            <a:endParaRPr lang="en-US" altLang="zh-TW" sz="2400" dirty="0"/>
          </a:p>
          <a:p>
            <a:pPr marL="457200" lvl="1" indent="0">
              <a:buNone/>
            </a:pPr>
            <a:r>
              <a:rPr lang="en-US" altLang="zh-TW" sz="2400" dirty="0"/>
              <a:t>		IV </a:t>
            </a:r>
            <a:r>
              <a:rPr lang="zh-TW" altLang="zh-TW" sz="2400" dirty="0"/>
              <a:t>樣本標準差 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計算每日</a:t>
            </a:r>
            <a:r>
              <a:rPr lang="en-US" altLang="zh-TW" sz="2400" dirty="0"/>
              <a:t> PCR</a:t>
            </a:r>
            <a:endParaRPr lang="zh-TW" altLang="zh-TW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A8F2BB-AB79-4BC6-8358-D5935117E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133" y="0"/>
            <a:ext cx="43408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1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FABC9C7-6870-41CA-B990-9325CDADC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b="1" dirty="0"/>
              <a:t>1 </a:t>
            </a:r>
            <a:r>
              <a:rPr lang="zh-TW" altLang="zh-TW" b="1" dirty="0"/>
              <a:t>隱含波動率（</a:t>
            </a:r>
            <a:r>
              <a:rPr lang="en-US" altLang="zh-TW" b="1" dirty="0"/>
              <a:t>IV</a:t>
            </a:r>
            <a:r>
              <a:rPr lang="zh-TW" altLang="zh-TW" b="1" dirty="0"/>
              <a:t>）</a:t>
            </a:r>
            <a:r>
              <a:rPr lang="zh-TW" altLang="zh-TW" dirty="0"/>
              <a:t>隱含波動率為使選擇權市場價格等於理論價格之波動率，透過</a:t>
            </a:r>
            <a:r>
              <a:rPr lang="en-US" altLang="zh-TW" dirty="0"/>
              <a:t> Black-Scholes </a:t>
            </a:r>
            <a:r>
              <a:rPr lang="zh-TW" altLang="zh-TW" dirty="0"/>
              <a:t>模型反推求得。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看漲投資人</a:t>
            </a:r>
            <a:r>
              <a:rPr lang="en-US" altLang="zh-TW" dirty="0"/>
              <a:t> IV</a:t>
            </a:r>
            <a:r>
              <a:rPr lang="zh-TW" altLang="zh-TW" dirty="0"/>
              <a:t>（</a:t>
            </a:r>
            <a:r>
              <a:rPr lang="en-US" altLang="zh-TW" dirty="0"/>
              <a:t>Call IV</a:t>
            </a:r>
            <a:r>
              <a:rPr lang="zh-TW" altLang="zh-TW" dirty="0"/>
              <a:t>）：反映市場對上漲波動的預期 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看跌投資人</a:t>
            </a:r>
            <a:r>
              <a:rPr lang="en-US" altLang="zh-TW" dirty="0"/>
              <a:t> IV</a:t>
            </a:r>
            <a:r>
              <a:rPr lang="zh-TW" altLang="zh-TW" dirty="0"/>
              <a:t>（</a:t>
            </a:r>
            <a:r>
              <a:rPr lang="en-US" altLang="zh-TW" dirty="0"/>
              <a:t>Put IV</a:t>
            </a:r>
            <a:r>
              <a:rPr lang="zh-TW" altLang="zh-TW" dirty="0"/>
              <a:t>）：反映市場對下跌風險的評價 </a:t>
            </a:r>
          </a:p>
          <a:p>
            <a:pPr marL="0" indent="0">
              <a:buNone/>
            </a:pPr>
            <a:r>
              <a:rPr lang="en-US" altLang="zh-TW" b="1" dirty="0"/>
              <a:t>2 </a:t>
            </a:r>
            <a:r>
              <a:rPr lang="zh-TW" altLang="zh-TW" b="1" dirty="0"/>
              <a:t>平均數（</a:t>
            </a:r>
            <a:r>
              <a:rPr lang="en-US" altLang="zh-TW" b="1" dirty="0"/>
              <a:t>Mean</a:t>
            </a:r>
            <a:r>
              <a:rPr lang="zh-TW" altLang="zh-TW" b="1" dirty="0"/>
              <a:t>）</a:t>
            </a:r>
            <a:r>
              <a:rPr lang="zh-TW" altLang="zh-TW" dirty="0"/>
              <a:t>每日</a:t>
            </a:r>
            <a:r>
              <a:rPr lang="en-US" altLang="zh-TW" dirty="0"/>
              <a:t> IV </a:t>
            </a:r>
            <a:r>
              <a:rPr lang="zh-TW" altLang="zh-TW" dirty="0"/>
              <a:t>平均數定義為：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衡量市場整體預期水準 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作為中央趨勢指標 </a:t>
            </a:r>
          </a:p>
          <a:p>
            <a:pPr marL="0" indent="0">
              <a:buNone/>
            </a:pPr>
            <a:r>
              <a:rPr lang="en-US" altLang="zh-TW" b="1" dirty="0"/>
              <a:t>3 </a:t>
            </a:r>
            <a:r>
              <a:rPr lang="zh-TW" altLang="zh-TW" b="1" dirty="0"/>
              <a:t>樣本標準差（</a:t>
            </a:r>
            <a:r>
              <a:rPr lang="en-US" altLang="zh-TW" b="1" dirty="0"/>
              <a:t>Sample Standard Deviation</a:t>
            </a:r>
            <a:r>
              <a:rPr lang="zh-TW" altLang="zh-TW" b="1" dirty="0"/>
              <a:t>）</a:t>
            </a:r>
            <a:r>
              <a:rPr lang="zh-TW" altLang="zh-TW" dirty="0"/>
              <a:t>用以衡量同日</a:t>
            </a:r>
            <a:r>
              <a:rPr lang="en-US" altLang="zh-TW" dirty="0"/>
              <a:t> IV </a:t>
            </a:r>
            <a:r>
              <a:rPr lang="zh-TW" altLang="zh-TW" dirty="0"/>
              <a:t>的離散程度：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數值越大</a:t>
            </a:r>
            <a:r>
              <a:rPr lang="en-US" altLang="zh-TW" dirty="0"/>
              <a:t> → </a:t>
            </a:r>
            <a:r>
              <a:rPr lang="zh-TW" altLang="zh-TW" dirty="0"/>
              <a:t>投資人意見越分歧 </a:t>
            </a:r>
          </a:p>
          <a:p>
            <a:pPr marL="0" lvl="0" indent="0">
              <a:buNone/>
            </a:pPr>
            <a:r>
              <a:rPr lang="en-US" altLang="zh-TW" dirty="0"/>
              <a:t>	</a:t>
            </a:r>
            <a:r>
              <a:rPr lang="zh-TW" altLang="zh-TW" dirty="0"/>
              <a:t>數值越小</a:t>
            </a:r>
            <a:r>
              <a:rPr lang="en-US" altLang="zh-TW" dirty="0"/>
              <a:t> → </a:t>
            </a:r>
            <a:r>
              <a:rPr lang="zh-TW" altLang="zh-TW" dirty="0"/>
              <a:t>市場共識較一致</a:t>
            </a:r>
          </a:p>
          <a:p>
            <a:pPr marL="0" indent="0">
              <a:buNone/>
            </a:pPr>
            <a:r>
              <a:rPr lang="en-US" altLang="zh-TW" b="1" dirty="0"/>
              <a:t>4 Put/Call Ratio</a:t>
            </a:r>
            <a:r>
              <a:rPr lang="zh-TW" altLang="zh-TW" b="1" dirty="0"/>
              <a:t>（</a:t>
            </a:r>
            <a:r>
              <a:rPr lang="en-US" altLang="zh-TW" b="1" dirty="0"/>
              <a:t>PCR</a:t>
            </a:r>
            <a:r>
              <a:rPr lang="zh-TW" altLang="zh-TW" b="1" dirty="0"/>
              <a:t>）</a:t>
            </a:r>
            <a:endParaRPr lang="zh-TW" altLang="zh-TW" dirty="0"/>
          </a:p>
          <a:p>
            <a:pPr marL="0" lvl="0" indent="0">
              <a:buNone/>
            </a:pPr>
            <a:r>
              <a:rPr lang="en-US" altLang="zh-TW" dirty="0"/>
              <a:t>	PCR &gt; 1</a:t>
            </a:r>
            <a:r>
              <a:rPr lang="zh-TW" altLang="zh-TW" dirty="0"/>
              <a:t>：市場偏空（避險需求高） </a:t>
            </a:r>
          </a:p>
          <a:p>
            <a:pPr marL="0" lvl="0" indent="0">
              <a:buNone/>
            </a:pPr>
            <a:r>
              <a:rPr lang="en-US" altLang="zh-TW" dirty="0"/>
              <a:t>	PCR &lt; 1</a:t>
            </a:r>
            <a:r>
              <a:rPr lang="zh-TW" altLang="zh-TW" dirty="0"/>
              <a:t>：市場偏多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110733-060B-4645-AEBD-194DAE6C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422" y="4875927"/>
            <a:ext cx="2446118" cy="702752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2EB6C95-277D-45A8-90C3-09699D9D1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指標定義與統計方法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198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A33F4-097C-438B-B7CE-A78EF2A3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實證結果與分析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960A1-6594-448F-83D8-431D59F7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752983"/>
            <a:ext cx="8946541" cy="1495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800" b="1" dirty="0"/>
              <a:t>IV </a:t>
            </a:r>
            <a:r>
              <a:rPr lang="zh-TW" altLang="zh-TW" sz="1800" b="1" dirty="0"/>
              <a:t>平均數分析</a:t>
            </a:r>
          </a:p>
          <a:p>
            <a:pPr marL="0" indent="0">
              <a:buNone/>
            </a:pPr>
            <a:r>
              <a:rPr lang="en-US" altLang="zh-TW" sz="1800" dirty="0"/>
              <a:t>	</a:t>
            </a:r>
            <a:r>
              <a:rPr lang="zh-TW" altLang="zh-TW" sz="1800" dirty="0"/>
              <a:t>研究結果顯示，在多數交易日中：</a:t>
            </a:r>
          </a:p>
          <a:p>
            <a:pPr marL="0" lvl="0" indent="0">
              <a:buNone/>
            </a:pPr>
            <a:r>
              <a:rPr lang="en-US" altLang="zh-TW" sz="1800" dirty="0"/>
              <a:t>	</a:t>
            </a:r>
            <a:r>
              <a:rPr lang="zh-TW" altLang="zh-TW" sz="1800" dirty="0"/>
              <a:t>看跌投資人</a:t>
            </a:r>
            <a:r>
              <a:rPr lang="en-US" altLang="zh-TW" sz="1800" dirty="0"/>
              <a:t> IV </a:t>
            </a:r>
            <a:r>
              <a:rPr lang="zh-TW" altLang="zh-TW" sz="1800" dirty="0"/>
              <a:t>平均數普遍高於看漲投資人 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📌 </a:t>
            </a:r>
            <a:r>
              <a:rPr lang="zh-TW" altLang="zh-TW" sz="1800" b="1" dirty="0"/>
              <a:t>解讀：</a:t>
            </a:r>
            <a:br>
              <a:rPr lang="en-US" altLang="zh-TW" sz="1800" dirty="0"/>
            </a:br>
            <a:r>
              <a:rPr lang="zh-TW" altLang="zh-TW" sz="1800" dirty="0"/>
              <a:t>此現象代表市場對「下跌風險」賦予較高的風險溢酬，顯示投資人普遍較重視下行風險，並願意支付較高成本進行避險。</a:t>
            </a:r>
          </a:p>
        </p:txBody>
      </p:sp>
      <p:pic>
        <p:nvPicPr>
          <p:cNvPr id="5" name="圖片 4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76433C6B-4FFE-048B-A0B7-75D26A445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152983"/>
            <a:ext cx="7199999" cy="360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7ECB828-A44C-DD24-39A8-232DA52AF2BD}"/>
              </a:ext>
            </a:extLst>
          </p:cNvPr>
          <p:cNvSpPr txBox="1"/>
          <p:nvPr/>
        </p:nvSpPr>
        <p:spPr>
          <a:xfrm>
            <a:off x="5400675" y="0"/>
            <a:ext cx="6791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</a:t>
            </a:r>
            <a:r>
              <a:rPr lang="zh-TW" altLang="en-US" sz="1600" dirty="0"/>
              <a:t>月</a:t>
            </a:r>
            <a:r>
              <a:rPr lang="en-US" altLang="zh-TW" sz="1600" dirty="0"/>
              <a:t>11</a:t>
            </a:r>
            <a:r>
              <a:rPr lang="zh-TW" altLang="en-US" sz="1600" dirty="0"/>
              <a:t>日：世界衛生組織宣佈，</a:t>
            </a:r>
            <a:r>
              <a:rPr lang="en-US" altLang="zh-TW" sz="1600" dirty="0"/>
              <a:t>COVID-19</a:t>
            </a:r>
            <a:r>
              <a:rPr lang="zh-TW" altLang="en-US" sz="1600" dirty="0"/>
              <a:t>疫情的爆發已經構成全球性「大流行」。目前席捲至少</a:t>
            </a:r>
            <a:r>
              <a:rPr lang="en-US" altLang="zh-TW" sz="1600" dirty="0"/>
              <a:t>114</a:t>
            </a:r>
            <a:r>
              <a:rPr lang="zh-TW" altLang="en-US" sz="1600" dirty="0"/>
              <a:t>個國家和地區，導致</a:t>
            </a:r>
            <a:r>
              <a:rPr lang="en-US" altLang="zh-TW" sz="1600" dirty="0"/>
              <a:t>4000</a:t>
            </a:r>
            <a:r>
              <a:rPr lang="zh-TW" altLang="en-US" sz="1600" dirty="0"/>
              <a:t>餘人死亡。</a:t>
            </a:r>
            <a:endParaRPr lang="en-US" altLang="zh-TW" sz="1600" dirty="0"/>
          </a:p>
          <a:p>
            <a:r>
              <a:rPr lang="en-US" altLang="zh-TW" sz="1600" dirty="0"/>
              <a:t>3</a:t>
            </a:r>
            <a:r>
              <a:rPr lang="zh-TW" altLang="en-US" sz="1600" dirty="0"/>
              <a:t>月</a:t>
            </a:r>
            <a:r>
              <a:rPr lang="en-US" altLang="zh-TW" sz="1600" dirty="0"/>
              <a:t>12</a:t>
            </a:r>
            <a:r>
              <a:rPr lang="zh-TW" altLang="en-US" sz="1600" dirty="0"/>
              <a:t>日：美國道瓊指數創</a:t>
            </a:r>
            <a:r>
              <a:rPr lang="en-US" altLang="zh-TW" sz="1600" dirty="0"/>
              <a:t>1987</a:t>
            </a:r>
            <a:r>
              <a:rPr lang="zh-TW" altLang="en-US" sz="1600" dirty="0"/>
              <a:t>年以來最大跌幅及史上最大跌點。史坦普</a:t>
            </a:r>
            <a:r>
              <a:rPr lang="en-US" altLang="zh-TW" sz="1600" dirty="0"/>
              <a:t>500</a:t>
            </a:r>
            <a:r>
              <a:rPr lang="zh-TW" altLang="en-US" sz="1600" dirty="0"/>
              <a:t>指數也一起跌入熊市。那斯達克指數也是</a:t>
            </a:r>
            <a:r>
              <a:rPr lang="en-US" altLang="zh-TW" sz="1600" dirty="0"/>
              <a:t>1987</a:t>
            </a:r>
            <a:r>
              <a:rPr lang="zh-TW" altLang="en-US" sz="1600" dirty="0"/>
              <a:t>年來最大單日跌幅。</a:t>
            </a:r>
          </a:p>
        </p:txBody>
      </p:sp>
    </p:spTree>
    <p:extLst>
      <p:ext uri="{BB962C8B-B14F-4D97-AF65-F5344CB8AC3E}">
        <p14:creationId xmlns:p14="http://schemas.microsoft.com/office/powerpoint/2010/main" val="1246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A33F4-097C-438B-B7CE-A78EF2A3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實證結果與分析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960A1-6594-448F-83D8-431D59F7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752983"/>
            <a:ext cx="8946541" cy="1495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800" b="1" dirty="0"/>
              <a:t>IV </a:t>
            </a:r>
            <a:r>
              <a:rPr lang="zh-TW" altLang="zh-TW" sz="1800" b="1" dirty="0"/>
              <a:t>標準差分析</a:t>
            </a:r>
          </a:p>
          <a:p>
            <a:pPr marL="0" indent="0">
              <a:buNone/>
            </a:pPr>
            <a:r>
              <a:rPr lang="en-US" altLang="zh-TW" sz="1800" dirty="0"/>
              <a:t>	</a:t>
            </a:r>
            <a:r>
              <a:rPr lang="zh-TW" altLang="zh-TW" sz="1800" dirty="0"/>
              <a:t>結果顯示：</a:t>
            </a:r>
          </a:p>
          <a:p>
            <a:pPr marL="0" lvl="0" indent="0">
              <a:buNone/>
            </a:pPr>
            <a:r>
              <a:rPr lang="en-US" altLang="zh-TW" sz="1800" dirty="0"/>
              <a:t>	</a:t>
            </a:r>
            <a:r>
              <a:rPr lang="zh-TW" altLang="zh-TW" sz="1800" dirty="0"/>
              <a:t>看跌</a:t>
            </a:r>
            <a:r>
              <a:rPr lang="en-US" altLang="zh-TW" sz="1800" dirty="0"/>
              <a:t> IV </a:t>
            </a:r>
            <a:r>
              <a:rPr lang="zh-TW" altLang="zh-TW" sz="1800" dirty="0"/>
              <a:t>標準差普遍較高 </a:t>
            </a:r>
          </a:p>
          <a:p>
            <a:pPr marL="0" indent="0">
              <a:buNone/>
            </a:pPr>
            <a:r>
              <a:rPr lang="en-US" altLang="zh-TW" sz="1800" dirty="0"/>
              <a:t>📌 </a:t>
            </a:r>
            <a:r>
              <a:rPr lang="zh-TW" altLang="zh-TW" sz="1800" b="1" dirty="0"/>
              <a:t>解讀：</a:t>
            </a:r>
            <a:br>
              <a:rPr lang="en-US" altLang="zh-TW" sz="1800" dirty="0"/>
            </a:br>
            <a:r>
              <a:rPr lang="en-US" altLang="zh-TW" sz="1800" dirty="0"/>
              <a:t>	</a:t>
            </a:r>
            <a:r>
              <a:rPr lang="zh-TW" altLang="zh-TW" sz="1800" dirty="0"/>
              <a:t>市場對未來風險的看法存在較大分歧，尤其在不確定性提高時（如重大事件期間），</a:t>
            </a:r>
            <a:r>
              <a:rPr lang="en-US" altLang="zh-TW" sz="1800" dirty="0"/>
              <a:t>	</a:t>
            </a:r>
            <a:r>
              <a:rPr lang="zh-TW" altLang="zh-TW" sz="1800" dirty="0"/>
              <a:t>投資人對風險評價差異更為明顯。</a:t>
            </a:r>
          </a:p>
        </p:txBody>
      </p:sp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7AD038B2-33E4-0B9A-7054-DEA33A983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152983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7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A33F4-097C-438B-B7CE-A78EF2A3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實證結果與分析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960A1-6594-448F-83D8-431D59F7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752983"/>
            <a:ext cx="8946541" cy="1495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1800" b="1" dirty="0"/>
              <a:t>PCR </a:t>
            </a:r>
            <a:r>
              <a:rPr lang="zh-TW" altLang="zh-TW" sz="1800" b="1" dirty="0"/>
              <a:t>分析</a:t>
            </a:r>
          </a:p>
          <a:p>
            <a:pPr marL="0" indent="0">
              <a:buNone/>
            </a:pPr>
            <a:r>
              <a:rPr lang="en-US" altLang="zh-TW" sz="1800" dirty="0"/>
              <a:t>	PCR </a:t>
            </a:r>
            <a:r>
              <a:rPr lang="zh-TW" altLang="zh-TW" sz="1800" dirty="0"/>
              <a:t>呈現顯著波動，部分期間出現：</a:t>
            </a:r>
          </a:p>
          <a:p>
            <a:pPr marL="0" lvl="0" indent="0">
              <a:buNone/>
            </a:pPr>
            <a:r>
              <a:rPr lang="en-US" altLang="zh-TW" sz="1800" dirty="0"/>
              <a:t>	PCR </a:t>
            </a:r>
            <a:r>
              <a:rPr lang="zh-TW" altLang="zh-TW" sz="1800" dirty="0"/>
              <a:t>顯著高於</a:t>
            </a:r>
            <a:r>
              <a:rPr lang="en-US" altLang="zh-TW" sz="1800" dirty="0"/>
              <a:t> 1 → </a:t>
            </a:r>
            <a:r>
              <a:rPr lang="zh-TW" altLang="zh-TW" sz="1800" dirty="0"/>
              <a:t>偏空情緒 </a:t>
            </a:r>
            <a:r>
              <a:rPr lang="en-US" altLang="zh-TW" sz="1800" dirty="0"/>
              <a:t>	PCR </a:t>
            </a:r>
            <a:r>
              <a:rPr lang="zh-TW" altLang="zh-TW" sz="1800" dirty="0"/>
              <a:t>低於</a:t>
            </a:r>
            <a:r>
              <a:rPr lang="en-US" altLang="zh-TW" sz="1800" dirty="0"/>
              <a:t> 1 → </a:t>
            </a:r>
            <a:r>
              <a:rPr lang="zh-TW" altLang="zh-TW" sz="1800" dirty="0"/>
              <a:t>偏多情緒 </a:t>
            </a:r>
          </a:p>
          <a:p>
            <a:pPr marL="0" indent="0">
              <a:buNone/>
            </a:pPr>
            <a:r>
              <a:rPr lang="en-US" altLang="zh-TW" sz="1800" dirty="0"/>
              <a:t>📌 </a:t>
            </a:r>
            <a:r>
              <a:rPr lang="zh-TW" altLang="zh-TW" sz="1800" b="1" dirty="0"/>
              <a:t>解讀：</a:t>
            </a:r>
            <a:br>
              <a:rPr lang="en-US" altLang="zh-TW" sz="1800" dirty="0"/>
            </a:br>
            <a:r>
              <a:rPr lang="en-US" altLang="zh-TW" sz="1800" dirty="0"/>
              <a:t>	</a:t>
            </a:r>
            <a:r>
              <a:rPr lang="zh-TW" altLang="en-US" sz="1800" dirty="0"/>
              <a:t>通常 </a:t>
            </a:r>
            <a:r>
              <a:rPr lang="en-US" altLang="zh-TW" sz="1800" dirty="0"/>
              <a:t>PCR &gt; 1 </a:t>
            </a:r>
            <a:r>
              <a:rPr lang="zh-TW" altLang="en-US" sz="1800" dirty="0"/>
              <a:t>代表看跌情緒較重或避險需求增加</a:t>
            </a:r>
            <a:r>
              <a:rPr lang="zh-TW" altLang="zh-TW" sz="1800" dirty="0"/>
              <a:t>。</a:t>
            </a:r>
          </a:p>
        </p:txBody>
      </p:sp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34315AFA-182B-FC23-3485-8B4C3B55A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152983"/>
            <a:ext cx="72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A33F4-097C-438B-B7CE-A78EF2A3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實證結果與分析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960A1-6594-448F-83D8-431D59F71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TW" altLang="zh-TW" sz="1400" b="1" dirty="0"/>
              <a:t>情境一：</a:t>
            </a:r>
          </a:p>
          <a:p>
            <a:pPr marL="0" lvl="0" indent="0">
              <a:buNone/>
            </a:pPr>
            <a:r>
              <a:rPr lang="en-US" altLang="zh-TW" sz="1400" dirty="0"/>
              <a:t>	Put IV ↑ </a:t>
            </a:r>
            <a:endParaRPr lang="zh-TW" altLang="zh-TW" sz="1400" dirty="0"/>
          </a:p>
          <a:p>
            <a:pPr marL="0" lvl="0" indent="0">
              <a:buNone/>
            </a:pPr>
            <a:r>
              <a:rPr lang="en-US" altLang="zh-TW" sz="1400" dirty="0"/>
              <a:t>	PCR ↑ </a:t>
            </a:r>
            <a:endParaRPr lang="zh-TW" altLang="zh-TW" sz="1400" dirty="0"/>
          </a:p>
          <a:p>
            <a:pPr marL="0" indent="0">
              <a:buNone/>
            </a:pPr>
            <a:r>
              <a:rPr lang="en-US" altLang="zh-TW" sz="1400" dirty="0"/>
              <a:t>	👉 </a:t>
            </a:r>
            <a:r>
              <a:rPr lang="zh-TW" altLang="zh-TW" sz="1400" dirty="0"/>
              <a:t>表示市場：對下跌風險定價上升</a:t>
            </a:r>
            <a:r>
              <a:rPr lang="zh-TW" altLang="en-US" sz="1400" dirty="0"/>
              <a:t>，</a:t>
            </a:r>
            <a:r>
              <a:rPr lang="zh-TW" altLang="zh-TW" sz="1400" dirty="0"/>
              <a:t>避險需求增加 </a:t>
            </a:r>
          </a:p>
          <a:p>
            <a:pPr marL="0" indent="0">
              <a:buNone/>
            </a:pPr>
            <a:r>
              <a:rPr lang="zh-TW" altLang="zh-TW" sz="1400" b="1" dirty="0"/>
              <a:t>情境二：</a:t>
            </a:r>
          </a:p>
          <a:p>
            <a:pPr marL="0" lvl="0" indent="0">
              <a:buNone/>
            </a:pPr>
            <a:r>
              <a:rPr lang="en-US" altLang="zh-TW" sz="1400" dirty="0"/>
              <a:t>	Put IV </a:t>
            </a:r>
            <a:r>
              <a:rPr lang="zh-TW" altLang="zh-TW" sz="1400" dirty="0"/>
              <a:t>標準差</a:t>
            </a:r>
            <a:r>
              <a:rPr lang="en-US" altLang="zh-TW" sz="1400" dirty="0"/>
              <a:t> ↑ </a:t>
            </a:r>
            <a:endParaRPr lang="zh-TW" altLang="zh-TW" sz="1400" dirty="0"/>
          </a:p>
          <a:p>
            <a:pPr marL="0" indent="0">
              <a:buNone/>
            </a:pPr>
            <a:r>
              <a:rPr lang="en-US" altLang="zh-TW" sz="1400" dirty="0"/>
              <a:t>	👉 </a:t>
            </a:r>
            <a:r>
              <a:rPr lang="zh-TW" altLang="zh-TW" sz="1400" dirty="0"/>
              <a:t>表示：市場不確定性上升</a:t>
            </a:r>
            <a:r>
              <a:rPr lang="zh-TW" altLang="en-US" sz="1400" dirty="0"/>
              <a:t>，</a:t>
            </a:r>
            <a:r>
              <a:rPr lang="zh-TW" altLang="zh-TW" sz="1400" dirty="0"/>
              <a:t>投資人對風險評價分歧 </a:t>
            </a:r>
          </a:p>
          <a:p>
            <a:pPr marL="0" indent="0">
              <a:buNone/>
            </a:pPr>
            <a:r>
              <a:rPr lang="zh-TW" altLang="zh-TW" sz="1400" b="1" dirty="0"/>
              <a:t>情境三：</a:t>
            </a:r>
          </a:p>
          <a:p>
            <a:pPr marL="0" lvl="0" indent="0">
              <a:buNone/>
            </a:pPr>
            <a:r>
              <a:rPr lang="en-US" altLang="zh-TW" sz="1400" dirty="0"/>
              <a:t>	Call IV ↑ </a:t>
            </a:r>
            <a:endParaRPr lang="zh-TW" altLang="zh-TW" sz="1400" dirty="0"/>
          </a:p>
          <a:p>
            <a:pPr marL="0" lvl="0" indent="0">
              <a:buNone/>
            </a:pPr>
            <a:r>
              <a:rPr lang="en-US" altLang="zh-TW" sz="1400" dirty="0"/>
              <a:t>	PCR </a:t>
            </a:r>
            <a:r>
              <a:rPr lang="zh-TW" altLang="zh-TW" sz="1400" dirty="0"/>
              <a:t>未上升 </a:t>
            </a:r>
          </a:p>
          <a:p>
            <a:pPr marL="0" indent="0">
              <a:buNone/>
            </a:pPr>
            <a:r>
              <a:rPr lang="en-US" altLang="zh-TW" sz="1400" dirty="0"/>
              <a:t>	👉 </a:t>
            </a:r>
            <a:r>
              <a:rPr lang="zh-TW" altLang="zh-TW" sz="1400" dirty="0"/>
              <a:t>可能代表：整體波動預期增加</a:t>
            </a:r>
            <a:r>
              <a:rPr lang="zh-TW" altLang="en-US" sz="1400" dirty="0"/>
              <a:t>，</a:t>
            </a:r>
            <a:r>
              <a:rPr lang="zh-TW" altLang="zh-TW" sz="1400" dirty="0"/>
              <a:t>並非單純偏多</a:t>
            </a:r>
            <a:endParaRPr lang="en-US" altLang="zh-TW" sz="1400" dirty="0"/>
          </a:p>
          <a:p>
            <a:pPr marL="0" lvl="0" indent="0">
              <a:buNone/>
            </a:pPr>
            <a:r>
              <a:rPr lang="zh-TW" altLang="zh-TW" sz="1400" dirty="0"/>
              <a:t>平均數：反映市場預期中心 </a:t>
            </a:r>
            <a:r>
              <a:rPr lang="en-US" altLang="zh-TW" sz="1400" dirty="0"/>
              <a:t>	</a:t>
            </a:r>
            <a:r>
              <a:rPr lang="zh-TW" altLang="zh-TW" sz="1400" dirty="0"/>
              <a:t>標準差：反映資料離散程度 </a:t>
            </a:r>
          </a:p>
          <a:p>
            <a:pPr marL="0" indent="0">
              <a:buNone/>
            </a:pPr>
            <a:endParaRPr lang="zh-TW" altLang="zh-TW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EE1BCCA-35FB-4AED-AB89-A8ADDDB64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997" y="0"/>
            <a:ext cx="4079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49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A33F4-097C-438B-B7CE-A78EF2A3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3600" b="1" dirty="0"/>
              <a:t>問題、限制與修正方式</a:t>
            </a:r>
            <a:r>
              <a:rPr lang="en-US" altLang="zh-TW" sz="3600" b="1" dirty="0"/>
              <a:t> AI Prompt </a:t>
            </a:r>
            <a:r>
              <a:rPr lang="zh-TW" altLang="zh-TW" sz="3600" b="1" dirty="0"/>
              <a:t>實作與優化摘要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960A1-6594-448F-83D8-431D59F7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22497" cy="4877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sz="2400" b="1" dirty="0"/>
              <a:t>資料問題</a:t>
            </a:r>
            <a:r>
              <a:rPr lang="zh-TW" altLang="en-US" sz="2400" b="1" dirty="0"/>
              <a:t>：</a:t>
            </a:r>
            <a:endParaRPr lang="zh-TW" altLang="zh-TW" sz="2400" b="1" dirty="0"/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部分交易無法反推出</a:t>
            </a:r>
            <a:r>
              <a:rPr lang="en-US" altLang="zh-TW" sz="2400" dirty="0"/>
              <a:t> IV</a:t>
            </a:r>
          </a:p>
          <a:p>
            <a:pPr marL="0" lvl="0" indent="0">
              <a:buNone/>
            </a:pPr>
            <a:endParaRPr lang="en-US" altLang="zh-TW" sz="2400" dirty="0"/>
          </a:p>
          <a:p>
            <a:pPr marL="0" indent="0">
              <a:buNone/>
            </a:pPr>
            <a:r>
              <a:rPr lang="zh-TW" altLang="zh-TW" sz="2400" b="1" dirty="0"/>
              <a:t>本研究使用</a:t>
            </a:r>
            <a:r>
              <a:rPr lang="en-US" altLang="zh-TW" sz="2400" b="1" dirty="0"/>
              <a:t> AI </a:t>
            </a:r>
            <a:r>
              <a:rPr lang="zh-TW" altLang="zh-TW" sz="2400" b="1" dirty="0"/>
              <a:t>協助完成以下工作：</a:t>
            </a:r>
          </a:p>
          <a:p>
            <a:pPr marL="0" lvl="0" indent="0">
              <a:buNone/>
            </a:pPr>
            <a:r>
              <a:rPr lang="en-US" altLang="zh-TW" sz="2400" dirty="0"/>
              <a:t>	IV </a:t>
            </a:r>
            <a:r>
              <a:rPr lang="zh-TW" altLang="zh-TW" sz="2400" dirty="0"/>
              <a:t>計算程式撰寫</a:t>
            </a:r>
            <a:r>
              <a:rPr lang="en-US" altLang="zh-TW" sz="2400" dirty="0"/>
              <a:t> (Black-Scholes </a:t>
            </a:r>
            <a:r>
              <a:rPr lang="zh-TW" altLang="en-US" sz="2400" dirty="0"/>
              <a:t>模型、二分法反推隱含波動率</a:t>
            </a:r>
            <a:r>
              <a:rPr lang="en-US" altLang="zh-TW" sz="2400" dirty="0"/>
              <a:t>)</a:t>
            </a:r>
            <a:endParaRPr lang="zh-TW" altLang="zh-TW" sz="2400" dirty="0"/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報告撰寫 </a:t>
            </a:r>
            <a:endParaRPr lang="en-US" altLang="zh-TW" sz="2400" dirty="0"/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en-US" sz="2400" dirty="0"/>
              <a:t>繪製圖表</a:t>
            </a:r>
            <a:endParaRPr lang="en-US" altLang="zh-TW" sz="2400" dirty="0"/>
          </a:p>
          <a:p>
            <a:pPr marL="0" lvl="0" indent="0">
              <a:buNone/>
            </a:pPr>
            <a:endParaRPr lang="en-US" altLang="zh-TW" sz="2400" dirty="0"/>
          </a:p>
          <a:p>
            <a:pPr marL="0" lvl="0" indent="0">
              <a:buNone/>
            </a:pPr>
            <a:r>
              <a:rPr lang="zh-TW" altLang="en-US" sz="2400" dirty="0"/>
              <a:t>📌 結論：</a:t>
            </a:r>
            <a:br>
              <a:rPr lang="zh-TW" altLang="en-US" sz="2400" dirty="0"/>
            </a:br>
            <a:r>
              <a:rPr lang="en-US" altLang="zh-TW" sz="2400" dirty="0"/>
              <a:t>	AI </a:t>
            </a:r>
            <a:r>
              <a:rPr lang="zh-TW" altLang="en-US" sz="2400" dirty="0"/>
              <a:t>能提升效率，但仍需人工檢查程式邏輯與資料合理性</a:t>
            </a:r>
            <a:endParaRPr lang="zh-TW" altLang="zh-TW" sz="2400" dirty="0"/>
          </a:p>
          <a:p>
            <a:pPr marL="0" lvl="0" indent="0">
              <a:buNone/>
            </a:pPr>
            <a:endParaRPr lang="zh-TW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038822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72874B-76B4-48A8-B2C4-64160054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結論與反思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BB55EC-6AD8-44D0-90ED-E8BA94C05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sz="2400" dirty="0"/>
              <a:t>本研究透過隱含波動率與</a:t>
            </a:r>
            <a:r>
              <a:rPr lang="en-US" altLang="zh-TW" sz="2400" dirty="0"/>
              <a:t> PCR </a:t>
            </a:r>
            <a:r>
              <a:rPr lang="zh-TW" altLang="zh-TW" sz="2400" dirty="0"/>
              <a:t>的整合分析，得到以下結論：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市場普遍對下跌風險較為敏感 </a:t>
            </a:r>
          </a:p>
          <a:p>
            <a:pPr marL="0" lv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看跌投資人對風險評價較高且分歧較大 </a:t>
            </a:r>
          </a:p>
          <a:p>
            <a:pPr marL="0" lvl="0" indent="0">
              <a:buNone/>
            </a:pPr>
            <a:r>
              <a:rPr lang="en-US" altLang="zh-TW" sz="2400" dirty="0"/>
              <a:t>	PCR </a:t>
            </a:r>
            <a:r>
              <a:rPr lang="zh-TW" altLang="zh-TW" sz="2400" dirty="0"/>
              <a:t>能有效反映市場情緒與避險需求 </a:t>
            </a:r>
          </a:p>
          <a:p>
            <a:pPr marL="0" indent="0">
              <a:buNone/>
            </a:pPr>
            <a:r>
              <a:rPr lang="en-US" altLang="zh-TW" sz="2400" b="1" dirty="0"/>
              <a:t>📌 </a:t>
            </a:r>
            <a:r>
              <a:rPr lang="zh-TW" altLang="zh-TW" sz="2400" b="1" dirty="0"/>
              <a:t>最終結論</a:t>
            </a:r>
          </a:p>
          <a:p>
            <a:pPr marL="0" indent="0">
              <a:buNone/>
            </a:pPr>
            <a:r>
              <a:rPr lang="en-US" altLang="zh-TW" sz="2400" dirty="0"/>
              <a:t>	</a:t>
            </a:r>
            <a:r>
              <a:rPr lang="zh-TW" altLang="zh-TW" sz="2400" dirty="0"/>
              <a:t>隱含波動率與</a:t>
            </a:r>
            <a:r>
              <a:rPr lang="en-US" altLang="zh-TW" sz="2400" dirty="0"/>
              <a:t> Put/Call Ratio </a:t>
            </a:r>
            <a:r>
              <a:rPr lang="zh-TW" altLang="zh-TW" sz="2400" dirty="0"/>
              <a:t>的結合分析，能有效描述市場風</a:t>
            </a:r>
            <a:r>
              <a:rPr lang="en-US" altLang="zh-TW" sz="2400" dirty="0"/>
              <a:t>	</a:t>
            </a:r>
            <a:r>
              <a:rPr lang="zh-TW" altLang="zh-TW" sz="2400" dirty="0"/>
              <a:t>險結構、投資人情緒與不確定性，為金融資料探勘中具高度</a:t>
            </a:r>
            <a:r>
              <a:rPr lang="en-US" altLang="zh-TW" sz="2400" dirty="0"/>
              <a:t>	</a:t>
            </a:r>
            <a:r>
              <a:rPr lang="zh-TW" altLang="zh-TW" sz="2400" dirty="0"/>
              <a:t>價值之分析工具。</a:t>
            </a: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0616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7DC67-46F1-4EFB-AA29-E828CD7170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謝謝大家</a:t>
            </a:r>
          </a:p>
        </p:txBody>
      </p:sp>
    </p:spTree>
    <p:extLst>
      <p:ext uri="{BB962C8B-B14F-4D97-AF65-F5344CB8AC3E}">
        <p14:creationId xmlns:p14="http://schemas.microsoft.com/office/powerpoint/2010/main" val="1130667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999</Words>
  <Application>Microsoft Office PowerPoint</Application>
  <PresentationFormat>寬螢幕</PresentationFormat>
  <Paragraphs>87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離子</vt:lpstr>
      <vt:lpstr>金融資料探勘  期中小組書面報告</vt:lpstr>
      <vt:lpstr>研究主題與研究動機</vt:lpstr>
      <vt:lpstr>資料來源與樣本說明</vt:lpstr>
      <vt:lpstr>資料來源與樣本說明</vt:lpstr>
      <vt:lpstr>指標定義與統計方法</vt:lpstr>
      <vt:lpstr>實證結果與分析</vt:lpstr>
      <vt:lpstr>實證結果與分析</vt:lpstr>
      <vt:lpstr>實證結果與分析</vt:lpstr>
      <vt:lpstr>實證結果與分析</vt:lpstr>
      <vt:lpstr>問題、限制與修正方式 AI Prompt 實作與優化摘要</vt:lpstr>
      <vt:lpstr>結論與反思</vt:lpstr>
      <vt:lpstr>謝謝大家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金融資料探勘  期中小組書面報告</dc:title>
  <dc:creator>STUDENT</dc:creator>
  <cp:lastModifiedBy>STUDENT</cp:lastModifiedBy>
  <cp:revision>11</cp:revision>
  <dcterms:created xsi:type="dcterms:W3CDTF">2026-04-22T12:19:52Z</dcterms:created>
  <dcterms:modified xsi:type="dcterms:W3CDTF">2026-04-23T03:25:04Z</dcterms:modified>
</cp:coreProperties>
</file>