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1374100" cy="30276800"/>
  <p:notesSz cx="6858000" cy="9144000"/>
  <p:embeddedFontLst>
    <p:embeddedFont>
      <p:font typeface="Calibri (MS) Bold" charset="1" panose="020F0702030404030204"/>
      <p:regular r:id="rId7"/>
    </p:embeddedFont>
    <p:embeddedFont>
      <p:font typeface="Arimo Bold" charset="1" panose="020B0704020202020204"/>
      <p:regular r:id="rId8"/>
    </p:embeddedFont>
    <p:embeddedFont>
      <p:font typeface="Arimo" charset="1" panose="020B0604020202020204"/>
      <p:regular r:id="rId9"/>
    </p:embeddedFont>
    <p:embeddedFont>
      <p:font typeface="Calibri (MS)" charset="1" panose="020F050202020403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378291" cy="2878293"/>
            <a:chOff x="0" y="0"/>
            <a:chExt cx="28504388" cy="3837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04387" cy="3837724"/>
            </a:xfrm>
            <a:custGeom>
              <a:avLst/>
              <a:gdLst/>
              <a:ahLst/>
              <a:cxnLst/>
              <a:rect r="r" b="b" t="t" l="l"/>
              <a:pathLst>
                <a:path h="3837724" w="28504387">
                  <a:moveTo>
                    <a:pt x="0" y="0"/>
                  </a:moveTo>
                  <a:lnTo>
                    <a:pt x="28504387" y="0"/>
                  </a:lnTo>
                  <a:lnTo>
                    <a:pt x="28504387" y="3837724"/>
                  </a:lnTo>
                  <a:lnTo>
                    <a:pt x="0" y="3837724"/>
                  </a:lnTo>
                  <a:close/>
                </a:path>
              </a:pathLst>
            </a:custGeom>
            <a:solidFill>
              <a:srgbClr val="0F3D3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95721" y="3726018"/>
            <a:ext cx="632176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作品簡介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68289" y="4250065"/>
            <a:ext cx="2924775" cy="36557"/>
            <a:chOff x="0" y="0"/>
            <a:chExt cx="3899700" cy="487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65118" y="4411408"/>
            <a:ext cx="6382969" cy="2547242"/>
            <a:chOff x="0" y="0"/>
            <a:chExt cx="8510626" cy="3396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10651" cy="3396361"/>
            </a:xfrm>
            <a:custGeom>
              <a:avLst/>
              <a:gdLst/>
              <a:ahLst/>
              <a:cxnLst/>
              <a:rect r="r" b="b" t="t" l="l"/>
              <a:pathLst>
                <a:path h="3396361" w="8510651">
                  <a:moveTo>
                    <a:pt x="0" y="566039"/>
                  </a:moveTo>
                  <a:cubicBezTo>
                    <a:pt x="0" y="253492"/>
                    <a:pt x="253492" y="0"/>
                    <a:pt x="566039" y="0"/>
                  </a:cubicBezTo>
                  <a:lnTo>
                    <a:pt x="7944612" y="0"/>
                  </a:lnTo>
                  <a:cubicBezTo>
                    <a:pt x="8257286" y="0"/>
                    <a:pt x="8510651" y="253492"/>
                    <a:pt x="8510651" y="566039"/>
                  </a:cubicBezTo>
                  <a:lnTo>
                    <a:pt x="8510651" y="2830322"/>
                  </a:lnTo>
                  <a:cubicBezTo>
                    <a:pt x="8510651" y="3142996"/>
                    <a:pt x="8257159" y="3396361"/>
                    <a:pt x="7944612" y="3396361"/>
                  </a:cubicBezTo>
                  <a:lnTo>
                    <a:pt x="566039" y="3396361"/>
                  </a:lnTo>
                  <a:cubicBezTo>
                    <a:pt x="253492" y="3396361"/>
                    <a:pt x="0" y="3142869"/>
                    <a:pt x="0" y="2830322"/>
                  </a:cubicBezTo>
                  <a:close/>
                </a:path>
              </a:pathLst>
            </a:custGeom>
            <a:solidFill>
              <a:srgbClr val="FFFDF8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6794" y="5785571"/>
            <a:ext cx="100536" cy="100536"/>
            <a:chOff x="0" y="0"/>
            <a:chExt cx="134048" cy="1340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6794" y="6249543"/>
            <a:ext cx="100536" cy="100536"/>
            <a:chOff x="0" y="0"/>
            <a:chExt cx="134048" cy="1340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528265" y="3726018"/>
            <a:ext cx="632176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學習目標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00833" y="4250065"/>
            <a:ext cx="2924775" cy="36557"/>
            <a:chOff x="0" y="0"/>
            <a:chExt cx="3899700" cy="48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97661" y="4411408"/>
            <a:ext cx="6382969" cy="2547242"/>
            <a:chOff x="0" y="0"/>
            <a:chExt cx="8510626" cy="33963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10651" cy="3396361"/>
            </a:xfrm>
            <a:custGeom>
              <a:avLst/>
              <a:gdLst/>
              <a:ahLst/>
              <a:cxnLst/>
              <a:rect r="r" b="b" t="t" l="l"/>
              <a:pathLst>
                <a:path h="3396361" w="8510651">
                  <a:moveTo>
                    <a:pt x="0" y="566039"/>
                  </a:moveTo>
                  <a:cubicBezTo>
                    <a:pt x="0" y="253492"/>
                    <a:pt x="253492" y="0"/>
                    <a:pt x="566039" y="0"/>
                  </a:cubicBezTo>
                  <a:lnTo>
                    <a:pt x="7944612" y="0"/>
                  </a:lnTo>
                  <a:cubicBezTo>
                    <a:pt x="8257286" y="0"/>
                    <a:pt x="8510651" y="253492"/>
                    <a:pt x="8510651" y="566039"/>
                  </a:cubicBezTo>
                  <a:lnTo>
                    <a:pt x="8510651" y="2830322"/>
                  </a:lnTo>
                  <a:cubicBezTo>
                    <a:pt x="8510651" y="3142996"/>
                    <a:pt x="8257159" y="3396361"/>
                    <a:pt x="7944612" y="3396361"/>
                  </a:cubicBezTo>
                  <a:lnTo>
                    <a:pt x="566039" y="3396361"/>
                  </a:lnTo>
                  <a:cubicBezTo>
                    <a:pt x="253492" y="3396361"/>
                    <a:pt x="0" y="3142869"/>
                    <a:pt x="0" y="2830322"/>
                  </a:cubicBezTo>
                  <a:close/>
                </a:path>
              </a:pathLst>
            </a:custGeom>
            <a:solidFill>
              <a:srgbClr val="FFFDF8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729328" y="5785571"/>
            <a:ext cx="100536" cy="100536"/>
            <a:chOff x="0" y="0"/>
            <a:chExt cx="134048" cy="1340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729328" y="6352251"/>
            <a:ext cx="100536" cy="100536"/>
            <a:chOff x="0" y="0"/>
            <a:chExt cx="134048" cy="1340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160808" y="3726018"/>
            <a:ext cx="632176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理論基礎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133376" y="4250065"/>
            <a:ext cx="2924775" cy="36557"/>
            <a:chOff x="0" y="0"/>
            <a:chExt cx="3899700" cy="487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130204" y="4411408"/>
            <a:ext cx="6382969" cy="2547242"/>
            <a:chOff x="0" y="0"/>
            <a:chExt cx="8510626" cy="33963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10651" cy="3396361"/>
            </a:xfrm>
            <a:custGeom>
              <a:avLst/>
              <a:gdLst/>
              <a:ahLst/>
              <a:cxnLst/>
              <a:rect r="r" b="b" t="t" l="l"/>
              <a:pathLst>
                <a:path h="3396361" w="8510651">
                  <a:moveTo>
                    <a:pt x="0" y="566039"/>
                  </a:moveTo>
                  <a:cubicBezTo>
                    <a:pt x="0" y="253492"/>
                    <a:pt x="253492" y="0"/>
                    <a:pt x="566039" y="0"/>
                  </a:cubicBezTo>
                  <a:lnTo>
                    <a:pt x="7944612" y="0"/>
                  </a:lnTo>
                  <a:cubicBezTo>
                    <a:pt x="8257286" y="0"/>
                    <a:pt x="8510651" y="253492"/>
                    <a:pt x="8510651" y="566039"/>
                  </a:cubicBezTo>
                  <a:lnTo>
                    <a:pt x="8510651" y="2830322"/>
                  </a:lnTo>
                  <a:cubicBezTo>
                    <a:pt x="8510651" y="3142996"/>
                    <a:pt x="8257159" y="3396361"/>
                    <a:pt x="7944612" y="3396361"/>
                  </a:cubicBezTo>
                  <a:lnTo>
                    <a:pt x="566039" y="3396361"/>
                  </a:lnTo>
                  <a:cubicBezTo>
                    <a:pt x="253492" y="3396361"/>
                    <a:pt x="0" y="3142869"/>
                    <a:pt x="0" y="2830322"/>
                  </a:cubicBezTo>
                  <a:close/>
                </a:path>
              </a:pathLst>
            </a:custGeom>
            <a:solidFill>
              <a:srgbClr val="FFFDF8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4361871" y="5785571"/>
            <a:ext cx="100536" cy="100536"/>
            <a:chOff x="0" y="0"/>
            <a:chExt cx="134048" cy="1340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361871" y="6352251"/>
            <a:ext cx="100536" cy="100536"/>
            <a:chOff x="0" y="0"/>
            <a:chExt cx="134048" cy="1340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95721" y="7201110"/>
            <a:ext cx="908505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b="true" sz="3199" spc="4">
                <a:solidFill>
                  <a:srgbClr val="1F6F5B"/>
                </a:solidFill>
                <a:latin typeface="Arimo Bold"/>
                <a:ea typeface="Arimo Bold"/>
                <a:cs typeface="Arimo Bold"/>
                <a:sym typeface="Arimo Bold"/>
              </a:rPr>
              <a:t>AI 協作歷程與原始學習單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8289" y="7677541"/>
            <a:ext cx="2924775" cy="36557"/>
            <a:chOff x="0" y="0"/>
            <a:chExt cx="3899700" cy="487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65118" y="7765761"/>
            <a:ext cx="19657190" cy="9968865"/>
            <a:chOff x="0" y="0"/>
            <a:chExt cx="26209587" cy="132918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209625" cy="13291820"/>
            </a:xfrm>
            <a:custGeom>
              <a:avLst/>
              <a:gdLst/>
              <a:ahLst/>
              <a:cxnLst/>
              <a:rect r="r" b="b" t="t" l="l"/>
              <a:pathLst>
                <a:path h="13291820" w="26209625">
                  <a:moveTo>
                    <a:pt x="0" y="2215388"/>
                  </a:moveTo>
                  <a:cubicBezTo>
                    <a:pt x="0" y="991870"/>
                    <a:pt x="991870" y="0"/>
                    <a:pt x="2215388" y="0"/>
                  </a:cubicBezTo>
                  <a:lnTo>
                    <a:pt x="23994238" y="0"/>
                  </a:lnTo>
                  <a:cubicBezTo>
                    <a:pt x="25217755" y="0"/>
                    <a:pt x="26209625" y="991870"/>
                    <a:pt x="26209625" y="2215388"/>
                  </a:cubicBezTo>
                  <a:lnTo>
                    <a:pt x="26209625" y="11076432"/>
                  </a:lnTo>
                  <a:cubicBezTo>
                    <a:pt x="26209625" y="12299950"/>
                    <a:pt x="25217755" y="13291820"/>
                    <a:pt x="23994238" y="13291820"/>
                  </a:cubicBezTo>
                  <a:lnTo>
                    <a:pt x="2215388" y="13291820"/>
                  </a:lnTo>
                  <a:cubicBezTo>
                    <a:pt x="991870" y="13291820"/>
                    <a:pt x="0" y="12299950"/>
                    <a:pt x="0" y="11076432"/>
                  </a:cubicBezTo>
                  <a:close/>
                </a:path>
              </a:pathLst>
            </a:custGeom>
            <a:solidFill>
              <a:srgbClr val="FFFDF8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78516" y="8061417"/>
            <a:ext cx="6306550" cy="8728634"/>
            <a:chOff x="0" y="0"/>
            <a:chExt cx="8408734" cy="11638178"/>
          </a:xfrm>
        </p:grpSpPr>
        <p:sp>
          <p:nvSpPr>
            <p:cNvPr name="Freeform 37" id="37" descr="sheet_5_p29.png"/>
            <p:cNvSpPr/>
            <p:nvPr/>
          </p:nvSpPr>
          <p:spPr>
            <a:xfrm flipH="false" flipV="false" rot="0">
              <a:off x="0" y="0"/>
              <a:ext cx="8408670" cy="11638153"/>
            </a:xfrm>
            <a:custGeom>
              <a:avLst/>
              <a:gdLst/>
              <a:ahLst/>
              <a:cxnLst/>
              <a:rect r="r" b="b" t="t" l="l"/>
              <a:pathLst>
                <a:path h="11638153" w="8408670">
                  <a:moveTo>
                    <a:pt x="0" y="0"/>
                  </a:moveTo>
                  <a:lnTo>
                    <a:pt x="8408670" y="0"/>
                  </a:lnTo>
                  <a:lnTo>
                    <a:pt x="8408670" y="11638153"/>
                  </a:lnTo>
                  <a:lnTo>
                    <a:pt x="0" y="11638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66" r="0" b="-106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631840" y="8061417"/>
            <a:ext cx="6306550" cy="8728634"/>
            <a:chOff x="0" y="0"/>
            <a:chExt cx="8408734" cy="11638178"/>
          </a:xfrm>
        </p:grpSpPr>
        <p:sp>
          <p:nvSpPr>
            <p:cNvPr name="Freeform 39" id="39" descr="sheet_5_p30.png"/>
            <p:cNvSpPr/>
            <p:nvPr/>
          </p:nvSpPr>
          <p:spPr>
            <a:xfrm flipH="false" flipV="false" rot="0">
              <a:off x="0" y="0"/>
              <a:ext cx="8408670" cy="11638153"/>
            </a:xfrm>
            <a:custGeom>
              <a:avLst/>
              <a:gdLst/>
              <a:ahLst/>
              <a:cxnLst/>
              <a:rect r="r" b="b" t="t" l="l"/>
              <a:pathLst>
                <a:path h="11638153" w="8408670">
                  <a:moveTo>
                    <a:pt x="0" y="0"/>
                  </a:moveTo>
                  <a:lnTo>
                    <a:pt x="8408670" y="0"/>
                  </a:lnTo>
                  <a:lnTo>
                    <a:pt x="8408670" y="11638153"/>
                  </a:lnTo>
                  <a:lnTo>
                    <a:pt x="0" y="11638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66" r="0" b="-106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212586" y="8637232"/>
            <a:ext cx="1835514" cy="367162"/>
            <a:chOff x="0" y="0"/>
            <a:chExt cx="2339823" cy="468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39848" cy="468129"/>
            </a:xfrm>
            <a:custGeom>
              <a:avLst/>
              <a:gdLst/>
              <a:ahLst/>
              <a:cxnLst/>
              <a:rect r="r" b="b" t="t" l="l"/>
              <a:pathLst>
                <a:path h="468129" w="2339848">
                  <a:moveTo>
                    <a:pt x="0" y="78041"/>
                  </a:moveTo>
                  <a:cubicBezTo>
                    <a:pt x="0" y="34875"/>
                    <a:pt x="36322" y="0"/>
                    <a:pt x="81280" y="0"/>
                  </a:cubicBezTo>
                  <a:lnTo>
                    <a:pt x="2258568" y="0"/>
                  </a:lnTo>
                  <a:cubicBezTo>
                    <a:pt x="2303399" y="0"/>
                    <a:pt x="2339848" y="34875"/>
                    <a:pt x="2339848" y="78041"/>
                  </a:cubicBezTo>
                  <a:lnTo>
                    <a:pt x="2339848" y="390084"/>
                  </a:lnTo>
                  <a:cubicBezTo>
                    <a:pt x="2339848" y="433129"/>
                    <a:pt x="2303526" y="468129"/>
                    <a:pt x="2258568" y="468129"/>
                  </a:cubicBezTo>
                  <a:lnTo>
                    <a:pt x="81280" y="468129"/>
                  </a:lnTo>
                  <a:cubicBezTo>
                    <a:pt x="36449" y="468129"/>
                    <a:pt x="0" y="433251"/>
                    <a:pt x="0" y="390084"/>
                  </a:cubicBezTo>
                  <a:close/>
                </a:path>
              </a:pathLst>
            </a:custGeom>
            <a:solidFill>
              <a:srgbClr val="1F6F5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212586" y="9509236"/>
            <a:ext cx="1835514" cy="367162"/>
            <a:chOff x="0" y="0"/>
            <a:chExt cx="2339823" cy="468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39848" cy="468129"/>
            </a:xfrm>
            <a:custGeom>
              <a:avLst/>
              <a:gdLst/>
              <a:ahLst/>
              <a:cxnLst/>
              <a:rect r="r" b="b" t="t" l="l"/>
              <a:pathLst>
                <a:path h="468129" w="2339848">
                  <a:moveTo>
                    <a:pt x="0" y="78041"/>
                  </a:moveTo>
                  <a:cubicBezTo>
                    <a:pt x="0" y="34875"/>
                    <a:pt x="36322" y="0"/>
                    <a:pt x="81280" y="0"/>
                  </a:cubicBezTo>
                  <a:lnTo>
                    <a:pt x="2258568" y="0"/>
                  </a:lnTo>
                  <a:cubicBezTo>
                    <a:pt x="2303399" y="0"/>
                    <a:pt x="2339848" y="34875"/>
                    <a:pt x="2339848" y="78041"/>
                  </a:cubicBezTo>
                  <a:lnTo>
                    <a:pt x="2339848" y="390084"/>
                  </a:lnTo>
                  <a:cubicBezTo>
                    <a:pt x="2339848" y="433129"/>
                    <a:pt x="2303526" y="468129"/>
                    <a:pt x="2258568" y="468129"/>
                  </a:cubicBezTo>
                  <a:lnTo>
                    <a:pt x="81280" y="468129"/>
                  </a:lnTo>
                  <a:cubicBezTo>
                    <a:pt x="36449" y="468129"/>
                    <a:pt x="0" y="433251"/>
                    <a:pt x="0" y="390084"/>
                  </a:cubicBezTo>
                  <a:close/>
                </a:path>
              </a:pathLst>
            </a:custGeom>
            <a:solidFill>
              <a:srgbClr val="1F6F5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212586" y="10381249"/>
            <a:ext cx="1835514" cy="367162"/>
            <a:chOff x="0" y="0"/>
            <a:chExt cx="2339823" cy="468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39848" cy="468129"/>
            </a:xfrm>
            <a:custGeom>
              <a:avLst/>
              <a:gdLst/>
              <a:ahLst/>
              <a:cxnLst/>
              <a:rect r="r" b="b" t="t" l="l"/>
              <a:pathLst>
                <a:path h="468129" w="2339848">
                  <a:moveTo>
                    <a:pt x="0" y="78041"/>
                  </a:moveTo>
                  <a:cubicBezTo>
                    <a:pt x="0" y="34875"/>
                    <a:pt x="36322" y="0"/>
                    <a:pt x="81280" y="0"/>
                  </a:cubicBezTo>
                  <a:lnTo>
                    <a:pt x="2258568" y="0"/>
                  </a:lnTo>
                  <a:cubicBezTo>
                    <a:pt x="2303399" y="0"/>
                    <a:pt x="2339848" y="34875"/>
                    <a:pt x="2339848" y="78041"/>
                  </a:cubicBezTo>
                  <a:lnTo>
                    <a:pt x="2339848" y="390084"/>
                  </a:lnTo>
                  <a:cubicBezTo>
                    <a:pt x="2339848" y="433129"/>
                    <a:pt x="2303526" y="468129"/>
                    <a:pt x="2258568" y="468129"/>
                  </a:cubicBezTo>
                  <a:lnTo>
                    <a:pt x="81280" y="468129"/>
                  </a:lnTo>
                  <a:cubicBezTo>
                    <a:pt x="36449" y="468129"/>
                    <a:pt x="0" y="433251"/>
                    <a:pt x="0" y="390084"/>
                  </a:cubicBezTo>
                  <a:close/>
                </a:path>
              </a:pathLst>
            </a:custGeom>
            <a:solidFill>
              <a:srgbClr val="1F6F5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212586" y="11253252"/>
            <a:ext cx="1835514" cy="367162"/>
            <a:chOff x="0" y="0"/>
            <a:chExt cx="2339823" cy="468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39848" cy="468129"/>
            </a:xfrm>
            <a:custGeom>
              <a:avLst/>
              <a:gdLst/>
              <a:ahLst/>
              <a:cxnLst/>
              <a:rect r="r" b="b" t="t" l="l"/>
              <a:pathLst>
                <a:path h="468129" w="2339848">
                  <a:moveTo>
                    <a:pt x="0" y="78041"/>
                  </a:moveTo>
                  <a:cubicBezTo>
                    <a:pt x="0" y="34875"/>
                    <a:pt x="36322" y="0"/>
                    <a:pt x="81280" y="0"/>
                  </a:cubicBezTo>
                  <a:lnTo>
                    <a:pt x="2258568" y="0"/>
                  </a:lnTo>
                  <a:cubicBezTo>
                    <a:pt x="2303399" y="0"/>
                    <a:pt x="2339848" y="34875"/>
                    <a:pt x="2339848" y="78041"/>
                  </a:cubicBezTo>
                  <a:lnTo>
                    <a:pt x="2339848" y="390084"/>
                  </a:lnTo>
                  <a:cubicBezTo>
                    <a:pt x="2339848" y="433129"/>
                    <a:pt x="2303526" y="468129"/>
                    <a:pt x="2258568" y="468129"/>
                  </a:cubicBezTo>
                  <a:lnTo>
                    <a:pt x="81280" y="468129"/>
                  </a:lnTo>
                  <a:cubicBezTo>
                    <a:pt x="36449" y="468129"/>
                    <a:pt x="0" y="433251"/>
                    <a:pt x="0" y="390084"/>
                  </a:cubicBezTo>
                  <a:close/>
                </a:path>
              </a:pathLst>
            </a:custGeom>
            <a:solidFill>
              <a:srgbClr val="1F6F5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212586" y="12795895"/>
            <a:ext cx="100536" cy="100536"/>
            <a:chOff x="0" y="0"/>
            <a:chExt cx="134048" cy="1340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212586" y="13326018"/>
            <a:ext cx="100536" cy="100536"/>
            <a:chOff x="0" y="0"/>
            <a:chExt cx="134048" cy="1340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212586" y="13856132"/>
            <a:ext cx="100536" cy="100536"/>
            <a:chOff x="0" y="0"/>
            <a:chExt cx="134048" cy="1340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209414" y="14483610"/>
            <a:ext cx="5992997" cy="2702624"/>
            <a:chOff x="0" y="0"/>
            <a:chExt cx="7990662" cy="360349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990713" cy="3603498"/>
            </a:xfrm>
            <a:custGeom>
              <a:avLst/>
              <a:gdLst/>
              <a:ahLst/>
              <a:cxnLst/>
              <a:rect r="r" b="b" t="t" l="l"/>
              <a:pathLst>
                <a:path h="3603498" w="7990713">
                  <a:moveTo>
                    <a:pt x="0" y="600583"/>
                  </a:moveTo>
                  <a:cubicBezTo>
                    <a:pt x="0" y="268859"/>
                    <a:pt x="268859" y="0"/>
                    <a:pt x="600583" y="0"/>
                  </a:cubicBezTo>
                  <a:lnTo>
                    <a:pt x="7390130" y="0"/>
                  </a:lnTo>
                  <a:cubicBezTo>
                    <a:pt x="7721854" y="0"/>
                    <a:pt x="7990713" y="268859"/>
                    <a:pt x="7990713" y="600583"/>
                  </a:cubicBezTo>
                  <a:lnTo>
                    <a:pt x="7990713" y="3002915"/>
                  </a:lnTo>
                  <a:cubicBezTo>
                    <a:pt x="7990713" y="3334639"/>
                    <a:pt x="7721854" y="3603498"/>
                    <a:pt x="7390130" y="3603498"/>
                  </a:cubicBezTo>
                  <a:lnTo>
                    <a:pt x="600583" y="3603498"/>
                  </a:lnTo>
                  <a:cubicBezTo>
                    <a:pt x="268859" y="3603498"/>
                    <a:pt x="0" y="3334639"/>
                    <a:pt x="0" y="3002915"/>
                  </a:cubicBezTo>
                  <a:close/>
                </a:path>
              </a:pathLst>
            </a:custGeom>
            <a:solidFill>
              <a:srgbClr val="E6F1ED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441081" y="15382494"/>
            <a:ext cx="100536" cy="100536"/>
            <a:chOff x="0" y="0"/>
            <a:chExt cx="134048" cy="1340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441081" y="15949174"/>
            <a:ext cx="100536" cy="100536"/>
            <a:chOff x="0" y="0"/>
            <a:chExt cx="134048" cy="1340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895721" y="18029996"/>
            <a:ext cx="360110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研究成果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868289" y="18554052"/>
            <a:ext cx="2924775" cy="36557"/>
            <a:chOff x="0" y="0"/>
            <a:chExt cx="3899700" cy="4874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65118" y="18660561"/>
            <a:ext cx="9420473" cy="3799418"/>
            <a:chOff x="0" y="0"/>
            <a:chExt cx="12560630" cy="506589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560553" cy="5065903"/>
            </a:xfrm>
            <a:custGeom>
              <a:avLst/>
              <a:gdLst/>
              <a:ahLst/>
              <a:cxnLst/>
              <a:rect r="r" b="b" t="t" l="l"/>
              <a:pathLst>
                <a:path h="5065903" w="12560553">
                  <a:moveTo>
                    <a:pt x="0" y="844296"/>
                  </a:moveTo>
                  <a:cubicBezTo>
                    <a:pt x="0" y="378079"/>
                    <a:pt x="378079" y="0"/>
                    <a:pt x="844296" y="0"/>
                  </a:cubicBezTo>
                  <a:lnTo>
                    <a:pt x="11716258" y="0"/>
                  </a:lnTo>
                  <a:cubicBezTo>
                    <a:pt x="12182602" y="0"/>
                    <a:pt x="12560553" y="378079"/>
                    <a:pt x="12560553" y="844296"/>
                  </a:cubicBezTo>
                  <a:lnTo>
                    <a:pt x="12560553" y="4221607"/>
                  </a:lnTo>
                  <a:cubicBezTo>
                    <a:pt x="12560553" y="4687951"/>
                    <a:pt x="12182475" y="5065903"/>
                    <a:pt x="11716258" y="5065903"/>
                  </a:cubicBezTo>
                  <a:lnTo>
                    <a:pt x="844296" y="5065903"/>
                  </a:lnTo>
                  <a:cubicBezTo>
                    <a:pt x="378079" y="5065903"/>
                    <a:pt x="0" y="4687824"/>
                    <a:pt x="0" y="4221607"/>
                  </a:cubicBezTo>
                  <a:close/>
                </a:path>
              </a:pathLst>
            </a:custGeom>
            <a:solidFill>
              <a:srgbClr val="FFFDF8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aphicFrame>
        <p:nvGraphicFramePr>
          <p:cNvPr name="Table 65" id="65"/>
          <p:cNvGraphicFramePr>
            <a:graphicFrameLocks noGrp="true"/>
          </p:cNvGraphicFramePr>
          <p:nvPr/>
        </p:nvGraphicFramePr>
        <p:xfrm>
          <a:off x="1142491" y="19029328"/>
          <a:ext cx="7108832" cy="2490788"/>
        </p:xfrm>
        <a:graphic>
          <a:graphicData uri="http://schemas.openxmlformats.org/drawingml/2006/table">
            <a:tbl>
              <a:tblPr/>
              <a:tblGrid>
                <a:gridCol w="2415180"/>
                <a:gridCol w="2369611"/>
                <a:gridCol w="2324041"/>
              </a:tblGrid>
              <a:tr h="6393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指標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學生紀錄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專業解讀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B"/>
                    </a:solidFill>
                  </a:tcPr>
                </a:tc>
              </a:tr>
              <a:tr h="6203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F29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年化平均報酬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 spc="2">
                          <a:solidFill>
                            <a:srgbClr val="1F29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15.92%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報酬表現偏正向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3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F29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年化波動率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 spc="2">
                          <a:solidFill>
                            <a:srgbClr val="1F293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22.15%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接近歷史平均水準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7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F29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市場洞察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溫和震盪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2099">
                          <a:solidFill>
                            <a:srgbClr val="1F29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未見極端恐慌狀態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6" id="66"/>
          <p:cNvSpPr txBox="true"/>
          <p:nvPr/>
        </p:nvSpPr>
        <p:spPr>
          <a:xfrm rot="0">
            <a:off x="10492645" y="18029996"/>
            <a:ext cx="451509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反思與學習收穫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0465213" y="18554052"/>
            <a:ext cx="2924775" cy="36557"/>
            <a:chOff x="0" y="0"/>
            <a:chExt cx="3899700" cy="4874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462041" y="18660561"/>
            <a:ext cx="6358595" cy="3799418"/>
            <a:chOff x="0" y="0"/>
            <a:chExt cx="8478126" cy="506589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478012" cy="5065903"/>
            </a:xfrm>
            <a:custGeom>
              <a:avLst/>
              <a:gdLst/>
              <a:ahLst/>
              <a:cxnLst/>
              <a:rect r="r" b="b" t="t" l="l"/>
              <a:pathLst>
                <a:path h="5065903" w="8478012">
                  <a:moveTo>
                    <a:pt x="0" y="844296"/>
                  </a:moveTo>
                  <a:cubicBezTo>
                    <a:pt x="0" y="378079"/>
                    <a:pt x="378079" y="0"/>
                    <a:pt x="844296" y="0"/>
                  </a:cubicBezTo>
                  <a:lnTo>
                    <a:pt x="7633715" y="0"/>
                  </a:lnTo>
                  <a:cubicBezTo>
                    <a:pt x="8100060" y="0"/>
                    <a:pt x="8478012" y="378079"/>
                    <a:pt x="8478012" y="844296"/>
                  </a:cubicBezTo>
                  <a:lnTo>
                    <a:pt x="8478012" y="4221607"/>
                  </a:lnTo>
                  <a:cubicBezTo>
                    <a:pt x="8478012" y="4687951"/>
                    <a:pt x="8099933" y="5065903"/>
                    <a:pt x="7633715" y="5065903"/>
                  </a:cubicBezTo>
                  <a:lnTo>
                    <a:pt x="844296" y="5065903"/>
                  </a:lnTo>
                  <a:cubicBezTo>
                    <a:pt x="378079" y="5065903"/>
                    <a:pt x="0" y="4687824"/>
                    <a:pt x="0" y="4221607"/>
                  </a:cubicBezTo>
                  <a:close/>
                </a:path>
              </a:pathLst>
            </a:custGeom>
            <a:solidFill>
              <a:srgbClr val="E6F1ED"/>
            </a:solidFill>
            <a:ln w="6347" cap="sq">
              <a:solidFill>
                <a:srgbClr val="D9DFD8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0739418" y="19157290"/>
            <a:ext cx="100536" cy="100536"/>
            <a:chOff x="0" y="0"/>
            <a:chExt cx="134048" cy="13404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739418" y="19851919"/>
            <a:ext cx="100536" cy="100536"/>
            <a:chOff x="0" y="0"/>
            <a:chExt cx="134048" cy="1340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739418" y="20546558"/>
            <a:ext cx="100536" cy="100536"/>
            <a:chOff x="0" y="0"/>
            <a:chExt cx="134048" cy="1340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739418" y="21241188"/>
            <a:ext cx="100536" cy="100536"/>
            <a:chOff x="0" y="0"/>
            <a:chExt cx="134048" cy="1340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7119092" y="18029996"/>
            <a:ext cx="350970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31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資訊延伸 QR Code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7091660" y="18554052"/>
            <a:ext cx="2924775" cy="36557"/>
            <a:chOff x="0" y="0"/>
            <a:chExt cx="3899700" cy="4874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899662" cy="48768"/>
            </a:xfrm>
            <a:custGeom>
              <a:avLst/>
              <a:gdLst/>
              <a:ahLst/>
              <a:cxnLst/>
              <a:rect r="r" b="b" t="t" l="l"/>
              <a:pathLst>
                <a:path h="48768" w="3899662">
                  <a:moveTo>
                    <a:pt x="0" y="0"/>
                  </a:moveTo>
                  <a:lnTo>
                    <a:pt x="3899662" y="0"/>
                  </a:lnTo>
                  <a:lnTo>
                    <a:pt x="3899662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65118" y="22831454"/>
            <a:ext cx="19657190" cy="5753254"/>
            <a:chOff x="0" y="0"/>
            <a:chExt cx="26209587" cy="767100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6209498" cy="7670923"/>
            </a:xfrm>
            <a:custGeom>
              <a:avLst/>
              <a:gdLst/>
              <a:ahLst/>
              <a:cxnLst/>
              <a:rect r="r" b="b" t="t" l="l"/>
              <a:pathLst>
                <a:path h="7670923" w="26209498">
                  <a:moveTo>
                    <a:pt x="0" y="1278510"/>
                  </a:moveTo>
                  <a:cubicBezTo>
                    <a:pt x="0" y="572443"/>
                    <a:pt x="532638" y="0"/>
                    <a:pt x="1189609" y="0"/>
                  </a:cubicBezTo>
                  <a:lnTo>
                    <a:pt x="25019890" y="0"/>
                  </a:lnTo>
                  <a:cubicBezTo>
                    <a:pt x="25676861" y="0"/>
                    <a:pt x="26209498" y="572443"/>
                    <a:pt x="26209498" y="1278510"/>
                  </a:cubicBezTo>
                  <a:lnTo>
                    <a:pt x="26209498" y="6392413"/>
                  </a:lnTo>
                  <a:cubicBezTo>
                    <a:pt x="26209498" y="7098481"/>
                    <a:pt x="25676861" y="7670923"/>
                    <a:pt x="25019890" y="7670923"/>
                  </a:cubicBezTo>
                  <a:lnTo>
                    <a:pt x="1189609" y="7670923"/>
                  </a:lnTo>
                  <a:cubicBezTo>
                    <a:pt x="532638" y="7671056"/>
                    <a:pt x="0" y="7098617"/>
                    <a:pt x="0" y="6392413"/>
                  </a:cubicBezTo>
                  <a:close/>
                </a:path>
              </a:pathLst>
            </a:custGeom>
            <a:solidFill>
              <a:srgbClr val="0F3D34"/>
            </a:solidFill>
            <a:ln w="6347" cap="sq">
              <a:solidFill>
                <a:srgbClr val="0F3D34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42495" y="25518675"/>
            <a:ext cx="100536" cy="100536"/>
            <a:chOff x="0" y="0"/>
            <a:chExt cx="134048" cy="1340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42495" y="26021376"/>
            <a:ext cx="100536" cy="100536"/>
            <a:chOff x="0" y="0"/>
            <a:chExt cx="134048" cy="1340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142495" y="26524067"/>
            <a:ext cx="100536" cy="100536"/>
            <a:chOff x="0" y="0"/>
            <a:chExt cx="134048" cy="1340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34112" cy="134112"/>
            </a:xfrm>
            <a:custGeom>
              <a:avLst/>
              <a:gdLst/>
              <a:ahLst/>
              <a:cxnLst/>
              <a:rect r="r" b="b" t="t" l="l"/>
              <a:pathLst>
                <a:path h="134112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C58B2B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68289" y="29247770"/>
            <a:ext cx="19650847" cy="18278"/>
            <a:chOff x="0" y="0"/>
            <a:chExt cx="26201129" cy="2437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6201117" cy="24384"/>
            </a:xfrm>
            <a:custGeom>
              <a:avLst/>
              <a:gdLst/>
              <a:ahLst/>
              <a:cxnLst/>
              <a:rect r="r" b="b" t="t" l="l"/>
              <a:pathLst>
                <a:path h="24384" w="26201117">
                  <a:moveTo>
                    <a:pt x="0" y="0"/>
                  </a:moveTo>
                  <a:lnTo>
                    <a:pt x="26201117" y="0"/>
                  </a:lnTo>
                  <a:lnTo>
                    <a:pt x="26201117" y="2438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D9DFD8"/>
            </a:solidFill>
          </p:spPr>
        </p:sp>
      </p:grpSp>
      <p:sp>
        <p:nvSpPr>
          <p:cNvPr name="Freeform 92" id="92"/>
          <p:cNvSpPr/>
          <p:nvPr/>
        </p:nvSpPr>
        <p:spPr>
          <a:xfrm flipH="false" flipV="false" rot="0">
            <a:off x="17581740" y="18719653"/>
            <a:ext cx="2264532" cy="2264532"/>
          </a:xfrm>
          <a:custGeom>
            <a:avLst/>
            <a:gdLst/>
            <a:ahLst/>
            <a:cxnLst/>
            <a:rect r="r" b="b" t="t" l="l"/>
            <a:pathLst>
              <a:path h="2264532" w="2264532">
                <a:moveTo>
                  <a:pt x="0" y="0"/>
                </a:moveTo>
                <a:lnTo>
                  <a:pt x="2264532" y="0"/>
                </a:lnTo>
                <a:lnTo>
                  <a:pt x="2264532" y="2264532"/>
                </a:lnTo>
                <a:lnTo>
                  <a:pt x="0" y="2264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3" id="93"/>
          <p:cNvSpPr txBox="true"/>
          <p:nvPr/>
        </p:nvSpPr>
        <p:spPr>
          <a:xfrm rot="0">
            <a:off x="895721" y="410918"/>
            <a:ext cx="7714078" cy="49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b="true" sz="2398" spc="3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114-2 生成式 AI 融入專業課程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95721" y="910533"/>
            <a:ext cx="9085059" cy="81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7"/>
              </a:lnSpc>
            </a:pPr>
            <a:r>
              <a:rPr lang="en-US" sz="399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學生優秀作品成果海報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895721" y="1649235"/>
            <a:ext cx="13198030" cy="61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b="true" sz="2998" spc="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輔助金融資料探勘：歷史股價波動率分析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68289" y="2230593"/>
            <a:ext cx="186451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課程/作品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95721" y="2944968"/>
            <a:ext cx="581200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F29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金融資料探勘與 AI Prompt 優化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989944" y="2373468"/>
            <a:ext cx="186451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學生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989944" y="2944968"/>
            <a:ext cx="323550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F29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鄭竣宸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554523" y="2373468"/>
            <a:ext cx="186451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指導教授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554523" y="2944968"/>
            <a:ext cx="323550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>
                <a:solidFill>
                  <a:srgbClr val="1F29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蕭義龍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24226" y="4595460"/>
            <a:ext cx="612386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學生用 AI 協助分析歷史股價 CSV，計算 60 日滾動年化波動率，並把結果轉為市場風險判讀。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52721" y="5673976"/>
            <a:ext cx="589536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核心任務：歷史股價、報酬率、年化波動率。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352721" y="6137939"/>
            <a:ext cx="563626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成果重點：有數值結果，也有金融洞察。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7756760" y="4595460"/>
            <a:ext cx="586476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將模糊的金融資料分析需求，改寫成 AI 可以執行、也能被人工檢查的 Prompt。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985265" y="5673976"/>
            <a:ext cx="563626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掌握 CSV、LN 報酬率、STDEV.S 與年化因子。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7985265" y="6240647"/>
            <a:ext cx="563626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理解日期索引、假日與標準差設定的影響。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4389303" y="4595460"/>
            <a:ext cx="586476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歷史波動率由價格報酬率序列估計，可作為市場風險情緒的量化指標。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4617798" y="5673976"/>
            <a:ext cx="563626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公式重點：LN 報酬率、STDEV.S、sqrt(365)。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4617798" y="6240647"/>
            <a:ext cx="563626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查核重點：資料排序、缺值與樣本標準差。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791443" y="16916086"/>
            <a:ext cx="570329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圖 1：任務設定、Prompt 迭代與公式修正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8070556" y="16916086"/>
            <a:ext cx="570329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4B55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圖 2：數據結果、專業洞察與 AI 反思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4240018" y="8014945"/>
            <a:ext cx="593178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b="true" sz="3099" spc="4">
                <a:solidFill>
                  <a:srgbClr val="1F6F5B"/>
                </a:solidFill>
                <a:latin typeface="Arimo Bold"/>
                <a:ea typeface="Arimo Bold"/>
                <a:cs typeface="Arimo Bold"/>
                <a:sym typeface="Arimo Bold"/>
              </a:rPr>
              <a:t>AI 協作路徑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4313141" y="8682161"/>
            <a:ext cx="1553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2099" spc="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 任務定義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6177679" y="8580472"/>
            <a:ext cx="399411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分析歷史股價 CSV，計算 60 日滾動年化波動率。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4313141" y="9550460"/>
            <a:ext cx="1553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2099" spc="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 Prompt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6177679" y="9448762"/>
            <a:ext cx="399411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補上價格欄位、日期排序、LN 報酬率與 STDEV.S。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4313141" y="10418750"/>
            <a:ext cx="1553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2099" spc="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 方法細化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6177679" y="10317061"/>
            <a:ext cx="399411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要求 ddof=1、sqrt(365)，並處理時間不等距。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4313141" y="11287039"/>
            <a:ext cx="1553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2099" spc="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 結果解讀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6177679" y="11185350"/>
            <a:ext cx="399411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把年化報酬與波動率轉成市場風險判讀。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4240018" y="12201420"/>
            <a:ext cx="593178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3">
                <a:solidFill>
                  <a:srgbClr val="1F6F5B"/>
                </a:solidFill>
                <a:latin typeface="Arimo Bold"/>
                <a:ea typeface="Arimo Bold"/>
                <a:cs typeface="Arimo Bold"/>
                <a:sym typeface="Arimo Bold"/>
              </a:rPr>
              <a:t>Prompt 最佳化重點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4468513" y="12684300"/>
            <a:ext cx="570329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指定 AI 為量化分析師。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4468513" y="13214413"/>
            <a:ext cx="570329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明確要求 LN、STDEV.S、ddof=1、sqrt(365)。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4468513" y="13744527"/>
            <a:ext cx="570329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要求把結果轉為市場風險判讀。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468513" y="14695084"/>
            <a:ext cx="547478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可展示的學習證據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4697018" y="15270899"/>
            <a:ext cx="524629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手寫內容呈現完整 Prompt 修正過程。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4697018" y="15837570"/>
            <a:ext cx="524629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結果與反思能轉化為金融判斷。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169927" y="21604862"/>
            <a:ext cx="8628069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專業觀察：學生能把波動率數值轉為市場風險情緒判讀，也能指出日期索引與標準差參數若未指定，會造成 AI 計算偏誤。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995346" y="19083785"/>
            <a:ext cx="547478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 spc="3">
                <a:solidFill>
                  <a:srgbClr val="1F2933"/>
                </a:solidFill>
                <a:latin typeface="Arimo"/>
                <a:ea typeface="Arimo"/>
                <a:cs typeface="Arimo"/>
                <a:sym typeface="Arimo"/>
              </a:rPr>
              <a:t>AI 能快速建立報酬率與波動率計算流程。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0995346" y="19778424"/>
            <a:ext cx="606280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 spc="3">
                <a:solidFill>
                  <a:srgbClr val="1F2933"/>
                </a:solidFill>
                <a:latin typeface="Arimo"/>
                <a:ea typeface="Arimo"/>
                <a:cs typeface="Arimo"/>
                <a:sym typeface="Arimo"/>
              </a:rPr>
              <a:t>Python 比 Excel 更適合大量歷史資料與滾動視窗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0995346" y="20434954"/>
            <a:ext cx="582529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標準差分母、日期索引與假日處理必須講清楚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0995346" y="21129593"/>
            <a:ext cx="547478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19">
                <a:solidFill>
                  <a:srgbClr val="1F2933"/>
                </a:solidFill>
                <a:latin typeface="Calibri (MS)"/>
                <a:ea typeface="Calibri (MS)"/>
                <a:cs typeface="Calibri (MS)"/>
                <a:sym typeface="Calibri (MS)"/>
              </a:rPr>
              <a:t>用日期作為定位錨點，避免缺值造成索引偏移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7393298" y="21029047"/>
            <a:ext cx="250431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 b="true">
                <a:solidFill>
                  <a:srgbClr val="1F6F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完整作品資訊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7393298" y="21394645"/>
            <a:ext cx="264141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1919" b="true">
                <a:solidFill>
                  <a:srgbClr val="1F29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學習單、AI 協作紀錄與成果資料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169927" y="23374379"/>
            <a:ext cx="296131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28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展場導讀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169927" y="23977997"/>
            <a:ext cx="1785939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231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這份作品呈現學生如何把「請 AI 幫我分析股價資料」轉化為可執行的金融資料探勘流程：設定 CSV 與報酬率公式，修正年化、標準差與日期問題，最後將波動率結果連結到市場風險判讀。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169927" y="24913523"/>
            <a:ext cx="25043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C58B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海報亮點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398422" y="25407080"/>
            <a:ext cx="1735669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217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學生手寫內容完整，能看出從模糊提問到精準 Prompt 的修正過程。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398422" y="25909772"/>
            <a:ext cx="1735669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217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成果不只停留在計算，還包含波動率解讀、AI 優勢與限制。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398422" y="26412463"/>
            <a:ext cx="1735669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217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明確指出 LN、STDEV.S、ddof=1、sqrt(365) 等關鍵技術細節。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169927" y="26851185"/>
            <a:ext cx="25043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C58B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展出價值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169927" y="27289897"/>
            <a:ext cx="1785939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217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海報能清楚呈現學生從任務描述、Prompt 修正、資料處理、結果解讀到 AI 限制反思的完整歷程，符合成果海報對 AI 協作與研究方法說明的要求。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169927" y="27701196"/>
            <a:ext cx="1785939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2279" b="true">
                <a:solidFill>
                  <a:srgbClr val="C58B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關鍵能力：Prompt 設計｜資料清理｜金融指標計算｜市場風險判讀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895721" y="29529186"/>
            <a:ext cx="1502601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949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AI 輔助金融資料探勘：歷史股價波動率分析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DAHME8p9kqQ</dc:identifier>
  <dcterms:modified xsi:type="dcterms:W3CDTF">2011-08-01T06:04:30Z</dcterms:modified>
  <cp:revision>1</cp:revision>
  <dc:title>AI輔助金融數據分析-鄭竣宸</dc:title>
</cp:coreProperties>
</file>