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7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8288000" cy="10287000"/>
  <p:notesSz cx="6858000" cy="9144000"/>
  <p:embeddedFontLst>
    <p:embeddedFont>
      <p:font typeface="Petrona Bold" charset="1" panose="00000000000000000000"/>
      <p:regular r:id="rId20"/>
    </p:embeddedFont>
    <p:embeddedFont>
      <p:font typeface="Petrona" charset="1" panose="00000000000000000000"/>
      <p:regular r:id="rId21"/>
    </p:embeddedFont>
    <p:embeddedFont>
      <p:font typeface="Petrona Light" charset="1" panose="00000000000000000000"/>
      <p:regular r:id="rId22"/>
    </p:embeddedFont>
    <p:embeddedFont>
      <p:font typeface="Inter" charset="1" panose="02000503000000020004"/>
      <p:regular r:id="rId23"/>
    </p:embeddedFont>
    <p:embeddedFont>
      <p:font typeface="Inter Bold" charset="1" panose="02000503000000020004"/>
      <p:regular r:id="rId25"/>
    </p:embeddedFont>
    <p:embeddedFont>
      <p:font typeface="Nunito Bold" charset="1" panose="00000000000000000000"/>
      <p:regular r:id="rId26"/>
    </p:embeddedFont>
    <p:embeddedFont>
      <p:font typeface="PT Sans" charset="1" panose="020B0503020203020204"/>
      <p:regular r:id="rId27"/>
    </p:embeddedFont>
    <p:embeddedFont>
      <p:font typeface="PT Sans Bold" charset="1" panose="020B0703020203020204"/>
      <p:regular r:id="rId2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notesMasters/notesMaster1.xml" Type="http://schemas.openxmlformats.org/officeDocument/2006/relationships/notesMaster"/><Relationship Id="rId18" Target="theme/theme2.xml" Type="http://schemas.openxmlformats.org/officeDocument/2006/relationships/theme"/><Relationship Id="rId19" Target="notesSlides/notesSlide1.xml" Type="http://schemas.openxmlformats.org/officeDocument/2006/relationships/notesSlide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notesSlides/notesSlide2.xml" Type="http://schemas.openxmlformats.org/officeDocument/2006/relationships/notesSlide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28" Target="notesSlides/notesSlide3.xml" Type="http://schemas.openxmlformats.org/officeDocument/2006/relationships/notesSlide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30" Target="notesSlides/notesSlide4.xml" Type="http://schemas.openxmlformats.org/officeDocument/2006/relationships/notesSlide"/><Relationship Id="rId31" Target="notesSlides/notesSlide5.xml" Type="http://schemas.openxmlformats.org/officeDocument/2006/relationships/notesSlide"/><Relationship Id="rId32" Target="notesSlides/notesSlide6.xml" Type="http://schemas.openxmlformats.org/officeDocument/2006/relationships/notesSlide"/><Relationship Id="rId33" Target="notesSlides/notesSlide7.xml" Type="http://schemas.openxmlformats.org/officeDocument/2006/relationships/notesSlide"/><Relationship Id="rId34" Target="notesSlides/notesSlide8.xml" Type="http://schemas.openxmlformats.org/officeDocument/2006/relationships/notesSlide"/><Relationship Id="rId35" Target="notesSlides/notesSlide9.xml" Type="http://schemas.openxmlformats.org/officeDocument/2006/relationships/notesSlide"/><Relationship Id="rId36" Target="notesSlides/notesSlide10.xml" Type="http://schemas.openxmlformats.org/officeDocument/2006/relationships/notesSlide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3.png" Type="http://schemas.openxmlformats.org/officeDocument/2006/relationships/image"/><Relationship Id="rId4" Target="../media/image4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5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6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7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8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9.png" Type="http://schemas.openxmlformats.org/officeDocument/2006/relationships/image"/><Relationship Id="rId4" Target="../media/image10.png" Type="http://schemas.openxmlformats.org/officeDocument/2006/relationships/image"/><Relationship Id="rId5" Target="../media/image11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Relationship Id="rId3" Target="../media/image12.png" Type="http://schemas.openxmlformats.org/officeDocument/2006/relationships/image"/><Relationship Id="rId4" Target="../media/image13.png" Type="http://schemas.openxmlformats.org/officeDocument/2006/relationships/image"/><Relationship Id="rId5" Target="../media/image14.svg" Type="http://schemas.openxmlformats.org/officeDocument/2006/relationships/image"/><Relationship Id="rId6" Target="../media/image15.png" Type="http://schemas.openxmlformats.org/officeDocument/2006/relationships/image"/><Relationship Id="rId7" Target="../media/image16.svg" Type="http://schemas.openxmlformats.org/officeDocument/2006/relationships/image"/><Relationship Id="rId8" Target="../media/image17.png" Type="http://schemas.openxmlformats.org/officeDocument/2006/relationships/image"/><Relationship Id="rId9" Target="../media/image18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0.xml" Type="http://schemas.openxmlformats.org/officeDocument/2006/relationships/notesSlide"/><Relationship Id="rId3" Target="https://gamma.app/?utm_source=made-with-gamma" TargetMode="External" Type="http://schemas.openxmlformats.org/officeDocument/2006/relationships/hyperlink"/><Relationship Id="rId4" Target="../media/image19.png" Type="http://schemas.openxmlformats.org/officeDocument/2006/relationships/image"/><Relationship Id="rId5" Target="../media/image20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AF2E9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DFAF7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0" y="0"/>
            <a:ext cx="6858000" cy="10287000"/>
            <a:chOff x="0" y="0"/>
            <a:chExt cx="9144000" cy="13716000"/>
          </a:xfrm>
        </p:grpSpPr>
        <p:sp>
          <p:nvSpPr>
            <p:cNvPr name="Freeform 7" id="7" descr="preencoded.png"/>
            <p:cNvSpPr/>
            <p:nvPr/>
          </p:nvSpPr>
          <p:spPr>
            <a:xfrm flipH="false" flipV="false" rot="0">
              <a:off x="0" y="0"/>
              <a:ext cx="914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7809014" y="2546457"/>
            <a:ext cx="9450286" cy="18981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68"/>
              </a:lnSpc>
            </a:pPr>
            <a:r>
              <a:rPr lang="en-US" sz="6012" b="true">
                <a:solidFill>
                  <a:srgbClr val="F95F88"/>
                </a:solidFill>
                <a:latin typeface="Petrona Bold"/>
                <a:ea typeface="Petrona Bold"/>
                <a:cs typeface="Petrona Bold"/>
                <a:sym typeface="Petrona Bold"/>
              </a:rPr>
              <a:t>2021-2022 臺指選擇權市場情緒與隱含波動率分析報告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7831188" y="6076558"/>
            <a:ext cx="9455048" cy="2964656"/>
            <a:chOff x="0" y="0"/>
            <a:chExt cx="12606731" cy="395287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6350" y="6350"/>
              <a:ext cx="12593955" cy="3940175"/>
            </a:xfrm>
            <a:custGeom>
              <a:avLst/>
              <a:gdLst/>
              <a:ahLst/>
              <a:cxnLst/>
              <a:rect r="r" b="b" t="t" l="l"/>
              <a:pathLst>
                <a:path h="3940175" w="12593955">
                  <a:moveTo>
                    <a:pt x="0" y="138938"/>
                  </a:moveTo>
                  <a:cubicBezTo>
                    <a:pt x="0" y="62230"/>
                    <a:pt x="62357" y="0"/>
                    <a:pt x="139192" y="0"/>
                  </a:cubicBezTo>
                  <a:lnTo>
                    <a:pt x="12454763" y="0"/>
                  </a:lnTo>
                  <a:cubicBezTo>
                    <a:pt x="12531725" y="0"/>
                    <a:pt x="12593955" y="62230"/>
                    <a:pt x="12593955" y="138938"/>
                  </a:cubicBezTo>
                  <a:lnTo>
                    <a:pt x="12593955" y="3801237"/>
                  </a:lnTo>
                  <a:cubicBezTo>
                    <a:pt x="12593955" y="3877945"/>
                    <a:pt x="12531598" y="3940175"/>
                    <a:pt x="12454763" y="3940175"/>
                  </a:cubicBezTo>
                  <a:lnTo>
                    <a:pt x="139192" y="3940175"/>
                  </a:lnTo>
                  <a:cubicBezTo>
                    <a:pt x="62357" y="3940175"/>
                    <a:pt x="0" y="3877945"/>
                    <a:pt x="0" y="3801237"/>
                  </a:cubicBezTo>
                  <a:close/>
                </a:path>
              </a:pathLst>
            </a:custGeom>
            <a:solidFill>
              <a:srgbClr val="E0D7F4"/>
            </a:solid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2606655" cy="3952875"/>
            </a:xfrm>
            <a:custGeom>
              <a:avLst/>
              <a:gdLst/>
              <a:ahLst/>
              <a:cxnLst/>
              <a:rect r="r" b="b" t="t" l="l"/>
              <a:pathLst>
                <a:path h="3952875" w="12606655">
                  <a:moveTo>
                    <a:pt x="0" y="145288"/>
                  </a:moveTo>
                  <a:cubicBezTo>
                    <a:pt x="0" y="65024"/>
                    <a:pt x="65151" y="0"/>
                    <a:pt x="145542" y="0"/>
                  </a:cubicBezTo>
                  <a:lnTo>
                    <a:pt x="12461113" y="0"/>
                  </a:lnTo>
                  <a:lnTo>
                    <a:pt x="12461113" y="6350"/>
                  </a:lnTo>
                  <a:lnTo>
                    <a:pt x="12461113" y="0"/>
                  </a:lnTo>
                  <a:cubicBezTo>
                    <a:pt x="12541504" y="0"/>
                    <a:pt x="12606655" y="65024"/>
                    <a:pt x="12606655" y="145288"/>
                  </a:cubicBezTo>
                  <a:lnTo>
                    <a:pt x="12600305" y="145288"/>
                  </a:lnTo>
                  <a:lnTo>
                    <a:pt x="12606655" y="145288"/>
                  </a:lnTo>
                  <a:lnTo>
                    <a:pt x="12606655" y="3807587"/>
                  </a:lnTo>
                  <a:lnTo>
                    <a:pt x="12600305" y="3807587"/>
                  </a:lnTo>
                  <a:lnTo>
                    <a:pt x="12606655" y="3807587"/>
                  </a:lnTo>
                  <a:cubicBezTo>
                    <a:pt x="12606655" y="3887851"/>
                    <a:pt x="12541504" y="3952875"/>
                    <a:pt x="12461113" y="3952875"/>
                  </a:cubicBezTo>
                  <a:lnTo>
                    <a:pt x="12461113" y="3946525"/>
                  </a:lnTo>
                  <a:lnTo>
                    <a:pt x="12461113" y="3952875"/>
                  </a:lnTo>
                  <a:lnTo>
                    <a:pt x="145542" y="3952875"/>
                  </a:lnTo>
                  <a:lnTo>
                    <a:pt x="145542" y="3946525"/>
                  </a:lnTo>
                  <a:lnTo>
                    <a:pt x="145542" y="3952875"/>
                  </a:lnTo>
                  <a:cubicBezTo>
                    <a:pt x="65151" y="3952875"/>
                    <a:pt x="0" y="3887851"/>
                    <a:pt x="0" y="3807587"/>
                  </a:cubicBezTo>
                  <a:lnTo>
                    <a:pt x="0" y="145288"/>
                  </a:lnTo>
                  <a:lnTo>
                    <a:pt x="6350" y="145288"/>
                  </a:lnTo>
                  <a:lnTo>
                    <a:pt x="0" y="145288"/>
                  </a:lnTo>
                  <a:moveTo>
                    <a:pt x="12700" y="145288"/>
                  </a:moveTo>
                  <a:lnTo>
                    <a:pt x="12700" y="3807587"/>
                  </a:lnTo>
                  <a:lnTo>
                    <a:pt x="6350" y="3807587"/>
                  </a:lnTo>
                  <a:lnTo>
                    <a:pt x="12700" y="3807587"/>
                  </a:lnTo>
                  <a:cubicBezTo>
                    <a:pt x="12700" y="3880739"/>
                    <a:pt x="72136" y="3940175"/>
                    <a:pt x="145542" y="3940175"/>
                  </a:cubicBezTo>
                  <a:lnTo>
                    <a:pt x="12461113" y="3940175"/>
                  </a:lnTo>
                  <a:cubicBezTo>
                    <a:pt x="12534519" y="3940175"/>
                    <a:pt x="12593955" y="3880866"/>
                    <a:pt x="12593955" y="3807587"/>
                  </a:cubicBezTo>
                  <a:lnTo>
                    <a:pt x="12593955" y="145288"/>
                  </a:lnTo>
                  <a:cubicBezTo>
                    <a:pt x="12594082" y="72009"/>
                    <a:pt x="12534519" y="12700"/>
                    <a:pt x="12461113" y="12700"/>
                  </a:cubicBezTo>
                  <a:lnTo>
                    <a:pt x="145542" y="12700"/>
                  </a:lnTo>
                  <a:lnTo>
                    <a:pt x="145542" y="6350"/>
                  </a:lnTo>
                  <a:lnTo>
                    <a:pt x="145542" y="12700"/>
                  </a:lnTo>
                  <a:cubicBezTo>
                    <a:pt x="72136" y="12700"/>
                    <a:pt x="12700" y="72009"/>
                    <a:pt x="12700" y="145288"/>
                  </a:cubicBezTo>
                  <a:close/>
                </a:path>
              </a:pathLst>
            </a:custGeom>
            <a:solidFill>
              <a:srgbClr val="C6BDDA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7809014" y="5290242"/>
            <a:ext cx="9477223" cy="2268644"/>
            <a:chOff x="0" y="0"/>
            <a:chExt cx="12636297" cy="3024859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2636347" cy="3024923"/>
            </a:xfrm>
            <a:custGeom>
              <a:avLst/>
              <a:gdLst/>
              <a:ahLst/>
              <a:cxnLst/>
              <a:rect r="r" b="b" t="t" l="l"/>
              <a:pathLst>
                <a:path h="3024923" w="12636347">
                  <a:moveTo>
                    <a:pt x="0" y="214709"/>
                  </a:moveTo>
                  <a:cubicBezTo>
                    <a:pt x="0" y="96167"/>
                    <a:pt x="62565" y="0"/>
                    <a:pt x="139686" y="0"/>
                  </a:cubicBezTo>
                  <a:lnTo>
                    <a:pt x="12496661" y="0"/>
                  </a:lnTo>
                  <a:cubicBezTo>
                    <a:pt x="12573782" y="0"/>
                    <a:pt x="12636347" y="96167"/>
                    <a:pt x="12636347" y="214709"/>
                  </a:cubicBezTo>
                  <a:lnTo>
                    <a:pt x="12636347" y="2810249"/>
                  </a:lnTo>
                  <a:cubicBezTo>
                    <a:pt x="12636347" y="2928789"/>
                    <a:pt x="12573782" y="3024923"/>
                    <a:pt x="12496661" y="3024923"/>
                  </a:cubicBezTo>
                  <a:lnTo>
                    <a:pt x="139686" y="3024923"/>
                  </a:lnTo>
                  <a:cubicBezTo>
                    <a:pt x="62565" y="3024923"/>
                    <a:pt x="0" y="2928789"/>
                    <a:pt x="0" y="2810249"/>
                  </a:cubicBezTo>
                  <a:close/>
                </a:path>
              </a:pathLst>
            </a:custGeom>
            <a:solidFill>
              <a:srgbClr val="E0D7F4"/>
            </a:solid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8107709" y="6405906"/>
            <a:ext cx="7191942" cy="6446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79"/>
              </a:lnSpc>
            </a:pPr>
            <a:r>
              <a:rPr lang="en-US" sz="4024" b="true">
                <a:solidFill>
                  <a:srgbClr val="272525"/>
                </a:solidFill>
                <a:latin typeface="Petrona Bold"/>
                <a:ea typeface="Petrona Bold"/>
                <a:cs typeface="Petrona Bold"/>
                <a:sym typeface="Petrona Bold"/>
              </a:rPr>
              <a:t>鄭宇辰 411236006：2021 年度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7809014" y="7558886"/>
            <a:ext cx="9426473" cy="1468041"/>
            <a:chOff x="0" y="0"/>
            <a:chExt cx="12568631" cy="1957388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2568682" cy="1957451"/>
            </a:xfrm>
            <a:custGeom>
              <a:avLst/>
              <a:gdLst/>
              <a:ahLst/>
              <a:cxnLst/>
              <a:rect r="r" b="b" t="t" l="l"/>
              <a:pathLst>
                <a:path h="1957451" w="12568682">
                  <a:moveTo>
                    <a:pt x="0" y="0"/>
                  </a:moveTo>
                  <a:lnTo>
                    <a:pt x="12568682" y="0"/>
                  </a:lnTo>
                  <a:lnTo>
                    <a:pt x="12568682" y="1957451"/>
                  </a:lnTo>
                  <a:lnTo>
                    <a:pt x="0" y="1957451"/>
                  </a:lnTo>
                  <a:close/>
                </a:path>
              </a:pathLst>
            </a:custGeom>
            <a:solidFill>
              <a:srgbClr val="E0D7F4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7809014" y="6105133"/>
            <a:ext cx="9477223" cy="28729"/>
            <a:chOff x="0" y="0"/>
            <a:chExt cx="12568631" cy="381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2568682" cy="38100"/>
            </a:xfrm>
            <a:custGeom>
              <a:avLst/>
              <a:gdLst/>
              <a:ahLst/>
              <a:cxnLst/>
              <a:rect r="r" b="b" t="t" l="l"/>
              <a:pathLst>
                <a:path h="38100" w="12568682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lnTo>
                    <a:pt x="12549632" y="0"/>
                  </a:lnTo>
                  <a:cubicBezTo>
                    <a:pt x="12560173" y="0"/>
                    <a:pt x="12568682" y="8509"/>
                    <a:pt x="12568682" y="19050"/>
                  </a:cubicBezTo>
                  <a:cubicBezTo>
                    <a:pt x="12568682" y="29591"/>
                    <a:pt x="12560173" y="38100"/>
                    <a:pt x="12549632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lose/>
                </a:path>
              </a:pathLst>
            </a:custGeom>
            <a:solidFill>
              <a:srgbClr val="C6BDDA"/>
            </a:solid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8107709" y="7662562"/>
            <a:ext cx="7191942" cy="6446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79"/>
              </a:lnSpc>
            </a:pPr>
            <a:r>
              <a:rPr lang="en-US" sz="4024" b="true">
                <a:solidFill>
                  <a:srgbClr val="272525"/>
                </a:solidFill>
                <a:latin typeface="Petrona Bold"/>
                <a:ea typeface="Petrona Bold"/>
                <a:cs typeface="Petrona Bold"/>
                <a:sym typeface="Petrona Bold"/>
              </a:rPr>
              <a:t>王韋竣 411236002：2022 年度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7809014" y="819150"/>
            <a:ext cx="10020355" cy="9671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060"/>
              </a:lnSpc>
            </a:pPr>
            <a:r>
              <a:rPr lang="en-US" b="true" sz="5000">
                <a:solidFill>
                  <a:srgbClr val="F95F88"/>
                </a:solidFill>
                <a:latin typeface="Petrona Bold"/>
                <a:ea typeface="Petrona Bold"/>
                <a:cs typeface="Petrona Bold"/>
                <a:sym typeface="Petrona Bold"/>
              </a:rPr>
              <a:t>金融資料探勘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8107709" y="5431927"/>
            <a:ext cx="5115492" cy="6446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79"/>
              </a:lnSpc>
            </a:pPr>
            <a:r>
              <a:rPr lang="en-US" sz="4024" b="true">
                <a:solidFill>
                  <a:srgbClr val="272525"/>
                </a:solidFill>
                <a:latin typeface="Petrona Bold"/>
                <a:ea typeface="Petrona Bold"/>
                <a:cs typeface="Petrona Bold"/>
                <a:sym typeface="Petrona Bold"/>
              </a:rPr>
              <a:t>第六組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3716801" y="9507939"/>
            <a:ext cx="4012287" cy="6446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79"/>
              </a:lnSpc>
            </a:pPr>
            <a:r>
              <a:rPr lang="en-US" sz="4024" b="true">
                <a:solidFill>
                  <a:srgbClr val="272525"/>
                </a:solidFill>
                <a:latin typeface="Petrona Bold"/>
                <a:ea typeface="Petrona Bold"/>
                <a:cs typeface="Petrona Bold"/>
                <a:sym typeface="Petrona Bold"/>
              </a:rPr>
              <a:t>報告日期：4/23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6858000" cy="10287000"/>
            <a:chOff x="0" y="0"/>
            <a:chExt cx="914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914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7850238" y="656634"/>
            <a:ext cx="6872288" cy="9456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68"/>
              </a:lnSpc>
            </a:pPr>
            <a:r>
              <a:rPr lang="en-US" sz="6012">
                <a:solidFill>
                  <a:srgbClr val="F95F88"/>
                </a:solidFill>
                <a:latin typeface="Petrona"/>
                <a:ea typeface="Petrona"/>
                <a:cs typeface="Petrona"/>
                <a:sym typeface="Petrona"/>
              </a:rPr>
              <a:t>研究主題與研究期間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874448" y="1831670"/>
            <a:ext cx="344646" cy="5093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54"/>
              </a:lnSpc>
            </a:pPr>
            <a:r>
              <a:rPr lang="en-US" sz="2637">
                <a:solidFill>
                  <a:srgbClr val="272525"/>
                </a:solidFill>
                <a:latin typeface="Petrona Light"/>
                <a:ea typeface="Petrona Light"/>
                <a:cs typeface="Petrona Light"/>
                <a:sym typeface="Petrona Light"/>
              </a:rPr>
              <a:t>01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7850238" y="2493464"/>
            <a:ext cx="9445523" cy="28575"/>
            <a:chOff x="0" y="0"/>
            <a:chExt cx="12594031" cy="381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2594082" cy="38100"/>
            </a:xfrm>
            <a:custGeom>
              <a:avLst/>
              <a:gdLst/>
              <a:ahLst/>
              <a:cxnLst/>
              <a:rect r="r" b="b" t="t" l="l"/>
              <a:pathLst>
                <a:path h="38100" w="12594082">
                  <a:moveTo>
                    <a:pt x="0" y="0"/>
                  </a:moveTo>
                  <a:lnTo>
                    <a:pt x="12594082" y="0"/>
                  </a:lnTo>
                  <a:lnTo>
                    <a:pt x="12594082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6237C8"/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7846111" y="2626814"/>
            <a:ext cx="1689100" cy="5263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5"/>
              </a:lnSpc>
            </a:pPr>
            <a:r>
              <a:rPr lang="en-US" sz="3324" b="true">
                <a:solidFill>
                  <a:srgbClr val="272525"/>
                </a:solidFill>
                <a:latin typeface="Petrona Bold"/>
                <a:ea typeface="Petrona Bold"/>
                <a:cs typeface="Petrona Bold"/>
                <a:sym typeface="Petrona Bold"/>
              </a:rPr>
              <a:t>選擇年度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846111" y="3171276"/>
            <a:ext cx="9445523" cy="5741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99"/>
              </a:lnSpc>
            </a:pPr>
            <a:r>
              <a:rPr lang="en-US" sz="3037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2021、2022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850238" y="3785445"/>
            <a:ext cx="397192" cy="5093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54"/>
              </a:lnSpc>
            </a:pPr>
            <a:r>
              <a:rPr lang="en-US" sz="2637">
                <a:solidFill>
                  <a:srgbClr val="272525"/>
                </a:solidFill>
                <a:latin typeface="Petrona Light"/>
                <a:ea typeface="Petrona Light"/>
                <a:cs typeface="Petrona Light"/>
                <a:sym typeface="Petrona Light"/>
              </a:rPr>
              <a:t>02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7846111" y="4447238"/>
            <a:ext cx="9445523" cy="28575"/>
            <a:chOff x="0" y="0"/>
            <a:chExt cx="12594031" cy="381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2594082" cy="38100"/>
            </a:xfrm>
            <a:custGeom>
              <a:avLst/>
              <a:gdLst/>
              <a:ahLst/>
              <a:cxnLst/>
              <a:rect r="r" b="b" t="t" l="l"/>
              <a:pathLst>
                <a:path h="38100" w="12594082">
                  <a:moveTo>
                    <a:pt x="0" y="0"/>
                  </a:moveTo>
                  <a:lnTo>
                    <a:pt x="12594082" y="0"/>
                  </a:lnTo>
                  <a:lnTo>
                    <a:pt x="12594082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6237C8"/>
            </a:solid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7850238" y="4488630"/>
            <a:ext cx="1689100" cy="5263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5"/>
              </a:lnSpc>
            </a:pPr>
            <a:r>
              <a:rPr lang="en-US" sz="3324" b="true">
                <a:solidFill>
                  <a:srgbClr val="272525"/>
                </a:solidFill>
                <a:latin typeface="Petrona Bold"/>
                <a:ea typeface="Petrona Bold"/>
                <a:cs typeface="Petrona Bold"/>
                <a:sym typeface="Petrona Bold"/>
              </a:rPr>
              <a:t>為何</a:t>
            </a:r>
            <a:r>
              <a:rPr lang="en-US" sz="3324" b="true">
                <a:solidFill>
                  <a:srgbClr val="272525"/>
                </a:solidFill>
                <a:latin typeface="Petrona Bold"/>
                <a:ea typeface="Petrona Bold"/>
                <a:cs typeface="Petrona Bold"/>
                <a:sym typeface="Petrona Bold"/>
              </a:rPr>
              <a:t>選擇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7850238" y="5106143"/>
            <a:ext cx="9445523" cy="10332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54"/>
              </a:lnSpc>
            </a:pPr>
            <a:r>
              <a:rPr lang="en-US" sz="2637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因為這兩年先後因為台灣covid-19疫情爆發，以及烏俄戰爭開打，是一段對市場有著極大影響的範例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7846111" y="6177512"/>
            <a:ext cx="401320" cy="5093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54"/>
              </a:lnSpc>
            </a:pPr>
            <a:r>
              <a:rPr lang="en-US" sz="2637">
                <a:solidFill>
                  <a:srgbClr val="272525"/>
                </a:solidFill>
                <a:latin typeface="Petrona Light"/>
                <a:ea typeface="Petrona Light"/>
                <a:cs typeface="Petrona Light"/>
                <a:sym typeface="Petrona Light"/>
              </a:rPr>
              <a:t>03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7850238" y="6902726"/>
            <a:ext cx="9445523" cy="28575"/>
            <a:chOff x="0" y="0"/>
            <a:chExt cx="12594031" cy="381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2594082" cy="38100"/>
            </a:xfrm>
            <a:custGeom>
              <a:avLst/>
              <a:gdLst/>
              <a:ahLst/>
              <a:cxnLst/>
              <a:rect r="r" b="b" t="t" l="l"/>
              <a:pathLst>
                <a:path h="38100" w="12594082">
                  <a:moveTo>
                    <a:pt x="0" y="0"/>
                  </a:moveTo>
                  <a:lnTo>
                    <a:pt x="12594082" y="0"/>
                  </a:lnTo>
                  <a:lnTo>
                    <a:pt x="12594082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6237C8"/>
            </a:solid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7850238" y="7177678"/>
            <a:ext cx="4645025" cy="5263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5"/>
              </a:lnSpc>
            </a:pPr>
            <a:r>
              <a:rPr lang="en-US" sz="3324" b="true">
                <a:solidFill>
                  <a:srgbClr val="272525"/>
                </a:solidFill>
                <a:latin typeface="Petrona Bold"/>
                <a:ea typeface="Petrona Bold"/>
                <a:cs typeface="Petrona Bold"/>
                <a:sym typeface="Petrona Bold"/>
              </a:rPr>
              <a:t>本研究的核心問題是什麼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7846111" y="7588526"/>
            <a:ext cx="9445523" cy="13545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"/>
              </a:lnSpc>
            </a:pPr>
          </a:p>
          <a:p>
            <a:pPr algn="l">
              <a:lnSpc>
                <a:spcPts val="4254"/>
              </a:lnSpc>
            </a:pPr>
            <a:r>
              <a:rPr lang="en-US" sz="2637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通過兩年間的選擇權交易資料計算買賣權的隱含波動率、平均、標準差及PCR，判斷看漲/跌的投資人心境變化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AF2E9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-16265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DFAF7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028700" y="483943"/>
            <a:ext cx="9445523" cy="9135751"/>
            <a:chOff x="0" y="0"/>
            <a:chExt cx="12594031" cy="12181002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-28575"/>
              <a:ext cx="9096578" cy="11664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7065"/>
                </a:lnSpc>
              </a:pPr>
              <a:r>
                <a:rPr lang="en-US" sz="5612" b="true">
                  <a:solidFill>
                    <a:srgbClr val="F95F88"/>
                  </a:solidFill>
                  <a:latin typeface="Petrona Bold"/>
                  <a:ea typeface="Petrona Bold"/>
                  <a:cs typeface="Petrona Bold"/>
                  <a:sym typeface="Petrona Bold"/>
                </a:rPr>
                <a:t>資料處理流程與方法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1766545"/>
              <a:ext cx="661391" cy="54840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608"/>
                </a:lnSpc>
              </a:pPr>
              <a:r>
                <a:rPr lang="en-US" sz="2237">
                  <a:solidFill>
                    <a:srgbClr val="272525"/>
                  </a:solidFill>
                  <a:latin typeface="Petrona Light"/>
                  <a:ea typeface="Petrona Light"/>
                  <a:cs typeface="Petrona Light"/>
                  <a:sym typeface="Petrona Light"/>
                </a:rPr>
                <a:t>01</a:t>
              </a:r>
            </a:p>
          </p:txBody>
        </p:sp>
        <p:grpSp>
          <p:nvGrpSpPr>
            <p:cNvPr name="Group 9" id="9"/>
            <p:cNvGrpSpPr/>
            <p:nvPr/>
          </p:nvGrpSpPr>
          <p:grpSpPr>
            <a:xfrm rot="0">
              <a:off x="0" y="2425481"/>
              <a:ext cx="12594031" cy="38100"/>
              <a:chOff x="0" y="0"/>
              <a:chExt cx="12594031" cy="38100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12594082" cy="38100"/>
              </a:xfrm>
              <a:custGeom>
                <a:avLst/>
                <a:gdLst/>
                <a:ahLst/>
                <a:cxnLst/>
                <a:rect r="r" b="b" t="t" l="l"/>
                <a:pathLst>
                  <a:path h="38100" w="12594082">
                    <a:moveTo>
                      <a:pt x="0" y="0"/>
                    </a:moveTo>
                    <a:lnTo>
                      <a:pt x="12594082" y="0"/>
                    </a:lnTo>
                    <a:lnTo>
                      <a:pt x="12594082" y="38100"/>
                    </a:lnTo>
                    <a:lnTo>
                      <a:pt x="0" y="38100"/>
                    </a:lnTo>
                    <a:close/>
                  </a:path>
                </a:pathLst>
              </a:custGeom>
              <a:solidFill>
                <a:srgbClr val="6237C8"/>
              </a:solidFill>
            </p:spPr>
          </p:sp>
        </p:grpSp>
        <p:sp>
          <p:nvSpPr>
            <p:cNvPr name="TextBox 11" id="11"/>
            <p:cNvSpPr txBox="true"/>
            <p:nvPr/>
          </p:nvSpPr>
          <p:spPr>
            <a:xfrm rot="0">
              <a:off x="0" y="2647934"/>
              <a:ext cx="4548188" cy="61068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691"/>
                </a:lnSpc>
              </a:pPr>
              <a:r>
                <a:rPr lang="en-US" sz="2924" b="true">
                  <a:solidFill>
                    <a:srgbClr val="272525"/>
                  </a:solidFill>
                  <a:latin typeface="Petrona Bold"/>
                  <a:ea typeface="Petrona Bold"/>
                  <a:cs typeface="Petrona Bold"/>
                  <a:sym typeface="Petrona Bold"/>
                </a:rPr>
                <a:t>原始資料</a:t>
              </a: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0" y="3361811"/>
              <a:ext cx="12594031" cy="115817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606"/>
                </a:lnSpc>
              </a:pPr>
              <a:r>
                <a:rPr lang="en-US" sz="2237">
                  <a:solidFill>
                    <a:srgbClr val="272525"/>
                  </a:solidFill>
                  <a:latin typeface="Inter"/>
                  <a:ea typeface="Inter"/>
                  <a:cs typeface="Inter"/>
                  <a:sym typeface="Inter"/>
                </a:rPr>
                <a:t>2021、2022年的索引檔</a:t>
              </a:r>
            </a:p>
            <a:p>
              <a:pPr algn="l">
                <a:lnSpc>
                  <a:spcPts val="3608"/>
                </a:lnSpc>
              </a:pPr>
              <a:r>
                <a:rPr lang="en-US" sz="2237">
                  <a:solidFill>
                    <a:srgbClr val="272525"/>
                  </a:solidFill>
                  <a:latin typeface="Inter"/>
                  <a:ea typeface="Inter"/>
                  <a:cs typeface="Inter"/>
                  <a:sym typeface="Inter"/>
                </a:rPr>
                <a:t>市場資料：</a:t>
              </a:r>
              <a:r>
                <a:rPr lang="en-US" sz="2237">
                  <a:solidFill>
                    <a:srgbClr val="272525"/>
                  </a:solidFill>
                  <a:latin typeface="Inter"/>
                  <a:ea typeface="Inter"/>
                  <a:cs typeface="Inter"/>
                  <a:sym typeface="Inter"/>
                </a:rPr>
                <a:t>Option_2021.zip、Option_2022.zip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0" y="4626530"/>
              <a:ext cx="661391" cy="54840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608"/>
                </a:lnSpc>
              </a:pPr>
              <a:r>
                <a:rPr lang="en-US" sz="2237">
                  <a:solidFill>
                    <a:srgbClr val="272525"/>
                  </a:solidFill>
                  <a:latin typeface="Petrona Light"/>
                  <a:ea typeface="Petrona Light"/>
                  <a:cs typeface="Petrona Light"/>
                  <a:sym typeface="Petrona Light"/>
                </a:rPr>
                <a:t>02</a:t>
              </a:r>
            </a:p>
          </p:txBody>
        </p:sp>
        <p:grpSp>
          <p:nvGrpSpPr>
            <p:cNvPr name="Group 14" id="14"/>
            <p:cNvGrpSpPr/>
            <p:nvPr/>
          </p:nvGrpSpPr>
          <p:grpSpPr>
            <a:xfrm rot="0">
              <a:off x="0" y="5285466"/>
              <a:ext cx="12594031" cy="38100"/>
              <a:chOff x="0" y="0"/>
              <a:chExt cx="12594031" cy="38100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12594082" cy="38100"/>
              </a:xfrm>
              <a:custGeom>
                <a:avLst/>
                <a:gdLst/>
                <a:ahLst/>
                <a:cxnLst/>
                <a:rect r="r" b="b" t="t" l="l"/>
                <a:pathLst>
                  <a:path h="38100" w="12594082">
                    <a:moveTo>
                      <a:pt x="0" y="0"/>
                    </a:moveTo>
                    <a:lnTo>
                      <a:pt x="12594082" y="0"/>
                    </a:lnTo>
                    <a:lnTo>
                      <a:pt x="12594082" y="38100"/>
                    </a:lnTo>
                    <a:lnTo>
                      <a:pt x="0" y="38100"/>
                    </a:lnTo>
                    <a:close/>
                  </a:path>
                </a:pathLst>
              </a:custGeom>
              <a:solidFill>
                <a:srgbClr val="6237C8"/>
              </a:solidFill>
            </p:spPr>
          </p:sp>
        </p:grpSp>
        <p:sp>
          <p:nvSpPr>
            <p:cNvPr name="TextBox 16" id="16"/>
            <p:cNvSpPr txBox="true"/>
            <p:nvPr/>
          </p:nvSpPr>
          <p:spPr>
            <a:xfrm rot="0">
              <a:off x="0" y="5507920"/>
              <a:ext cx="4548188" cy="61068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691"/>
                </a:lnSpc>
              </a:pPr>
              <a:r>
                <a:rPr lang="en-US" sz="2924" b="true">
                  <a:solidFill>
                    <a:srgbClr val="272525"/>
                  </a:solidFill>
                  <a:latin typeface="Petrona Bold"/>
                  <a:ea typeface="Petrona Bold"/>
                  <a:cs typeface="Petrona Bold"/>
                  <a:sym typeface="Petrona Bold"/>
                </a:rPr>
                <a:t>篩選條件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0" y="6221783"/>
              <a:ext cx="12594031" cy="54840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608"/>
                </a:lnSpc>
              </a:pPr>
              <a:r>
                <a:rPr lang="en-US" sz="2237">
                  <a:solidFill>
                    <a:srgbClr val="272525"/>
                  </a:solidFill>
                  <a:latin typeface="Inter"/>
                  <a:ea typeface="Inter"/>
                  <a:cs typeface="Inter"/>
                  <a:sym typeface="Inter"/>
                </a:rPr>
                <a:t>商品代號：TXO、</a:t>
              </a:r>
              <a:r>
                <a:rPr lang="en-US" sz="2237">
                  <a:solidFill>
                    <a:srgbClr val="272525"/>
                  </a:solidFill>
                  <a:latin typeface="Inter"/>
                  <a:ea typeface="Inter"/>
                  <a:cs typeface="Inter"/>
                  <a:sym typeface="Inter"/>
                </a:rPr>
                <a:t>交易量：超過30、僅保留月選擇權</a:t>
              </a:r>
            </a:p>
          </p:txBody>
        </p:sp>
        <p:sp>
          <p:nvSpPr>
            <p:cNvPr name="TextBox 18" id="18"/>
            <p:cNvSpPr txBox="true"/>
            <p:nvPr/>
          </p:nvSpPr>
          <p:spPr>
            <a:xfrm rot="0">
              <a:off x="0" y="7397580"/>
              <a:ext cx="661391" cy="54840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608"/>
                </a:lnSpc>
              </a:pPr>
              <a:r>
                <a:rPr lang="en-US" sz="2237">
                  <a:solidFill>
                    <a:srgbClr val="272525"/>
                  </a:solidFill>
                  <a:latin typeface="Petrona Light"/>
                  <a:ea typeface="Petrona Light"/>
                  <a:cs typeface="Petrona Light"/>
                  <a:sym typeface="Petrona Light"/>
                </a:rPr>
                <a:t>03</a:t>
              </a:r>
            </a:p>
          </p:txBody>
        </p:sp>
        <p:grpSp>
          <p:nvGrpSpPr>
            <p:cNvPr name="Group 19" id="19"/>
            <p:cNvGrpSpPr/>
            <p:nvPr/>
          </p:nvGrpSpPr>
          <p:grpSpPr>
            <a:xfrm rot="0">
              <a:off x="0" y="8056516"/>
              <a:ext cx="12594031" cy="38100"/>
              <a:chOff x="0" y="0"/>
              <a:chExt cx="12594031" cy="38100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12594082" cy="38100"/>
              </a:xfrm>
              <a:custGeom>
                <a:avLst/>
                <a:gdLst/>
                <a:ahLst/>
                <a:cxnLst/>
                <a:rect r="r" b="b" t="t" l="l"/>
                <a:pathLst>
                  <a:path h="38100" w="12594082">
                    <a:moveTo>
                      <a:pt x="0" y="0"/>
                    </a:moveTo>
                    <a:lnTo>
                      <a:pt x="12594082" y="0"/>
                    </a:lnTo>
                    <a:lnTo>
                      <a:pt x="12594082" y="38100"/>
                    </a:lnTo>
                    <a:lnTo>
                      <a:pt x="0" y="38100"/>
                    </a:lnTo>
                    <a:close/>
                  </a:path>
                </a:pathLst>
              </a:custGeom>
              <a:solidFill>
                <a:srgbClr val="6237C8"/>
              </a:solidFill>
            </p:spPr>
          </p:sp>
        </p:grpSp>
        <p:sp>
          <p:nvSpPr>
            <p:cNvPr name="TextBox 21" id="21"/>
            <p:cNvSpPr txBox="true"/>
            <p:nvPr/>
          </p:nvSpPr>
          <p:spPr>
            <a:xfrm rot="0">
              <a:off x="0" y="8278969"/>
              <a:ext cx="4548188" cy="61068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691"/>
                </a:lnSpc>
              </a:pPr>
              <a:r>
                <a:rPr lang="en-US" sz="2924" b="true">
                  <a:solidFill>
                    <a:srgbClr val="272525"/>
                  </a:solidFill>
                  <a:latin typeface="Petrona Bold"/>
                  <a:ea typeface="Petrona Bold"/>
                  <a:cs typeface="Petrona Bold"/>
                  <a:sym typeface="Petrona Bold"/>
                </a:rPr>
                <a:t>分類方式</a:t>
              </a:r>
            </a:p>
          </p:txBody>
        </p:sp>
        <p:sp>
          <p:nvSpPr>
            <p:cNvPr name="TextBox 22" id="22"/>
            <p:cNvSpPr txBox="true"/>
            <p:nvPr/>
          </p:nvSpPr>
          <p:spPr>
            <a:xfrm rot="0">
              <a:off x="0" y="8992845"/>
              <a:ext cx="12594031" cy="55475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608"/>
                </a:lnSpc>
              </a:pPr>
              <a:r>
                <a:rPr lang="en-US" sz="2237">
                  <a:solidFill>
                    <a:srgbClr val="272525"/>
                  </a:solidFill>
                  <a:latin typeface="Inter"/>
                  <a:ea typeface="Inter"/>
                  <a:cs typeface="Inter"/>
                  <a:sym typeface="Inter"/>
                </a:rPr>
                <a:t>依「買賣權別」分為</a:t>
              </a:r>
              <a:r>
                <a:rPr lang="en-US" sz="2237" b="true">
                  <a:solidFill>
                    <a:srgbClr val="272525"/>
                  </a:solidFill>
                  <a:latin typeface="Inter Bold"/>
                  <a:ea typeface="Inter Bold"/>
                  <a:cs typeface="Inter Bold"/>
                  <a:sym typeface="Inter Bold"/>
                </a:rPr>
                <a:t>看漲（Call）</a:t>
              </a:r>
              <a:r>
                <a:rPr lang="en-US" sz="2237">
                  <a:solidFill>
                    <a:srgbClr val="272525"/>
                  </a:solidFill>
                  <a:latin typeface="Inter"/>
                  <a:ea typeface="Inter"/>
                  <a:cs typeface="Inter"/>
                  <a:sym typeface="Inter"/>
                </a:rPr>
                <a:t>與</a:t>
              </a:r>
              <a:r>
                <a:rPr lang="en-US" sz="2237" b="true">
                  <a:solidFill>
                    <a:srgbClr val="272525"/>
                  </a:solidFill>
                  <a:latin typeface="Inter Bold"/>
                  <a:ea typeface="Inter Bold"/>
                  <a:cs typeface="Inter Bold"/>
                  <a:sym typeface="Inter Bold"/>
                </a:rPr>
                <a:t>看跌（Put）</a:t>
              </a:r>
              <a:r>
                <a:rPr lang="en-US" sz="2237">
                  <a:solidFill>
                    <a:srgbClr val="272525"/>
                  </a:solidFill>
                  <a:latin typeface="Inter"/>
                  <a:ea typeface="Inter"/>
                  <a:cs typeface="Inter"/>
                  <a:sym typeface="Inter"/>
                </a:rPr>
                <a:t>兩大類</a:t>
              </a:r>
            </a:p>
          </p:txBody>
        </p:sp>
        <p:sp>
          <p:nvSpPr>
            <p:cNvPr name="TextBox 23" id="23"/>
            <p:cNvSpPr txBox="true"/>
            <p:nvPr/>
          </p:nvSpPr>
          <p:spPr>
            <a:xfrm rot="0">
              <a:off x="0" y="10030991"/>
              <a:ext cx="661391" cy="54840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608"/>
                </a:lnSpc>
              </a:pPr>
              <a:r>
                <a:rPr lang="en-US" sz="2237">
                  <a:solidFill>
                    <a:srgbClr val="272525"/>
                  </a:solidFill>
                  <a:latin typeface="Petrona Light"/>
                  <a:ea typeface="Petrona Light"/>
                  <a:cs typeface="Petrona Light"/>
                  <a:sym typeface="Petrona Light"/>
                </a:rPr>
                <a:t>04</a:t>
              </a:r>
            </a:p>
          </p:txBody>
        </p:sp>
        <p:grpSp>
          <p:nvGrpSpPr>
            <p:cNvPr name="Group 24" id="24"/>
            <p:cNvGrpSpPr/>
            <p:nvPr/>
          </p:nvGrpSpPr>
          <p:grpSpPr>
            <a:xfrm rot="0">
              <a:off x="0" y="10689927"/>
              <a:ext cx="12594031" cy="38100"/>
              <a:chOff x="0" y="0"/>
              <a:chExt cx="12594031" cy="38100"/>
            </a:xfrm>
          </p:grpSpPr>
          <p:sp>
            <p:nvSpPr>
              <p:cNvPr name="Freeform 25" id="25"/>
              <p:cNvSpPr/>
              <p:nvPr/>
            </p:nvSpPr>
            <p:spPr>
              <a:xfrm flipH="false" flipV="false" rot="0">
                <a:off x="0" y="0"/>
                <a:ext cx="12594082" cy="38100"/>
              </a:xfrm>
              <a:custGeom>
                <a:avLst/>
                <a:gdLst/>
                <a:ahLst/>
                <a:cxnLst/>
                <a:rect r="r" b="b" t="t" l="l"/>
                <a:pathLst>
                  <a:path h="38100" w="12594082">
                    <a:moveTo>
                      <a:pt x="0" y="0"/>
                    </a:moveTo>
                    <a:lnTo>
                      <a:pt x="12594082" y="0"/>
                    </a:lnTo>
                    <a:lnTo>
                      <a:pt x="12594082" y="38100"/>
                    </a:lnTo>
                    <a:lnTo>
                      <a:pt x="0" y="38100"/>
                    </a:lnTo>
                    <a:close/>
                  </a:path>
                </a:pathLst>
              </a:custGeom>
              <a:solidFill>
                <a:srgbClr val="6237C8"/>
              </a:solidFill>
            </p:spPr>
          </p:sp>
        </p:grpSp>
        <p:sp>
          <p:nvSpPr>
            <p:cNvPr name="TextBox 26" id="26"/>
            <p:cNvSpPr txBox="true"/>
            <p:nvPr/>
          </p:nvSpPr>
          <p:spPr>
            <a:xfrm rot="0">
              <a:off x="0" y="10912380"/>
              <a:ext cx="4548188" cy="61068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691"/>
                </a:lnSpc>
              </a:pPr>
              <a:r>
                <a:rPr lang="en-US" sz="2924" b="true">
                  <a:solidFill>
                    <a:srgbClr val="272525"/>
                  </a:solidFill>
                  <a:latin typeface="Petrona Bold"/>
                  <a:ea typeface="Petrona Bold"/>
                  <a:cs typeface="Petrona Bold"/>
                  <a:sym typeface="Petrona Bold"/>
                </a:rPr>
                <a:t>數值方法</a:t>
              </a:r>
            </a:p>
          </p:txBody>
        </p:sp>
        <p:sp>
          <p:nvSpPr>
            <p:cNvPr name="TextBox 27" id="27"/>
            <p:cNvSpPr txBox="true"/>
            <p:nvPr/>
          </p:nvSpPr>
          <p:spPr>
            <a:xfrm rot="0">
              <a:off x="0" y="11626243"/>
              <a:ext cx="12594031" cy="55475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608"/>
                </a:lnSpc>
              </a:pPr>
              <a:r>
                <a:rPr lang="en-US" sz="2237">
                  <a:solidFill>
                    <a:srgbClr val="272525"/>
                  </a:solidFill>
                  <a:latin typeface="Inter"/>
                  <a:ea typeface="Inter"/>
                  <a:cs typeface="Inter"/>
                  <a:sym typeface="Inter"/>
                </a:rPr>
                <a:t>使用</a:t>
              </a:r>
              <a:r>
                <a:rPr lang="en-US" sz="2237" b="true">
                  <a:solidFill>
                    <a:srgbClr val="272525"/>
                  </a:solidFill>
                  <a:latin typeface="Inter Bold"/>
                  <a:ea typeface="Inter Bold"/>
                  <a:cs typeface="Inter Bold"/>
                  <a:sym typeface="Inter Bold"/>
                </a:rPr>
                <a:t>二分法</a:t>
              </a:r>
              <a:r>
                <a:rPr lang="en-US" sz="2237">
                  <a:solidFill>
                    <a:srgbClr val="272525"/>
                  </a:solidFill>
                  <a:latin typeface="Inter"/>
                  <a:ea typeface="Inter"/>
                  <a:cs typeface="Inter"/>
                  <a:sym typeface="Inter"/>
                </a:rPr>
                <a:t>配合 Black-Scholes 模型反推每日隱含波動率（IV）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1131788" y="938066"/>
            <a:ext cx="6580684" cy="8632383"/>
            <a:chOff x="0" y="0"/>
            <a:chExt cx="8774245" cy="11509845"/>
          </a:xfrm>
        </p:grpSpPr>
        <p:sp>
          <p:nvSpPr>
            <p:cNvPr name="TextBox 29" id="29"/>
            <p:cNvSpPr txBox="true"/>
            <p:nvPr/>
          </p:nvSpPr>
          <p:spPr>
            <a:xfrm rot="0">
              <a:off x="0" y="-9525"/>
              <a:ext cx="5105344" cy="48492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37"/>
                </a:lnSpc>
              </a:pPr>
              <a:r>
                <a:rPr lang="en-US" sz="2349" b="true">
                  <a:solidFill>
                    <a:srgbClr val="00002E"/>
                  </a:solidFill>
                  <a:latin typeface="Nunito Bold"/>
                  <a:ea typeface="Nunito Bold"/>
                  <a:cs typeface="Nunito Bold"/>
                  <a:sym typeface="Nunito Bold"/>
                </a:rPr>
                <a:t>Black-Scholes 定價模型</a:t>
              </a:r>
            </a:p>
          </p:txBody>
        </p:sp>
        <p:grpSp>
          <p:nvGrpSpPr>
            <p:cNvPr name="Group 30" id="30"/>
            <p:cNvGrpSpPr/>
            <p:nvPr/>
          </p:nvGrpSpPr>
          <p:grpSpPr>
            <a:xfrm rot="0">
              <a:off x="0" y="832053"/>
              <a:ext cx="8774245" cy="577647"/>
              <a:chOff x="0" y="0"/>
              <a:chExt cx="8774245" cy="577647"/>
            </a:xfrm>
          </p:grpSpPr>
          <p:sp>
            <p:nvSpPr>
              <p:cNvPr name="Freeform 31" id="31" descr="preencoded.png"/>
              <p:cNvSpPr/>
              <p:nvPr/>
            </p:nvSpPr>
            <p:spPr>
              <a:xfrm flipH="false" flipV="false" rot="0">
                <a:off x="0" y="0"/>
                <a:ext cx="8774245" cy="577596"/>
              </a:xfrm>
              <a:custGeom>
                <a:avLst/>
                <a:gdLst/>
                <a:ahLst/>
                <a:cxnLst/>
                <a:rect r="r" b="b" t="t" l="l"/>
                <a:pathLst>
                  <a:path h="577596" w="8774245">
                    <a:moveTo>
                      <a:pt x="0" y="0"/>
                    </a:moveTo>
                    <a:lnTo>
                      <a:pt x="8774245" y="0"/>
                    </a:lnTo>
                    <a:lnTo>
                      <a:pt x="8774245" y="577596"/>
                    </a:lnTo>
                    <a:lnTo>
                      <a:pt x="0" y="577596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3"/>
                <a:stretch>
                  <a:fillRect l="-8177" t="0" r="-8177" b="-8"/>
                </a:stretch>
              </a:blipFill>
            </p:spPr>
          </p:sp>
        </p:grpSp>
        <p:grpSp>
          <p:nvGrpSpPr>
            <p:cNvPr name="Group 32" id="32"/>
            <p:cNvGrpSpPr/>
            <p:nvPr/>
          </p:nvGrpSpPr>
          <p:grpSpPr>
            <a:xfrm rot="0">
              <a:off x="0" y="1755978"/>
              <a:ext cx="8774245" cy="577647"/>
              <a:chOff x="0" y="0"/>
              <a:chExt cx="8774245" cy="577647"/>
            </a:xfrm>
          </p:grpSpPr>
          <p:sp>
            <p:nvSpPr>
              <p:cNvPr name="Freeform 33" id="33" descr="preencoded.png"/>
              <p:cNvSpPr/>
              <p:nvPr/>
            </p:nvSpPr>
            <p:spPr>
              <a:xfrm flipH="false" flipV="false" rot="0">
                <a:off x="0" y="0"/>
                <a:ext cx="8774245" cy="577596"/>
              </a:xfrm>
              <a:custGeom>
                <a:avLst/>
                <a:gdLst/>
                <a:ahLst/>
                <a:cxnLst/>
                <a:rect r="r" b="b" t="t" l="l"/>
                <a:pathLst>
                  <a:path h="577596" w="8774245">
                    <a:moveTo>
                      <a:pt x="0" y="0"/>
                    </a:moveTo>
                    <a:lnTo>
                      <a:pt x="8774245" y="0"/>
                    </a:lnTo>
                    <a:lnTo>
                      <a:pt x="8774245" y="577596"/>
                    </a:lnTo>
                    <a:lnTo>
                      <a:pt x="0" y="577596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4"/>
                <a:stretch>
                  <a:fillRect l="-8177" t="0" r="-8177" b="-8"/>
                </a:stretch>
              </a:blipFill>
            </p:spPr>
          </p:sp>
        </p:grpSp>
        <p:sp>
          <p:nvSpPr>
            <p:cNvPr name="TextBox 34" id="34"/>
            <p:cNvSpPr txBox="true"/>
            <p:nvPr/>
          </p:nvSpPr>
          <p:spPr>
            <a:xfrm rot="0">
              <a:off x="0" y="2632278"/>
              <a:ext cx="8774245" cy="95141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57"/>
                </a:lnSpc>
              </a:pPr>
              <a:r>
                <a:rPr lang="en-US" sz="2037">
                  <a:solidFill>
                    <a:srgbClr val="00002E"/>
                  </a:solidFill>
                  <a:latin typeface="PT Sans"/>
                  <a:ea typeface="PT Sans"/>
                  <a:cs typeface="PT Sans"/>
                  <a:sym typeface="PT Sans"/>
                </a:rPr>
                <a:t>模型中唯一無法直接觀察的參數為隱含波動率 ，需透過數值方法反推。</a:t>
              </a:r>
            </a:p>
          </p:txBody>
        </p:sp>
        <p:sp>
          <p:nvSpPr>
            <p:cNvPr name="TextBox 35" id="35"/>
            <p:cNvSpPr txBox="true"/>
            <p:nvPr/>
          </p:nvSpPr>
          <p:spPr>
            <a:xfrm rot="0">
              <a:off x="0" y="4372023"/>
              <a:ext cx="6697181" cy="49678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062"/>
                </a:lnSpc>
              </a:pPr>
              <a:r>
                <a:rPr lang="en-US" sz="2449" b="true">
                  <a:solidFill>
                    <a:srgbClr val="00002E"/>
                  </a:solidFill>
                  <a:latin typeface="Nunito Bold"/>
                  <a:ea typeface="Nunito Bold"/>
                  <a:cs typeface="Nunito Bold"/>
                  <a:sym typeface="Nunito Bold"/>
                </a:rPr>
                <a:t>二分法（Bisection Method）</a:t>
              </a:r>
            </a:p>
          </p:txBody>
        </p:sp>
        <p:grpSp>
          <p:nvGrpSpPr>
            <p:cNvPr name="Group 36" id="36"/>
            <p:cNvGrpSpPr/>
            <p:nvPr/>
          </p:nvGrpSpPr>
          <p:grpSpPr>
            <a:xfrm rot="0">
              <a:off x="0" y="5290459"/>
              <a:ext cx="8774245" cy="38100"/>
              <a:chOff x="0" y="0"/>
              <a:chExt cx="8774245" cy="38100"/>
            </a:xfrm>
          </p:grpSpPr>
          <p:sp>
            <p:nvSpPr>
              <p:cNvPr name="Freeform 37" id="37"/>
              <p:cNvSpPr/>
              <p:nvPr/>
            </p:nvSpPr>
            <p:spPr>
              <a:xfrm flipH="false" flipV="false" rot="0">
                <a:off x="0" y="0"/>
                <a:ext cx="8774245" cy="38100"/>
              </a:xfrm>
              <a:custGeom>
                <a:avLst/>
                <a:gdLst/>
                <a:ahLst/>
                <a:cxnLst/>
                <a:rect r="r" b="b" t="t" l="l"/>
                <a:pathLst>
                  <a:path h="38100" w="8774245">
                    <a:moveTo>
                      <a:pt x="0" y="0"/>
                    </a:moveTo>
                    <a:lnTo>
                      <a:pt x="8774245" y="0"/>
                    </a:lnTo>
                    <a:lnTo>
                      <a:pt x="8774245" y="38100"/>
                    </a:lnTo>
                    <a:lnTo>
                      <a:pt x="0" y="38100"/>
                    </a:lnTo>
                    <a:close/>
                  </a:path>
                </a:pathLst>
              </a:custGeom>
              <a:solidFill>
                <a:srgbClr val="2D4DF2"/>
              </a:solidFill>
            </p:spPr>
          </p:sp>
        </p:grpSp>
        <p:sp>
          <p:nvSpPr>
            <p:cNvPr name="TextBox 38" id="38"/>
            <p:cNvSpPr txBox="true"/>
            <p:nvPr/>
          </p:nvSpPr>
          <p:spPr>
            <a:xfrm rot="0">
              <a:off x="0" y="5812944"/>
              <a:ext cx="8774245" cy="49630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102"/>
                </a:lnSpc>
              </a:pPr>
              <a:r>
                <a:rPr lang="en-US" sz="2137">
                  <a:solidFill>
                    <a:srgbClr val="00002E"/>
                  </a:solidFill>
                  <a:latin typeface="PT Sans"/>
                  <a:ea typeface="PT Sans"/>
                  <a:cs typeface="PT Sans"/>
                  <a:sym typeface="PT Sans"/>
                </a:rPr>
                <a:t>設定初始區間 (0.01%, 500%)</a:t>
              </a:r>
            </a:p>
          </p:txBody>
        </p:sp>
        <p:grpSp>
          <p:nvGrpSpPr>
            <p:cNvPr name="Group 39" id="39"/>
            <p:cNvGrpSpPr/>
            <p:nvPr/>
          </p:nvGrpSpPr>
          <p:grpSpPr>
            <a:xfrm rot="0">
              <a:off x="0" y="6855348"/>
              <a:ext cx="8774245" cy="38100"/>
              <a:chOff x="0" y="0"/>
              <a:chExt cx="8774245" cy="38100"/>
            </a:xfrm>
          </p:grpSpPr>
          <p:sp>
            <p:nvSpPr>
              <p:cNvPr name="Freeform 40" id="40"/>
              <p:cNvSpPr/>
              <p:nvPr/>
            </p:nvSpPr>
            <p:spPr>
              <a:xfrm flipH="false" flipV="false" rot="0">
                <a:off x="0" y="0"/>
                <a:ext cx="8774245" cy="38100"/>
              </a:xfrm>
              <a:custGeom>
                <a:avLst/>
                <a:gdLst/>
                <a:ahLst/>
                <a:cxnLst/>
                <a:rect r="r" b="b" t="t" l="l"/>
                <a:pathLst>
                  <a:path h="38100" w="8774245">
                    <a:moveTo>
                      <a:pt x="0" y="0"/>
                    </a:moveTo>
                    <a:lnTo>
                      <a:pt x="8774245" y="0"/>
                    </a:lnTo>
                    <a:lnTo>
                      <a:pt x="8774245" y="38100"/>
                    </a:lnTo>
                    <a:lnTo>
                      <a:pt x="0" y="38100"/>
                    </a:lnTo>
                    <a:close/>
                  </a:path>
                </a:pathLst>
              </a:custGeom>
              <a:solidFill>
                <a:srgbClr val="018CE1"/>
              </a:solidFill>
            </p:spPr>
          </p:sp>
        </p:grpSp>
        <p:sp>
          <p:nvSpPr>
            <p:cNvPr name="TextBox 41" id="41"/>
            <p:cNvSpPr txBox="true"/>
            <p:nvPr/>
          </p:nvSpPr>
          <p:spPr>
            <a:xfrm rot="0">
              <a:off x="0" y="7372873"/>
              <a:ext cx="8774245" cy="49630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102"/>
                </a:lnSpc>
              </a:pPr>
              <a:r>
                <a:rPr lang="en-US" sz="2137">
                  <a:solidFill>
                    <a:srgbClr val="00002E"/>
                  </a:solidFill>
                  <a:latin typeface="PT Sans"/>
                  <a:ea typeface="PT Sans"/>
                  <a:cs typeface="PT Sans"/>
                  <a:sym typeface="PT Sans"/>
                </a:rPr>
                <a:t>取中點計算理論價與市價殘差</a:t>
              </a:r>
            </a:p>
          </p:txBody>
        </p:sp>
        <p:grpSp>
          <p:nvGrpSpPr>
            <p:cNvPr name="Group 42" id="42"/>
            <p:cNvGrpSpPr/>
            <p:nvPr/>
          </p:nvGrpSpPr>
          <p:grpSpPr>
            <a:xfrm rot="0">
              <a:off x="0" y="8415276"/>
              <a:ext cx="8774245" cy="38100"/>
              <a:chOff x="0" y="0"/>
              <a:chExt cx="8774245" cy="38100"/>
            </a:xfrm>
          </p:grpSpPr>
          <p:sp>
            <p:nvSpPr>
              <p:cNvPr name="Freeform 43" id="43"/>
              <p:cNvSpPr/>
              <p:nvPr/>
            </p:nvSpPr>
            <p:spPr>
              <a:xfrm flipH="false" flipV="false" rot="0">
                <a:off x="0" y="0"/>
                <a:ext cx="8774245" cy="38100"/>
              </a:xfrm>
              <a:custGeom>
                <a:avLst/>
                <a:gdLst/>
                <a:ahLst/>
                <a:cxnLst/>
                <a:rect r="r" b="b" t="t" l="l"/>
                <a:pathLst>
                  <a:path h="38100" w="8774245">
                    <a:moveTo>
                      <a:pt x="0" y="0"/>
                    </a:moveTo>
                    <a:lnTo>
                      <a:pt x="8774245" y="0"/>
                    </a:lnTo>
                    <a:lnTo>
                      <a:pt x="8774245" y="38100"/>
                    </a:lnTo>
                    <a:lnTo>
                      <a:pt x="0" y="38100"/>
                    </a:lnTo>
                    <a:close/>
                  </a:path>
                </a:pathLst>
              </a:custGeom>
              <a:solidFill>
                <a:srgbClr val="2D4DF2"/>
              </a:solidFill>
            </p:spPr>
          </p:sp>
        </p:grpSp>
        <p:sp>
          <p:nvSpPr>
            <p:cNvPr name="TextBox 44" id="44"/>
            <p:cNvSpPr txBox="true"/>
            <p:nvPr/>
          </p:nvSpPr>
          <p:spPr>
            <a:xfrm rot="0">
              <a:off x="0" y="8932801"/>
              <a:ext cx="8774245" cy="49630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102"/>
                </a:lnSpc>
              </a:pPr>
              <a:r>
                <a:rPr lang="en-US" sz="2137">
                  <a:solidFill>
                    <a:srgbClr val="00002E"/>
                  </a:solidFill>
                  <a:latin typeface="PT Sans"/>
                  <a:ea typeface="PT Sans"/>
                  <a:cs typeface="PT Sans"/>
                  <a:sym typeface="PT Sans"/>
                </a:rPr>
                <a:t>依殘差符號縮減區間、反覆迭代</a:t>
              </a:r>
            </a:p>
          </p:txBody>
        </p:sp>
        <p:grpSp>
          <p:nvGrpSpPr>
            <p:cNvPr name="Group 45" id="45"/>
            <p:cNvGrpSpPr/>
            <p:nvPr/>
          </p:nvGrpSpPr>
          <p:grpSpPr>
            <a:xfrm rot="0">
              <a:off x="0" y="9975205"/>
              <a:ext cx="8774245" cy="38100"/>
              <a:chOff x="0" y="0"/>
              <a:chExt cx="8774245" cy="38100"/>
            </a:xfrm>
          </p:grpSpPr>
          <p:sp>
            <p:nvSpPr>
              <p:cNvPr name="Freeform 46" id="46"/>
              <p:cNvSpPr/>
              <p:nvPr/>
            </p:nvSpPr>
            <p:spPr>
              <a:xfrm flipH="false" flipV="false" rot="0">
                <a:off x="0" y="0"/>
                <a:ext cx="8774245" cy="38100"/>
              </a:xfrm>
              <a:custGeom>
                <a:avLst/>
                <a:gdLst/>
                <a:ahLst/>
                <a:cxnLst/>
                <a:rect r="r" b="b" t="t" l="l"/>
                <a:pathLst>
                  <a:path h="38100" w="8774245">
                    <a:moveTo>
                      <a:pt x="0" y="0"/>
                    </a:moveTo>
                    <a:lnTo>
                      <a:pt x="8774245" y="0"/>
                    </a:lnTo>
                    <a:lnTo>
                      <a:pt x="8774245" y="38100"/>
                    </a:lnTo>
                    <a:lnTo>
                      <a:pt x="0" y="38100"/>
                    </a:lnTo>
                    <a:close/>
                  </a:path>
                </a:pathLst>
              </a:custGeom>
              <a:solidFill>
                <a:srgbClr val="2D4DF2"/>
              </a:solidFill>
            </p:spPr>
          </p:sp>
        </p:grpSp>
        <p:sp>
          <p:nvSpPr>
            <p:cNvPr name="TextBox 47" id="47"/>
            <p:cNvSpPr txBox="true"/>
            <p:nvPr/>
          </p:nvSpPr>
          <p:spPr>
            <a:xfrm rot="0">
              <a:off x="0" y="10492730"/>
              <a:ext cx="8774245" cy="101711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101"/>
                </a:lnSpc>
              </a:pPr>
              <a:r>
                <a:rPr lang="en-US" sz="2137">
                  <a:solidFill>
                    <a:srgbClr val="00002E"/>
                  </a:solidFill>
                  <a:latin typeface="PT Sans"/>
                  <a:ea typeface="PT Sans"/>
                  <a:cs typeface="PT Sans"/>
                  <a:sym typeface="PT Sans"/>
                </a:rPr>
                <a:t>直至收斂，輸出精確 IV 估計值</a:t>
              </a:r>
            </a:p>
            <a:p>
              <a:pPr algn="l">
                <a:lnSpc>
                  <a:spcPts val="3102"/>
                </a:lnSpc>
              </a:pPr>
              <a:r>
                <a:rPr lang="en-US" sz="2137">
                  <a:solidFill>
                    <a:srgbClr val="00002E"/>
                  </a:solidFill>
                  <a:latin typeface="PT Sans"/>
                  <a:ea typeface="PT Sans"/>
                  <a:cs typeface="PT Sans"/>
                  <a:sym typeface="PT Sans"/>
                </a:rPr>
                <a:t>：P、C與成交價誤差為10^-5、10^-6以內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AF2E9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DFAF7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0" y="8703548"/>
            <a:ext cx="18288000" cy="1583452"/>
            <a:chOff x="0" y="0"/>
            <a:chExt cx="24384000" cy="2111270"/>
          </a:xfrm>
        </p:grpSpPr>
        <p:sp>
          <p:nvSpPr>
            <p:cNvPr name="Freeform 7" id="7" descr="preencoded.png"/>
            <p:cNvSpPr/>
            <p:nvPr/>
          </p:nvSpPr>
          <p:spPr>
            <a:xfrm flipH="false" flipV="false" rot="0">
              <a:off x="0" y="0"/>
              <a:ext cx="24384000" cy="2111270"/>
            </a:xfrm>
            <a:custGeom>
              <a:avLst/>
              <a:gdLst/>
              <a:ahLst/>
              <a:cxnLst/>
              <a:rect r="r" b="b" t="t" l="l"/>
              <a:pathLst>
                <a:path h="211127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2111270"/>
                  </a:lnTo>
                  <a:lnTo>
                    <a:pt x="0" y="21112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816208" r="0" b="-816208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963663" y="990600"/>
            <a:ext cx="5611813" cy="9910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46"/>
              </a:lnSpc>
            </a:pPr>
            <a:r>
              <a:rPr lang="en-US" sz="6312" b="true">
                <a:solidFill>
                  <a:srgbClr val="F95F88"/>
                </a:solidFill>
                <a:latin typeface="Petrona Bold"/>
                <a:ea typeface="Petrona Bold"/>
                <a:cs typeface="Petrona Bold"/>
                <a:sym typeface="Petrona Bold"/>
              </a:rPr>
              <a:t>財務與</a:t>
            </a:r>
            <a:r>
              <a:rPr lang="en-US" sz="6312" b="true">
                <a:solidFill>
                  <a:srgbClr val="F95F88"/>
                </a:solidFill>
                <a:latin typeface="Petrona Bold"/>
                <a:ea typeface="Petrona Bold"/>
                <a:cs typeface="Petrona Bold"/>
                <a:sym typeface="Petrona Bold"/>
              </a:rPr>
              <a:t>統計意義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541362" y="3923085"/>
            <a:ext cx="17205277" cy="3604813"/>
            <a:chOff x="0" y="0"/>
            <a:chExt cx="22940369" cy="4806418"/>
          </a:xfrm>
        </p:grpSpPr>
        <p:grpSp>
          <p:nvGrpSpPr>
            <p:cNvPr name="Group 10" id="10"/>
            <p:cNvGrpSpPr/>
            <p:nvPr/>
          </p:nvGrpSpPr>
          <p:grpSpPr>
            <a:xfrm rot="0">
              <a:off x="0" y="0"/>
              <a:ext cx="7393409" cy="4806418"/>
              <a:chOff x="0" y="0"/>
              <a:chExt cx="6969328" cy="4530725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19050" y="19050"/>
                <a:ext cx="6931152" cy="4492498"/>
              </a:xfrm>
              <a:custGeom>
                <a:avLst/>
                <a:gdLst/>
                <a:ahLst/>
                <a:cxnLst/>
                <a:rect r="r" b="b" t="t" l="l"/>
                <a:pathLst>
                  <a:path h="4492498" w="6931152">
                    <a:moveTo>
                      <a:pt x="0" y="598424"/>
                    </a:moveTo>
                    <a:cubicBezTo>
                      <a:pt x="0" y="267970"/>
                      <a:pt x="268732" y="0"/>
                      <a:pt x="600202" y="0"/>
                    </a:cubicBezTo>
                    <a:lnTo>
                      <a:pt x="6330950" y="0"/>
                    </a:lnTo>
                    <a:cubicBezTo>
                      <a:pt x="6662420" y="0"/>
                      <a:pt x="6931152" y="267970"/>
                      <a:pt x="6931152" y="598424"/>
                    </a:cubicBezTo>
                    <a:lnTo>
                      <a:pt x="6931152" y="3894074"/>
                    </a:lnTo>
                    <a:cubicBezTo>
                      <a:pt x="6931152" y="4224655"/>
                      <a:pt x="6662420" y="4492498"/>
                      <a:pt x="6330950" y="4492498"/>
                    </a:cubicBezTo>
                    <a:lnTo>
                      <a:pt x="600202" y="4492498"/>
                    </a:lnTo>
                    <a:cubicBezTo>
                      <a:pt x="268732" y="4492498"/>
                      <a:pt x="0" y="4224528"/>
                      <a:pt x="0" y="3894074"/>
                    </a:cubicBezTo>
                    <a:close/>
                  </a:path>
                </a:pathLst>
              </a:custGeom>
              <a:solidFill>
                <a:srgbClr val="F3F3FF"/>
              </a:solidFill>
            </p:spPr>
          </p:sp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6969252" cy="4530598"/>
              </a:xfrm>
              <a:custGeom>
                <a:avLst/>
                <a:gdLst/>
                <a:ahLst/>
                <a:cxnLst/>
                <a:rect r="r" b="b" t="t" l="l"/>
                <a:pathLst>
                  <a:path h="4530598" w="6969252">
                    <a:moveTo>
                      <a:pt x="0" y="617474"/>
                    </a:moveTo>
                    <a:cubicBezTo>
                      <a:pt x="0" y="276479"/>
                      <a:pt x="277368" y="0"/>
                      <a:pt x="619252" y="0"/>
                    </a:cubicBezTo>
                    <a:lnTo>
                      <a:pt x="6350000" y="0"/>
                    </a:lnTo>
                    <a:lnTo>
                      <a:pt x="6350000" y="19050"/>
                    </a:lnTo>
                    <a:lnTo>
                      <a:pt x="6350000" y="0"/>
                    </a:lnTo>
                    <a:cubicBezTo>
                      <a:pt x="6692011" y="0"/>
                      <a:pt x="6969252" y="276479"/>
                      <a:pt x="6969252" y="617474"/>
                    </a:cubicBezTo>
                    <a:lnTo>
                      <a:pt x="6950202" y="617474"/>
                    </a:lnTo>
                    <a:lnTo>
                      <a:pt x="6969252" y="617474"/>
                    </a:lnTo>
                    <a:lnTo>
                      <a:pt x="6969252" y="3913124"/>
                    </a:lnTo>
                    <a:lnTo>
                      <a:pt x="6950202" y="3913124"/>
                    </a:lnTo>
                    <a:lnTo>
                      <a:pt x="6969252" y="3913124"/>
                    </a:lnTo>
                    <a:cubicBezTo>
                      <a:pt x="6969252" y="4254246"/>
                      <a:pt x="6691884" y="4530598"/>
                      <a:pt x="6350000" y="4530598"/>
                    </a:cubicBezTo>
                    <a:lnTo>
                      <a:pt x="6350000" y="4511548"/>
                    </a:lnTo>
                    <a:lnTo>
                      <a:pt x="6350000" y="4530598"/>
                    </a:lnTo>
                    <a:lnTo>
                      <a:pt x="619252" y="4530598"/>
                    </a:lnTo>
                    <a:lnTo>
                      <a:pt x="619252" y="4511548"/>
                    </a:lnTo>
                    <a:lnTo>
                      <a:pt x="619252" y="4530598"/>
                    </a:lnTo>
                    <a:cubicBezTo>
                      <a:pt x="277368" y="4530725"/>
                      <a:pt x="0" y="4254246"/>
                      <a:pt x="0" y="3913251"/>
                    </a:cubicBezTo>
                    <a:lnTo>
                      <a:pt x="0" y="617474"/>
                    </a:lnTo>
                    <a:lnTo>
                      <a:pt x="19050" y="617474"/>
                    </a:lnTo>
                    <a:lnTo>
                      <a:pt x="0" y="617474"/>
                    </a:lnTo>
                    <a:moveTo>
                      <a:pt x="38100" y="617474"/>
                    </a:moveTo>
                    <a:lnTo>
                      <a:pt x="38100" y="3913124"/>
                    </a:lnTo>
                    <a:lnTo>
                      <a:pt x="19050" y="3913124"/>
                    </a:lnTo>
                    <a:lnTo>
                      <a:pt x="38100" y="3913124"/>
                    </a:lnTo>
                    <a:cubicBezTo>
                      <a:pt x="38100" y="4233037"/>
                      <a:pt x="298196" y="4492498"/>
                      <a:pt x="619252" y="4492498"/>
                    </a:cubicBezTo>
                    <a:lnTo>
                      <a:pt x="6350000" y="4492498"/>
                    </a:lnTo>
                    <a:cubicBezTo>
                      <a:pt x="6671056" y="4492498"/>
                      <a:pt x="6931152" y="4233037"/>
                      <a:pt x="6931152" y="3913124"/>
                    </a:cubicBezTo>
                    <a:lnTo>
                      <a:pt x="6931152" y="617474"/>
                    </a:lnTo>
                    <a:cubicBezTo>
                      <a:pt x="6931279" y="297561"/>
                      <a:pt x="6671056" y="38100"/>
                      <a:pt x="6350000" y="38100"/>
                    </a:cubicBezTo>
                    <a:lnTo>
                      <a:pt x="619252" y="38100"/>
                    </a:lnTo>
                    <a:lnTo>
                      <a:pt x="619252" y="19050"/>
                    </a:lnTo>
                    <a:lnTo>
                      <a:pt x="619252" y="38100"/>
                    </a:lnTo>
                    <a:cubicBezTo>
                      <a:pt x="298196" y="38100"/>
                      <a:pt x="38100" y="297561"/>
                      <a:pt x="38100" y="617474"/>
                    </a:cubicBezTo>
                    <a:close/>
                  </a:path>
                </a:pathLst>
              </a:custGeom>
              <a:solidFill>
                <a:srgbClr val="2D4DF2"/>
              </a:solidFill>
            </p:spPr>
          </p:sp>
        </p:grpSp>
        <p:sp>
          <p:nvSpPr>
            <p:cNvPr name="TextBox 13" id="13"/>
            <p:cNvSpPr txBox="true"/>
            <p:nvPr/>
          </p:nvSpPr>
          <p:spPr>
            <a:xfrm rot="0">
              <a:off x="483761" y="474242"/>
              <a:ext cx="4979247" cy="63083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896"/>
                </a:lnSpc>
              </a:pPr>
              <a:r>
                <a:rPr lang="en-US" sz="3117" b="true">
                  <a:solidFill>
                    <a:srgbClr val="00002E"/>
                  </a:solidFill>
                  <a:latin typeface="Nunito Bold"/>
                  <a:ea typeface="Nunito Bold"/>
                  <a:cs typeface="Nunito Bold"/>
                  <a:sym typeface="Nunito Bold"/>
                </a:rPr>
                <a:t>IV 平均數 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483761" y="1255141"/>
              <a:ext cx="6425888" cy="6392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302"/>
                </a:lnSpc>
              </a:pPr>
              <a:r>
                <a:rPr lang="en-US" sz="2653" b="true">
                  <a:solidFill>
                    <a:srgbClr val="00002E"/>
                  </a:solidFill>
                  <a:latin typeface="PT Sans Bold"/>
                  <a:ea typeface="PT Sans Bold"/>
                  <a:cs typeface="PT Sans Bold"/>
                  <a:sym typeface="PT Sans Bold"/>
                </a:rPr>
                <a:t>統計面：</a:t>
              </a:r>
              <a:r>
                <a:rPr lang="en-US" sz="2653">
                  <a:solidFill>
                    <a:srgbClr val="00002E"/>
                  </a:solidFill>
                  <a:latin typeface="PT Sans"/>
                  <a:ea typeface="PT Sans"/>
                  <a:cs typeface="PT Sans"/>
                  <a:sym typeface="PT Sans"/>
                </a:rPr>
                <a:t>期望值的集中趨勢</a:t>
              </a:r>
            </a:p>
          </p:txBody>
        </p:sp>
        <p:sp>
          <p:nvSpPr>
            <p:cNvPr name="TextBox 15" id="15"/>
            <p:cNvSpPr txBox="true"/>
            <p:nvPr/>
          </p:nvSpPr>
          <p:spPr>
            <a:xfrm rot="0">
              <a:off x="483761" y="2186233"/>
              <a:ext cx="6768284" cy="13631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302"/>
                </a:lnSpc>
              </a:pPr>
              <a:r>
                <a:rPr lang="en-US" sz="2653" b="true">
                  <a:solidFill>
                    <a:srgbClr val="00002E"/>
                  </a:solidFill>
                  <a:latin typeface="PT Sans Bold"/>
                  <a:ea typeface="PT Sans Bold"/>
                  <a:cs typeface="PT Sans Bold"/>
                  <a:sym typeface="PT Sans Bold"/>
                </a:rPr>
                <a:t>財務面：</a:t>
              </a:r>
              <a:r>
                <a:rPr lang="en-US" sz="2653">
                  <a:solidFill>
                    <a:srgbClr val="00002E"/>
                  </a:solidFill>
                  <a:latin typeface="PT Sans"/>
                  <a:ea typeface="PT Sans"/>
                  <a:cs typeface="PT Sans"/>
                  <a:sym typeface="PT Sans"/>
                </a:rPr>
                <a:t>市場對未來波動的「成本共識」，越高代表避險成本越昂貴</a:t>
              </a:r>
            </a:p>
          </p:txBody>
        </p:sp>
        <p:grpSp>
          <p:nvGrpSpPr>
            <p:cNvPr name="Group 16" id="16"/>
            <p:cNvGrpSpPr/>
            <p:nvPr/>
          </p:nvGrpSpPr>
          <p:grpSpPr>
            <a:xfrm rot="0">
              <a:off x="7776110" y="0"/>
              <a:ext cx="7393409" cy="4806418"/>
              <a:chOff x="0" y="0"/>
              <a:chExt cx="6969328" cy="4530725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19050" y="19050"/>
                <a:ext cx="6931152" cy="4492498"/>
              </a:xfrm>
              <a:custGeom>
                <a:avLst/>
                <a:gdLst/>
                <a:ahLst/>
                <a:cxnLst/>
                <a:rect r="r" b="b" t="t" l="l"/>
                <a:pathLst>
                  <a:path h="4492498" w="6931152">
                    <a:moveTo>
                      <a:pt x="0" y="598424"/>
                    </a:moveTo>
                    <a:cubicBezTo>
                      <a:pt x="0" y="267970"/>
                      <a:pt x="268732" y="0"/>
                      <a:pt x="600202" y="0"/>
                    </a:cubicBezTo>
                    <a:lnTo>
                      <a:pt x="6330950" y="0"/>
                    </a:lnTo>
                    <a:cubicBezTo>
                      <a:pt x="6662420" y="0"/>
                      <a:pt x="6931152" y="267970"/>
                      <a:pt x="6931152" y="598424"/>
                    </a:cubicBezTo>
                    <a:lnTo>
                      <a:pt x="6931152" y="3894074"/>
                    </a:lnTo>
                    <a:cubicBezTo>
                      <a:pt x="6931152" y="4224655"/>
                      <a:pt x="6662420" y="4492498"/>
                      <a:pt x="6330950" y="4492498"/>
                    </a:cubicBezTo>
                    <a:lnTo>
                      <a:pt x="600202" y="4492498"/>
                    </a:lnTo>
                    <a:cubicBezTo>
                      <a:pt x="268732" y="4492498"/>
                      <a:pt x="0" y="4224528"/>
                      <a:pt x="0" y="3894074"/>
                    </a:cubicBezTo>
                    <a:close/>
                  </a:path>
                </a:pathLst>
              </a:custGeom>
              <a:solidFill>
                <a:srgbClr val="F3F3FF"/>
              </a:solidFill>
            </p:spPr>
          </p:sp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6969252" cy="4530598"/>
              </a:xfrm>
              <a:custGeom>
                <a:avLst/>
                <a:gdLst/>
                <a:ahLst/>
                <a:cxnLst/>
                <a:rect r="r" b="b" t="t" l="l"/>
                <a:pathLst>
                  <a:path h="4530598" w="6969252">
                    <a:moveTo>
                      <a:pt x="0" y="617474"/>
                    </a:moveTo>
                    <a:cubicBezTo>
                      <a:pt x="0" y="276479"/>
                      <a:pt x="277368" y="0"/>
                      <a:pt x="619252" y="0"/>
                    </a:cubicBezTo>
                    <a:lnTo>
                      <a:pt x="6350000" y="0"/>
                    </a:lnTo>
                    <a:lnTo>
                      <a:pt x="6350000" y="19050"/>
                    </a:lnTo>
                    <a:lnTo>
                      <a:pt x="6350000" y="0"/>
                    </a:lnTo>
                    <a:cubicBezTo>
                      <a:pt x="6692011" y="0"/>
                      <a:pt x="6969252" y="276479"/>
                      <a:pt x="6969252" y="617474"/>
                    </a:cubicBezTo>
                    <a:lnTo>
                      <a:pt x="6950202" y="617474"/>
                    </a:lnTo>
                    <a:lnTo>
                      <a:pt x="6969252" y="617474"/>
                    </a:lnTo>
                    <a:lnTo>
                      <a:pt x="6969252" y="3913124"/>
                    </a:lnTo>
                    <a:lnTo>
                      <a:pt x="6950202" y="3913124"/>
                    </a:lnTo>
                    <a:lnTo>
                      <a:pt x="6969252" y="3913124"/>
                    </a:lnTo>
                    <a:cubicBezTo>
                      <a:pt x="6969252" y="4254246"/>
                      <a:pt x="6691884" y="4530598"/>
                      <a:pt x="6350000" y="4530598"/>
                    </a:cubicBezTo>
                    <a:lnTo>
                      <a:pt x="6350000" y="4511548"/>
                    </a:lnTo>
                    <a:lnTo>
                      <a:pt x="6350000" y="4530598"/>
                    </a:lnTo>
                    <a:lnTo>
                      <a:pt x="619252" y="4530598"/>
                    </a:lnTo>
                    <a:lnTo>
                      <a:pt x="619252" y="4511548"/>
                    </a:lnTo>
                    <a:lnTo>
                      <a:pt x="619252" y="4530598"/>
                    </a:lnTo>
                    <a:cubicBezTo>
                      <a:pt x="277368" y="4530725"/>
                      <a:pt x="0" y="4254246"/>
                      <a:pt x="0" y="3913251"/>
                    </a:cubicBezTo>
                    <a:lnTo>
                      <a:pt x="0" y="617474"/>
                    </a:lnTo>
                    <a:lnTo>
                      <a:pt x="19050" y="617474"/>
                    </a:lnTo>
                    <a:lnTo>
                      <a:pt x="0" y="617474"/>
                    </a:lnTo>
                    <a:moveTo>
                      <a:pt x="38100" y="617474"/>
                    </a:moveTo>
                    <a:lnTo>
                      <a:pt x="38100" y="3913124"/>
                    </a:lnTo>
                    <a:lnTo>
                      <a:pt x="19050" y="3913124"/>
                    </a:lnTo>
                    <a:lnTo>
                      <a:pt x="38100" y="3913124"/>
                    </a:lnTo>
                    <a:cubicBezTo>
                      <a:pt x="38100" y="4233037"/>
                      <a:pt x="298196" y="4492498"/>
                      <a:pt x="619252" y="4492498"/>
                    </a:cubicBezTo>
                    <a:lnTo>
                      <a:pt x="6350000" y="4492498"/>
                    </a:lnTo>
                    <a:cubicBezTo>
                      <a:pt x="6671056" y="4492498"/>
                      <a:pt x="6931152" y="4233037"/>
                      <a:pt x="6931152" y="3913124"/>
                    </a:cubicBezTo>
                    <a:lnTo>
                      <a:pt x="6931152" y="617474"/>
                    </a:lnTo>
                    <a:cubicBezTo>
                      <a:pt x="6931279" y="297561"/>
                      <a:pt x="6671056" y="38100"/>
                      <a:pt x="6350000" y="38100"/>
                    </a:cubicBezTo>
                    <a:lnTo>
                      <a:pt x="619252" y="38100"/>
                    </a:lnTo>
                    <a:lnTo>
                      <a:pt x="619252" y="19050"/>
                    </a:lnTo>
                    <a:lnTo>
                      <a:pt x="619252" y="38100"/>
                    </a:lnTo>
                    <a:cubicBezTo>
                      <a:pt x="298196" y="38100"/>
                      <a:pt x="38100" y="297561"/>
                      <a:pt x="38100" y="617474"/>
                    </a:cubicBezTo>
                    <a:close/>
                  </a:path>
                </a:pathLst>
              </a:custGeom>
              <a:solidFill>
                <a:srgbClr val="018CE1"/>
              </a:solidFill>
            </p:spPr>
          </p:sp>
        </p:grpSp>
        <p:sp>
          <p:nvSpPr>
            <p:cNvPr name="TextBox 19" id="19"/>
            <p:cNvSpPr txBox="true"/>
            <p:nvPr/>
          </p:nvSpPr>
          <p:spPr>
            <a:xfrm rot="0">
              <a:off x="8259878" y="474242"/>
              <a:ext cx="4979247" cy="63083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896"/>
                </a:lnSpc>
              </a:pPr>
              <a:r>
                <a:rPr lang="en-US" sz="3117" b="true">
                  <a:solidFill>
                    <a:srgbClr val="00002E"/>
                  </a:solidFill>
                  <a:latin typeface="Nunito Bold"/>
                  <a:ea typeface="Nunito Bold"/>
                  <a:cs typeface="Nunito Bold"/>
                  <a:sym typeface="Nunito Bold"/>
                </a:rPr>
                <a:t>IV 樣本標準差 </a:t>
              </a:r>
            </a:p>
          </p:txBody>
        </p:sp>
        <p:sp>
          <p:nvSpPr>
            <p:cNvPr name="TextBox 20" id="20"/>
            <p:cNvSpPr txBox="true"/>
            <p:nvPr/>
          </p:nvSpPr>
          <p:spPr>
            <a:xfrm rot="0">
              <a:off x="8259878" y="1255141"/>
              <a:ext cx="6425888" cy="6392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302"/>
                </a:lnSpc>
              </a:pPr>
              <a:r>
                <a:rPr lang="en-US" sz="2653" b="true">
                  <a:solidFill>
                    <a:srgbClr val="00002E"/>
                  </a:solidFill>
                  <a:latin typeface="PT Sans Bold"/>
                  <a:ea typeface="PT Sans Bold"/>
                  <a:cs typeface="PT Sans Bold"/>
                  <a:sym typeface="PT Sans Bold"/>
                </a:rPr>
                <a:t>統計面：</a:t>
              </a:r>
              <a:r>
                <a:rPr lang="en-US" sz="2653">
                  <a:solidFill>
                    <a:srgbClr val="00002E"/>
                  </a:solidFill>
                  <a:latin typeface="PT Sans"/>
                  <a:ea typeface="PT Sans"/>
                  <a:cs typeface="PT Sans"/>
                  <a:sym typeface="PT Sans"/>
                </a:rPr>
                <a:t>預期的離散程度</a:t>
              </a:r>
            </a:p>
          </p:txBody>
        </p:sp>
        <p:sp>
          <p:nvSpPr>
            <p:cNvPr name="TextBox 21" id="21"/>
            <p:cNvSpPr txBox="true"/>
            <p:nvPr/>
          </p:nvSpPr>
          <p:spPr>
            <a:xfrm rot="0">
              <a:off x="8259878" y="2186233"/>
              <a:ext cx="6909642" cy="20870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302"/>
                </a:lnSpc>
              </a:pPr>
              <a:r>
                <a:rPr lang="en-US" sz="2653" b="true">
                  <a:solidFill>
                    <a:srgbClr val="00002E"/>
                  </a:solidFill>
                  <a:latin typeface="PT Sans Bold"/>
                  <a:ea typeface="PT Sans Bold"/>
                  <a:cs typeface="PT Sans Bold"/>
                  <a:sym typeface="PT Sans Bold"/>
                </a:rPr>
                <a:t>財務面：</a:t>
              </a:r>
              <a:r>
                <a:rPr lang="en-US" sz="2653">
                  <a:solidFill>
                    <a:srgbClr val="00002E"/>
                  </a:solidFill>
                  <a:latin typeface="PT Sans"/>
                  <a:ea typeface="PT Sans"/>
                  <a:cs typeface="PT Sans"/>
                  <a:sym typeface="PT Sans"/>
                </a:rPr>
                <a:t>反映投資人「意見分歧度」，標準差放大代表共識崩解、易生變盤</a:t>
              </a:r>
            </a:p>
          </p:txBody>
        </p:sp>
        <p:grpSp>
          <p:nvGrpSpPr>
            <p:cNvPr name="Group 22" id="22"/>
            <p:cNvGrpSpPr/>
            <p:nvPr/>
          </p:nvGrpSpPr>
          <p:grpSpPr>
            <a:xfrm rot="0">
              <a:off x="15546758" y="0"/>
              <a:ext cx="7393611" cy="4806418"/>
              <a:chOff x="0" y="0"/>
              <a:chExt cx="6969519" cy="4530725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19050" y="19050"/>
                <a:ext cx="6931406" cy="4492498"/>
              </a:xfrm>
              <a:custGeom>
                <a:avLst/>
                <a:gdLst/>
                <a:ahLst/>
                <a:cxnLst/>
                <a:rect r="r" b="b" t="t" l="l"/>
                <a:pathLst>
                  <a:path h="4492498" w="6931406">
                    <a:moveTo>
                      <a:pt x="0" y="598424"/>
                    </a:moveTo>
                    <a:cubicBezTo>
                      <a:pt x="0" y="267970"/>
                      <a:pt x="268732" y="0"/>
                      <a:pt x="600202" y="0"/>
                    </a:cubicBezTo>
                    <a:lnTo>
                      <a:pt x="6331204" y="0"/>
                    </a:lnTo>
                    <a:cubicBezTo>
                      <a:pt x="6662674" y="0"/>
                      <a:pt x="6931406" y="267970"/>
                      <a:pt x="6931406" y="598424"/>
                    </a:cubicBezTo>
                    <a:lnTo>
                      <a:pt x="6931406" y="3894074"/>
                    </a:lnTo>
                    <a:cubicBezTo>
                      <a:pt x="6931406" y="4224655"/>
                      <a:pt x="6662674" y="4492498"/>
                      <a:pt x="6331204" y="4492498"/>
                    </a:cubicBezTo>
                    <a:lnTo>
                      <a:pt x="600202" y="4492498"/>
                    </a:lnTo>
                    <a:cubicBezTo>
                      <a:pt x="268732" y="4492498"/>
                      <a:pt x="0" y="4224528"/>
                      <a:pt x="0" y="3894074"/>
                    </a:cubicBezTo>
                    <a:close/>
                  </a:path>
                </a:pathLst>
              </a:custGeom>
              <a:solidFill>
                <a:srgbClr val="F3F3FF"/>
              </a:solidFill>
            </p:spPr>
          </p:sp>
          <p:sp>
            <p:nvSpPr>
              <p:cNvPr name="Freeform 24" id="24"/>
              <p:cNvSpPr/>
              <p:nvPr/>
            </p:nvSpPr>
            <p:spPr>
              <a:xfrm flipH="false" flipV="false" rot="0">
                <a:off x="0" y="0"/>
                <a:ext cx="6969506" cy="4530598"/>
              </a:xfrm>
              <a:custGeom>
                <a:avLst/>
                <a:gdLst/>
                <a:ahLst/>
                <a:cxnLst/>
                <a:rect r="r" b="b" t="t" l="l"/>
                <a:pathLst>
                  <a:path h="4530598" w="6969506">
                    <a:moveTo>
                      <a:pt x="0" y="617474"/>
                    </a:moveTo>
                    <a:cubicBezTo>
                      <a:pt x="0" y="276479"/>
                      <a:pt x="277368" y="0"/>
                      <a:pt x="619252" y="0"/>
                    </a:cubicBezTo>
                    <a:lnTo>
                      <a:pt x="6350254" y="0"/>
                    </a:lnTo>
                    <a:lnTo>
                      <a:pt x="6350254" y="19050"/>
                    </a:lnTo>
                    <a:lnTo>
                      <a:pt x="6350254" y="0"/>
                    </a:lnTo>
                    <a:cubicBezTo>
                      <a:pt x="6692265" y="0"/>
                      <a:pt x="6969506" y="276479"/>
                      <a:pt x="6969506" y="617474"/>
                    </a:cubicBezTo>
                    <a:lnTo>
                      <a:pt x="6950456" y="617474"/>
                    </a:lnTo>
                    <a:lnTo>
                      <a:pt x="6969506" y="617474"/>
                    </a:lnTo>
                    <a:lnTo>
                      <a:pt x="6969506" y="3913124"/>
                    </a:lnTo>
                    <a:lnTo>
                      <a:pt x="6950456" y="3913124"/>
                    </a:lnTo>
                    <a:lnTo>
                      <a:pt x="6969506" y="3913124"/>
                    </a:lnTo>
                    <a:cubicBezTo>
                      <a:pt x="6969506" y="4254246"/>
                      <a:pt x="6692138" y="4530598"/>
                      <a:pt x="6350254" y="4530598"/>
                    </a:cubicBezTo>
                    <a:lnTo>
                      <a:pt x="6350254" y="4511548"/>
                    </a:lnTo>
                    <a:lnTo>
                      <a:pt x="6350254" y="4530598"/>
                    </a:lnTo>
                    <a:lnTo>
                      <a:pt x="619252" y="4530598"/>
                    </a:lnTo>
                    <a:lnTo>
                      <a:pt x="619252" y="4511548"/>
                    </a:lnTo>
                    <a:lnTo>
                      <a:pt x="619252" y="4530598"/>
                    </a:lnTo>
                    <a:cubicBezTo>
                      <a:pt x="277368" y="4530725"/>
                      <a:pt x="0" y="4254246"/>
                      <a:pt x="0" y="3913251"/>
                    </a:cubicBezTo>
                    <a:lnTo>
                      <a:pt x="0" y="617474"/>
                    </a:lnTo>
                    <a:lnTo>
                      <a:pt x="19050" y="617474"/>
                    </a:lnTo>
                    <a:lnTo>
                      <a:pt x="0" y="617474"/>
                    </a:lnTo>
                    <a:moveTo>
                      <a:pt x="38100" y="617474"/>
                    </a:moveTo>
                    <a:lnTo>
                      <a:pt x="38100" y="3913124"/>
                    </a:lnTo>
                    <a:lnTo>
                      <a:pt x="19050" y="3913124"/>
                    </a:lnTo>
                    <a:lnTo>
                      <a:pt x="38100" y="3913124"/>
                    </a:lnTo>
                    <a:cubicBezTo>
                      <a:pt x="38100" y="4233037"/>
                      <a:pt x="298196" y="4492498"/>
                      <a:pt x="619252" y="4492498"/>
                    </a:cubicBezTo>
                    <a:lnTo>
                      <a:pt x="6350254" y="4492498"/>
                    </a:lnTo>
                    <a:cubicBezTo>
                      <a:pt x="6671310" y="4492498"/>
                      <a:pt x="6931406" y="4233037"/>
                      <a:pt x="6931406" y="3913124"/>
                    </a:cubicBezTo>
                    <a:lnTo>
                      <a:pt x="6931406" y="617474"/>
                    </a:lnTo>
                    <a:cubicBezTo>
                      <a:pt x="6931406" y="297561"/>
                      <a:pt x="6671310" y="38100"/>
                      <a:pt x="6350254" y="38100"/>
                    </a:cubicBezTo>
                    <a:lnTo>
                      <a:pt x="619252" y="38100"/>
                    </a:lnTo>
                    <a:lnTo>
                      <a:pt x="619252" y="19050"/>
                    </a:lnTo>
                    <a:lnTo>
                      <a:pt x="619252" y="38100"/>
                    </a:lnTo>
                    <a:cubicBezTo>
                      <a:pt x="298196" y="38100"/>
                      <a:pt x="38100" y="297561"/>
                      <a:pt x="38100" y="617474"/>
                    </a:cubicBezTo>
                    <a:close/>
                  </a:path>
                </a:pathLst>
              </a:custGeom>
              <a:solidFill>
                <a:srgbClr val="DA33BF"/>
              </a:solidFill>
            </p:spPr>
          </p:sp>
        </p:grpSp>
        <p:sp>
          <p:nvSpPr>
            <p:cNvPr name="TextBox 25" id="25"/>
            <p:cNvSpPr txBox="true"/>
            <p:nvPr/>
          </p:nvSpPr>
          <p:spPr>
            <a:xfrm rot="0">
              <a:off x="16035995" y="474242"/>
              <a:ext cx="6096746" cy="63083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896"/>
                </a:lnSpc>
              </a:pPr>
              <a:r>
                <a:rPr lang="en-US" sz="3117" b="true">
                  <a:solidFill>
                    <a:srgbClr val="00002E"/>
                  </a:solidFill>
                  <a:latin typeface="Nunito Bold"/>
                  <a:ea typeface="Nunito Bold"/>
                  <a:cs typeface="Nunito Bold"/>
                  <a:sym typeface="Nunito Bold"/>
                </a:rPr>
                <a:t>PCR（Put/Call Ratio）</a:t>
              </a:r>
            </a:p>
          </p:txBody>
        </p:sp>
        <p:sp>
          <p:nvSpPr>
            <p:cNvPr name="TextBox 26" id="26"/>
            <p:cNvSpPr txBox="true"/>
            <p:nvPr/>
          </p:nvSpPr>
          <p:spPr>
            <a:xfrm rot="0">
              <a:off x="16035995" y="1255141"/>
              <a:ext cx="6426103" cy="13631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302"/>
                </a:lnSpc>
              </a:pPr>
              <a:r>
                <a:rPr lang="en-US" sz="2653" b="true">
                  <a:solidFill>
                    <a:srgbClr val="00002E"/>
                  </a:solidFill>
                  <a:latin typeface="PT Sans Bold"/>
                  <a:ea typeface="PT Sans Bold"/>
                  <a:cs typeface="PT Sans Bold"/>
                  <a:sym typeface="PT Sans Bold"/>
                </a:rPr>
                <a:t>統計面：</a:t>
              </a:r>
              <a:r>
                <a:rPr lang="en-US" sz="2653">
                  <a:solidFill>
                    <a:srgbClr val="00002E"/>
                  </a:solidFill>
                  <a:latin typeface="PT Sans"/>
                  <a:ea typeface="PT Sans"/>
                  <a:cs typeface="PT Sans"/>
                  <a:sym typeface="PT Sans"/>
                </a:rPr>
                <a:t>看跌與看漲期權成交量比值</a:t>
              </a:r>
            </a:p>
          </p:txBody>
        </p:sp>
        <p:sp>
          <p:nvSpPr>
            <p:cNvPr name="TextBox 27" id="27"/>
            <p:cNvSpPr txBox="true"/>
            <p:nvPr/>
          </p:nvSpPr>
          <p:spPr>
            <a:xfrm rot="0">
              <a:off x="16035995" y="2863456"/>
              <a:ext cx="6426103" cy="13631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302"/>
                </a:lnSpc>
              </a:pPr>
              <a:r>
                <a:rPr lang="en-US" sz="2653" b="true">
                  <a:solidFill>
                    <a:srgbClr val="00002E"/>
                  </a:solidFill>
                  <a:latin typeface="PT Sans Bold"/>
                  <a:ea typeface="PT Sans Bold"/>
                  <a:cs typeface="PT Sans Bold"/>
                  <a:sym typeface="PT Sans Bold"/>
                </a:rPr>
                <a:t>財務面：</a:t>
              </a:r>
              <a:r>
                <a:rPr lang="en-US" sz="2653">
                  <a:solidFill>
                    <a:srgbClr val="00002E"/>
                  </a:solidFill>
                  <a:latin typeface="PT Sans"/>
                  <a:ea typeface="PT Sans"/>
                  <a:cs typeface="PT Sans"/>
                  <a:sym typeface="PT Sans"/>
                </a:rPr>
                <a:t>籌碼面指標，衡量看跌相對於看漲投資人的力量對比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8703206" y="754103"/>
            <a:ext cx="9043432" cy="2848850"/>
            <a:chOff x="0" y="0"/>
            <a:chExt cx="14382404" cy="4530725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39313" y="19050"/>
              <a:ext cx="14303621" cy="4492498"/>
            </a:xfrm>
            <a:custGeom>
              <a:avLst/>
              <a:gdLst/>
              <a:ahLst/>
              <a:cxnLst/>
              <a:rect r="r" b="b" t="t" l="l"/>
              <a:pathLst>
                <a:path h="4492498" w="14303621">
                  <a:moveTo>
                    <a:pt x="0" y="598424"/>
                  </a:moveTo>
                  <a:cubicBezTo>
                    <a:pt x="0" y="267970"/>
                    <a:pt x="554574" y="0"/>
                    <a:pt x="1238620" y="0"/>
                  </a:cubicBezTo>
                  <a:lnTo>
                    <a:pt x="13065000" y="0"/>
                  </a:lnTo>
                  <a:cubicBezTo>
                    <a:pt x="13749045" y="0"/>
                    <a:pt x="14303621" y="267970"/>
                    <a:pt x="14303621" y="598424"/>
                  </a:cubicBezTo>
                  <a:lnTo>
                    <a:pt x="14303621" y="3894074"/>
                  </a:lnTo>
                  <a:cubicBezTo>
                    <a:pt x="14303621" y="4224655"/>
                    <a:pt x="13749045" y="4492498"/>
                    <a:pt x="13065000" y="4492498"/>
                  </a:cubicBezTo>
                  <a:lnTo>
                    <a:pt x="1238620" y="4492498"/>
                  </a:lnTo>
                  <a:cubicBezTo>
                    <a:pt x="554574" y="4492498"/>
                    <a:pt x="0" y="4224528"/>
                    <a:pt x="0" y="3894074"/>
                  </a:cubicBezTo>
                  <a:close/>
                </a:path>
              </a:pathLst>
            </a:custGeom>
            <a:solidFill>
              <a:srgbClr val="F3F3FF"/>
            </a:solidFill>
          </p:spPr>
        </p:sp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4382246" cy="4530598"/>
            </a:xfrm>
            <a:custGeom>
              <a:avLst/>
              <a:gdLst/>
              <a:ahLst/>
              <a:cxnLst/>
              <a:rect r="r" b="b" t="t" l="l"/>
              <a:pathLst>
                <a:path h="4530598" w="14382246">
                  <a:moveTo>
                    <a:pt x="0" y="617474"/>
                  </a:moveTo>
                  <a:cubicBezTo>
                    <a:pt x="0" y="276479"/>
                    <a:pt x="572396" y="0"/>
                    <a:pt x="1277933" y="0"/>
                  </a:cubicBezTo>
                  <a:lnTo>
                    <a:pt x="13104313" y="0"/>
                  </a:lnTo>
                  <a:lnTo>
                    <a:pt x="13104313" y="19050"/>
                  </a:lnTo>
                  <a:lnTo>
                    <a:pt x="13104313" y="0"/>
                  </a:lnTo>
                  <a:cubicBezTo>
                    <a:pt x="13810112" y="0"/>
                    <a:pt x="14382246" y="276479"/>
                    <a:pt x="14382246" y="617474"/>
                  </a:cubicBezTo>
                  <a:lnTo>
                    <a:pt x="14342934" y="617474"/>
                  </a:lnTo>
                  <a:lnTo>
                    <a:pt x="14382246" y="617474"/>
                  </a:lnTo>
                  <a:lnTo>
                    <a:pt x="14382246" y="3913124"/>
                  </a:lnTo>
                  <a:lnTo>
                    <a:pt x="14342934" y="3913124"/>
                  </a:lnTo>
                  <a:lnTo>
                    <a:pt x="14382246" y="3913124"/>
                  </a:lnTo>
                  <a:cubicBezTo>
                    <a:pt x="14382246" y="4254246"/>
                    <a:pt x="13809850" y="4530598"/>
                    <a:pt x="13104313" y="4530598"/>
                  </a:cubicBezTo>
                  <a:lnTo>
                    <a:pt x="13104313" y="4511548"/>
                  </a:lnTo>
                  <a:lnTo>
                    <a:pt x="13104313" y="4530598"/>
                  </a:lnTo>
                  <a:lnTo>
                    <a:pt x="1277933" y="4530598"/>
                  </a:lnTo>
                  <a:lnTo>
                    <a:pt x="1277933" y="4511548"/>
                  </a:lnTo>
                  <a:lnTo>
                    <a:pt x="1277933" y="4530598"/>
                  </a:lnTo>
                  <a:cubicBezTo>
                    <a:pt x="572396" y="4530725"/>
                    <a:pt x="0" y="4254246"/>
                    <a:pt x="0" y="3913251"/>
                  </a:cubicBezTo>
                  <a:lnTo>
                    <a:pt x="0" y="617474"/>
                  </a:lnTo>
                  <a:lnTo>
                    <a:pt x="39313" y="617474"/>
                  </a:lnTo>
                  <a:lnTo>
                    <a:pt x="0" y="617474"/>
                  </a:lnTo>
                  <a:moveTo>
                    <a:pt x="78626" y="617474"/>
                  </a:moveTo>
                  <a:lnTo>
                    <a:pt x="78626" y="3913124"/>
                  </a:lnTo>
                  <a:lnTo>
                    <a:pt x="39313" y="3913124"/>
                  </a:lnTo>
                  <a:lnTo>
                    <a:pt x="78626" y="3913124"/>
                  </a:lnTo>
                  <a:cubicBezTo>
                    <a:pt x="78626" y="4233037"/>
                    <a:pt x="615379" y="4492498"/>
                    <a:pt x="1277933" y="4492498"/>
                  </a:cubicBezTo>
                  <a:lnTo>
                    <a:pt x="13104313" y="4492498"/>
                  </a:lnTo>
                  <a:cubicBezTo>
                    <a:pt x="13766868" y="4492498"/>
                    <a:pt x="14303621" y="4233037"/>
                    <a:pt x="14303621" y="3913124"/>
                  </a:cubicBezTo>
                  <a:lnTo>
                    <a:pt x="14303621" y="617474"/>
                  </a:lnTo>
                  <a:cubicBezTo>
                    <a:pt x="14303883" y="297561"/>
                    <a:pt x="13766868" y="38100"/>
                    <a:pt x="13104313" y="38100"/>
                  </a:cubicBezTo>
                  <a:lnTo>
                    <a:pt x="1277933" y="38100"/>
                  </a:lnTo>
                  <a:lnTo>
                    <a:pt x="1277933" y="19050"/>
                  </a:lnTo>
                  <a:lnTo>
                    <a:pt x="1277933" y="38100"/>
                  </a:lnTo>
                  <a:cubicBezTo>
                    <a:pt x="615379" y="38100"/>
                    <a:pt x="78626" y="297561"/>
                    <a:pt x="78626" y="617474"/>
                  </a:cubicBezTo>
                  <a:close/>
                </a:path>
              </a:pathLst>
            </a:custGeom>
            <a:solidFill>
              <a:srgbClr val="2D4DF2"/>
            </a:solidFill>
          </p:spPr>
        </p:sp>
      </p:grpSp>
      <p:sp>
        <p:nvSpPr>
          <p:cNvPr name="TextBox 31" id="31"/>
          <p:cNvSpPr txBox="true"/>
          <p:nvPr/>
        </p:nvSpPr>
        <p:spPr>
          <a:xfrm rot="0">
            <a:off x="9878124" y="1216778"/>
            <a:ext cx="5430135" cy="5672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79"/>
              </a:lnSpc>
            </a:pPr>
            <a:r>
              <a:rPr lang="en-US" sz="3663" b="true">
                <a:solidFill>
                  <a:srgbClr val="00002E"/>
                </a:solidFill>
                <a:latin typeface="Nunito Bold"/>
                <a:ea typeface="Nunito Bold"/>
                <a:cs typeface="Nunito Bold"/>
                <a:sym typeface="Nunito Bold"/>
              </a:rPr>
              <a:t>IV 隱含波動率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9878124" y="2073752"/>
            <a:ext cx="7381176" cy="10652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73"/>
              </a:lnSpc>
            </a:pPr>
            <a:r>
              <a:rPr lang="en-US" sz="2696">
                <a:solidFill>
                  <a:srgbClr val="00002E"/>
                </a:solidFill>
                <a:latin typeface="PT Sans"/>
                <a:ea typeface="PT Sans"/>
                <a:cs typeface="PT Sans"/>
                <a:sym typeface="PT Sans"/>
              </a:rPr>
              <a:t>反映市場對標的資產未來波動程度的預期，越高代表市場預期風險越大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DFAF7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421738" y="2279393"/>
            <a:ext cx="4884447" cy="1547828"/>
            <a:chOff x="0" y="0"/>
            <a:chExt cx="6512596" cy="2063771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0" y="-28575"/>
              <a:ext cx="3074035" cy="69222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195"/>
                </a:lnSpc>
              </a:pPr>
              <a:r>
                <a:rPr lang="en-US" b="true" sz="3324">
                  <a:solidFill>
                    <a:srgbClr val="F95F88"/>
                  </a:solidFill>
                  <a:latin typeface="Petrona Bold"/>
                  <a:ea typeface="Petrona Bold"/>
                  <a:cs typeface="Petrona Bold"/>
                  <a:sym typeface="Petrona Bold"/>
                </a:rPr>
                <a:t>2021 年特徵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721005"/>
              <a:ext cx="6512596" cy="134276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254"/>
                </a:lnSpc>
              </a:pPr>
              <a:r>
                <a:rPr lang="en-US" sz="2637">
                  <a:solidFill>
                    <a:srgbClr val="272525"/>
                  </a:solidFill>
                  <a:latin typeface="Inter"/>
                  <a:ea typeface="Inter"/>
                  <a:cs typeface="Inter"/>
                  <a:sym typeface="Inter"/>
                </a:rPr>
                <a:t>大盤雖有波動，但長期趨勢往上，為</a:t>
              </a:r>
              <a:r>
                <a:rPr lang="en-US" sz="2637" b="true">
                  <a:solidFill>
                    <a:srgbClr val="272525"/>
                  </a:solidFill>
                  <a:latin typeface="Inter Bold"/>
                  <a:ea typeface="Inter Bold"/>
                  <a:cs typeface="Inter Bold"/>
                  <a:sym typeface="Inter Bold"/>
                </a:rPr>
                <a:t>多頭</a:t>
              </a:r>
              <a:r>
                <a:rPr lang="en-US" sz="2637">
                  <a:solidFill>
                    <a:srgbClr val="272525"/>
                  </a:solidFill>
                  <a:latin typeface="Inter"/>
                  <a:ea typeface="Inter"/>
                  <a:cs typeface="Inter"/>
                  <a:sym typeface="Inter"/>
                </a:rPr>
                <a:t>形式。</a:t>
              </a: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811642" y="586581"/>
            <a:ext cx="10623770" cy="8461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87"/>
              </a:lnSpc>
            </a:pPr>
            <a:r>
              <a:rPr lang="en-US" sz="5312" b="true">
                <a:solidFill>
                  <a:srgbClr val="F95F88"/>
                </a:solidFill>
                <a:latin typeface="Petrona Bold"/>
                <a:ea typeface="Petrona Bold"/>
                <a:cs typeface="Petrona Bold"/>
                <a:sym typeface="Petrona Bold"/>
              </a:rPr>
              <a:t>2021-2022 大盤指數波動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7091562" y="2279393"/>
            <a:ext cx="4104875" cy="1547828"/>
            <a:chOff x="0" y="0"/>
            <a:chExt cx="5473167" cy="2063771"/>
          </a:xfrm>
        </p:grpSpPr>
        <p:sp>
          <p:nvSpPr>
            <p:cNvPr name="TextBox 9" id="9"/>
            <p:cNvSpPr txBox="true"/>
            <p:nvPr/>
          </p:nvSpPr>
          <p:spPr>
            <a:xfrm rot="0">
              <a:off x="0" y="-28575"/>
              <a:ext cx="3152352" cy="69222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195"/>
                </a:lnSpc>
              </a:pPr>
              <a:r>
                <a:rPr lang="en-US" b="true" sz="3324">
                  <a:solidFill>
                    <a:srgbClr val="F95F88"/>
                  </a:solidFill>
                  <a:latin typeface="Petrona Bold"/>
                  <a:ea typeface="Petrona Bold"/>
                  <a:cs typeface="Petrona Bold"/>
                  <a:sym typeface="Petrona Bold"/>
                </a:rPr>
                <a:t>2022 年特徵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28042" y="721005"/>
              <a:ext cx="5445125" cy="134276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254"/>
                </a:lnSpc>
              </a:pPr>
              <a:r>
                <a:rPr lang="en-US" sz="2637">
                  <a:solidFill>
                    <a:srgbClr val="272525"/>
                  </a:solidFill>
                  <a:latin typeface="Inter"/>
                  <a:ea typeface="Inter"/>
                  <a:cs typeface="Inter"/>
                  <a:sym typeface="Inter"/>
                </a:rPr>
                <a:t>大盤長期趨勢往下，為</a:t>
              </a:r>
              <a:r>
                <a:rPr lang="en-US" sz="2637" b="true">
                  <a:solidFill>
                    <a:srgbClr val="272525"/>
                  </a:solidFill>
                  <a:latin typeface="Inter Bold"/>
                  <a:ea typeface="Inter Bold"/>
                  <a:cs typeface="Inter Bold"/>
                  <a:sym typeface="Inter Bold"/>
                </a:rPr>
                <a:t>空頭</a:t>
              </a:r>
              <a:r>
                <a:rPr lang="en-US" sz="2637">
                  <a:solidFill>
                    <a:srgbClr val="272525"/>
                  </a:solidFill>
                  <a:latin typeface="Inter"/>
                  <a:ea typeface="Inter"/>
                  <a:cs typeface="Inter"/>
                  <a:sym typeface="Inter"/>
                </a:rPr>
                <a:t>形式。</a:t>
              </a: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1421738" y="4673896"/>
            <a:ext cx="15444523" cy="4845719"/>
          </a:xfrm>
          <a:custGeom>
            <a:avLst/>
            <a:gdLst/>
            <a:ahLst/>
            <a:cxnLst/>
            <a:rect r="r" b="b" t="t" l="l"/>
            <a:pathLst>
              <a:path h="4845719" w="15444523">
                <a:moveTo>
                  <a:pt x="0" y="0"/>
                </a:moveTo>
                <a:lnTo>
                  <a:pt x="15444524" y="0"/>
                </a:lnTo>
                <a:lnTo>
                  <a:pt x="15444524" y="4845720"/>
                </a:lnTo>
                <a:lnTo>
                  <a:pt x="0" y="48457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DFAF7"/>
            </a:solid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1304829" y="4576692"/>
            <a:ext cx="15444523" cy="5356786"/>
          </a:xfrm>
          <a:custGeom>
            <a:avLst/>
            <a:gdLst/>
            <a:ahLst/>
            <a:cxnLst/>
            <a:rect r="r" b="b" t="t" l="l"/>
            <a:pathLst>
              <a:path h="5356786" w="15444523">
                <a:moveTo>
                  <a:pt x="0" y="0"/>
                </a:moveTo>
                <a:lnTo>
                  <a:pt x="15444523" y="0"/>
                </a:lnTo>
                <a:lnTo>
                  <a:pt x="15444523" y="5356786"/>
                </a:lnTo>
                <a:lnTo>
                  <a:pt x="0" y="535678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-137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811642" y="2304964"/>
            <a:ext cx="2305526" cy="5263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5"/>
              </a:lnSpc>
            </a:pPr>
            <a:r>
              <a:rPr lang="en-US" b="true" sz="3324">
                <a:solidFill>
                  <a:srgbClr val="F95F88"/>
                </a:solidFill>
                <a:latin typeface="Petrona Bold"/>
                <a:ea typeface="Petrona Bold"/>
                <a:cs typeface="Petrona Bold"/>
                <a:sym typeface="Petrona Bold"/>
              </a:rPr>
              <a:t>2021 年特徵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811642" y="2848099"/>
            <a:ext cx="4884447" cy="15714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54"/>
              </a:lnSpc>
            </a:pPr>
            <a:r>
              <a:rPr lang="en-US" sz="2637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IV 曲線呈現「尖峰式」跳動，對應 </a:t>
            </a:r>
            <a:r>
              <a:rPr lang="en-US" sz="2637" b="true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5 月疫情</a:t>
            </a:r>
            <a:r>
              <a:rPr lang="en-US" sz="2637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等突發事件，波動劇烈但短暫。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885713" y="2304964"/>
            <a:ext cx="1587500" cy="4993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43"/>
              </a:lnSpc>
            </a:pPr>
            <a:r>
              <a:rPr lang="en-US" b="true" sz="3124">
                <a:solidFill>
                  <a:srgbClr val="F95F88"/>
                </a:solidFill>
                <a:latin typeface="Petrona Bold"/>
                <a:ea typeface="Petrona Bold"/>
                <a:cs typeface="Petrona Bold"/>
                <a:sym typeface="Petrona Bold"/>
              </a:rPr>
              <a:t>財務驗證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885713" y="2852861"/>
            <a:ext cx="6438138" cy="1566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51"/>
              </a:lnSpc>
            </a:pPr>
            <a:r>
              <a:rPr lang="en-US" sz="2637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隱含報酬率可視為「</a:t>
            </a:r>
            <a:r>
              <a:rPr lang="en-US" sz="2637" b="true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波動率風險溢價</a:t>
            </a:r>
            <a:r>
              <a:rPr lang="en-US" sz="2637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」</a:t>
            </a:r>
          </a:p>
          <a:p>
            <a:pPr algn="l">
              <a:lnSpc>
                <a:spcPts val="4251"/>
              </a:lnSpc>
            </a:pPr>
            <a:r>
              <a:rPr lang="en-US" sz="2637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Put 在多空都維持著高溢價</a:t>
            </a:r>
          </a:p>
          <a:p>
            <a:pPr algn="l">
              <a:lnSpc>
                <a:spcPts val="4254"/>
              </a:lnSpc>
            </a:pPr>
            <a:r>
              <a:rPr lang="en-US" sz="2637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Call  則在空頭時才出現較高的溢價意願增長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11642" y="586581"/>
            <a:ext cx="10623770" cy="8461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87"/>
              </a:lnSpc>
            </a:pPr>
            <a:r>
              <a:rPr lang="en-US" sz="5312" b="true">
                <a:solidFill>
                  <a:srgbClr val="F95F88"/>
                </a:solidFill>
                <a:latin typeface="Petrona Bold"/>
                <a:ea typeface="Petrona Bold"/>
                <a:cs typeface="Petrona Bold"/>
                <a:sym typeface="Petrona Bold"/>
              </a:rPr>
              <a:t>2021-2022 全年度 隱含波動率平均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6237913" y="2333539"/>
            <a:ext cx="4104875" cy="2081228"/>
            <a:chOff x="0" y="0"/>
            <a:chExt cx="5473167" cy="2774971"/>
          </a:xfrm>
        </p:grpSpPr>
        <p:sp>
          <p:nvSpPr>
            <p:cNvPr name="TextBox 11" id="11"/>
            <p:cNvSpPr txBox="true"/>
            <p:nvPr/>
          </p:nvSpPr>
          <p:spPr>
            <a:xfrm rot="0">
              <a:off x="0" y="-28575"/>
              <a:ext cx="3152352" cy="69222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195"/>
                </a:lnSpc>
              </a:pPr>
              <a:r>
                <a:rPr lang="en-US" b="true" sz="3324">
                  <a:solidFill>
                    <a:srgbClr val="F95F88"/>
                  </a:solidFill>
                  <a:latin typeface="Petrona Bold"/>
                  <a:ea typeface="Petrona Bold"/>
                  <a:cs typeface="Petrona Bold"/>
                  <a:sym typeface="Petrona Bold"/>
                </a:rPr>
                <a:t>2022 年特徵</a:t>
              </a: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28042" y="721005"/>
              <a:ext cx="5445125" cy="205396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254"/>
                </a:lnSpc>
              </a:pPr>
              <a:r>
                <a:rPr lang="en-US" sz="2637">
                  <a:solidFill>
                    <a:srgbClr val="272525"/>
                  </a:solidFill>
                  <a:latin typeface="Inter"/>
                  <a:ea typeface="Inter"/>
                  <a:cs typeface="Inter"/>
                  <a:sym typeface="Inter"/>
                </a:rPr>
                <a:t>因2月烏俄戰爭爆發，導致市場情緒維持悲觀保守，使波動率變動較為平緩</a:t>
              </a:r>
            </a:p>
          </p:txBody>
        </p:sp>
      </p:grpSp>
      <p:sp>
        <p:nvSpPr>
          <p:cNvPr name="AutoShape 13" id="13"/>
          <p:cNvSpPr/>
          <p:nvPr/>
        </p:nvSpPr>
        <p:spPr>
          <a:xfrm flipV="true">
            <a:off x="4899042" y="6583824"/>
            <a:ext cx="880586" cy="65469"/>
          </a:xfrm>
          <a:prstGeom prst="line">
            <a:avLst/>
          </a:prstGeom>
          <a:ln cap="flat" w="38100">
            <a:solidFill>
              <a:srgbClr val="2D4DF2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TextBox 14" id="14"/>
          <p:cNvSpPr txBox="true"/>
          <p:nvPr/>
        </p:nvSpPr>
        <p:spPr>
          <a:xfrm rot="0">
            <a:off x="5963844" y="6141946"/>
            <a:ext cx="2045924" cy="7980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86"/>
              </a:lnSpc>
              <a:spcBef>
                <a:spcPct val="0"/>
              </a:spcBef>
            </a:pPr>
            <a:r>
              <a:rPr lang="en-US" sz="2037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新冠疫情大規模爆發</a:t>
            </a:r>
          </a:p>
        </p:txBody>
      </p:sp>
      <p:sp>
        <p:nvSpPr>
          <p:cNvPr name="AutoShape 15" id="15"/>
          <p:cNvSpPr/>
          <p:nvPr/>
        </p:nvSpPr>
        <p:spPr>
          <a:xfrm flipV="true">
            <a:off x="10132499" y="7675481"/>
            <a:ext cx="289275" cy="834289"/>
          </a:xfrm>
          <a:prstGeom prst="line">
            <a:avLst/>
          </a:prstGeom>
          <a:ln cap="flat" w="38100">
            <a:solidFill>
              <a:srgbClr val="2D4DF2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TextBox 16" id="16"/>
          <p:cNvSpPr txBox="true"/>
          <p:nvPr/>
        </p:nvSpPr>
        <p:spPr>
          <a:xfrm rot="0">
            <a:off x="9319826" y="7014786"/>
            <a:ext cx="2045924" cy="3884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86"/>
              </a:lnSpc>
              <a:spcBef>
                <a:spcPct val="0"/>
              </a:spcBef>
            </a:pPr>
            <a:r>
              <a:rPr lang="en-US" sz="2037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烏俄戰爭爆發</a:t>
            </a:r>
          </a:p>
        </p:txBody>
      </p:sp>
      <p:sp>
        <p:nvSpPr>
          <p:cNvPr name="AutoShape 17" id="17"/>
          <p:cNvSpPr/>
          <p:nvPr/>
        </p:nvSpPr>
        <p:spPr>
          <a:xfrm flipV="true">
            <a:off x="13095012" y="6942863"/>
            <a:ext cx="199085" cy="1299265"/>
          </a:xfrm>
          <a:prstGeom prst="line">
            <a:avLst/>
          </a:prstGeom>
          <a:ln cap="flat" w="38100">
            <a:solidFill>
              <a:srgbClr val="2D4DF2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TextBox 18" id="18"/>
          <p:cNvSpPr txBox="true"/>
          <p:nvPr/>
        </p:nvSpPr>
        <p:spPr>
          <a:xfrm rot="0">
            <a:off x="12298256" y="6207415"/>
            <a:ext cx="3130521" cy="7980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86"/>
              </a:lnSpc>
              <a:spcBef>
                <a:spcPct val="0"/>
              </a:spcBef>
            </a:pPr>
            <a:r>
              <a:rPr lang="en-US" sz="2037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大盤跌至14000，買權抄底期望增加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AF2E9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DFAF7"/>
            </a:solid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595255" y="5480029"/>
            <a:ext cx="17097490" cy="4787921"/>
          </a:xfrm>
          <a:custGeom>
            <a:avLst/>
            <a:gdLst/>
            <a:ahLst/>
            <a:cxnLst/>
            <a:rect r="r" b="b" t="t" l="l"/>
            <a:pathLst>
              <a:path h="4787921" w="17097490">
                <a:moveTo>
                  <a:pt x="0" y="0"/>
                </a:moveTo>
                <a:lnTo>
                  <a:pt x="17097490" y="0"/>
                </a:lnTo>
                <a:lnTo>
                  <a:pt x="17097490" y="4787921"/>
                </a:lnTo>
                <a:lnTo>
                  <a:pt x="0" y="478792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1188" r="0" b="-1188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773948" y="586581"/>
            <a:ext cx="9445523" cy="8461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87"/>
              </a:lnSpc>
            </a:pPr>
            <a:r>
              <a:rPr lang="en-US" sz="5312" b="true">
                <a:solidFill>
                  <a:srgbClr val="F95F88"/>
                </a:solidFill>
                <a:latin typeface="Petrona Bold"/>
                <a:ea typeface="Petrona Bold"/>
                <a:cs typeface="Petrona Bold"/>
                <a:sym typeface="Petrona Bold"/>
              </a:rPr>
              <a:t>看漲 vs. 看跌投資人標準差比較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73948" y="1990316"/>
            <a:ext cx="3747666" cy="5256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3"/>
              </a:lnSpc>
            </a:pPr>
            <a:r>
              <a:rPr lang="en-US" sz="3323" b="true">
                <a:solidFill>
                  <a:srgbClr val="F95F88"/>
                </a:solidFill>
                <a:latin typeface="Petrona Bold"/>
                <a:ea typeface="Petrona Bold"/>
                <a:cs typeface="Petrona Bold"/>
                <a:sym typeface="Petrona Bold"/>
              </a:rPr>
              <a:t>核心觀察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73948" y="2654974"/>
            <a:ext cx="4856264" cy="1539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42"/>
              </a:lnSpc>
            </a:pPr>
            <a:r>
              <a:rPr lang="en-US" sz="2568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Put 的標準差通常</a:t>
            </a:r>
            <a:r>
              <a:rPr lang="en-US" sz="2568" b="true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大於</a:t>
            </a:r>
            <a:r>
              <a:rPr lang="en-US" sz="2568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Call 的標準差，顯示看跌投資人對風險評價的分歧程度更高。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143375" y="1980491"/>
            <a:ext cx="3747666" cy="5256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3"/>
              </a:lnSpc>
            </a:pPr>
            <a:r>
              <a:rPr lang="en-US" sz="3323" b="true">
                <a:solidFill>
                  <a:srgbClr val="F95F88"/>
                </a:solidFill>
                <a:latin typeface="Petrona Bold"/>
                <a:ea typeface="Petrona Bold"/>
                <a:cs typeface="Petrona Bold"/>
                <a:sym typeface="Petrona Bold"/>
              </a:rPr>
              <a:t>深度解讀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143375" y="2645160"/>
            <a:ext cx="5128167" cy="25894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42"/>
              </a:lnSpc>
            </a:pPr>
            <a:r>
              <a:rPr lang="en-US" sz="2568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相對2021的現貨市場熱絡，2022因烏俄戰爭導致市場低迷，賣權避險需求減少，買權需求則前期普遍維持低分歧，後期因投機想法提高，使分歧變大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1784705" y="1980491"/>
            <a:ext cx="1710055" cy="535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48"/>
              </a:lnSpc>
            </a:pPr>
            <a:r>
              <a:rPr lang="en-US" b="true" sz="3366">
                <a:solidFill>
                  <a:srgbClr val="F95F88"/>
                </a:solidFill>
                <a:latin typeface="Petrona Bold"/>
                <a:ea typeface="Petrona Bold"/>
                <a:cs typeface="Petrona Bold"/>
                <a:sym typeface="Petrona Bold"/>
              </a:rPr>
              <a:t>指標意義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1784705" y="2845170"/>
            <a:ext cx="6503295" cy="15419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53484" indent="-276742" lvl="1">
              <a:lnSpc>
                <a:spcPts val="4134"/>
              </a:lnSpc>
              <a:buFont typeface="Arial"/>
              <a:buChar char="•"/>
            </a:pPr>
            <a:r>
              <a:rPr lang="en-US" sz="2563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IV </a:t>
            </a:r>
            <a:r>
              <a:rPr lang="en-US" sz="2563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Std 穩定 → 共識較強</a:t>
            </a:r>
          </a:p>
          <a:p>
            <a:pPr algn="l" marL="553484" indent="-276742" lvl="1">
              <a:lnSpc>
                <a:spcPts val="4134"/>
              </a:lnSpc>
              <a:buFont typeface="Arial"/>
              <a:buChar char="•"/>
            </a:pPr>
            <a:r>
              <a:rPr lang="en-US" sz="2563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IV Std 擴大 → 分歧加劇</a:t>
            </a:r>
          </a:p>
          <a:p>
            <a:pPr algn="l">
              <a:lnSpc>
                <a:spcPts val="4134"/>
              </a:lnSpc>
            </a:pP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AF2E9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DFAF7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0" y="5498608"/>
            <a:ext cx="18288000" cy="4567984"/>
            <a:chOff x="0" y="0"/>
            <a:chExt cx="23099341" cy="576976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3099320" cy="5769775"/>
            </a:xfrm>
            <a:custGeom>
              <a:avLst/>
              <a:gdLst/>
              <a:ahLst/>
              <a:cxnLst/>
              <a:rect r="r" b="b" t="t" l="l"/>
              <a:pathLst>
                <a:path h="5769775" w="23099320">
                  <a:moveTo>
                    <a:pt x="0" y="0"/>
                  </a:moveTo>
                  <a:lnTo>
                    <a:pt x="23099320" y="0"/>
                  </a:lnTo>
                  <a:lnTo>
                    <a:pt x="23099320" y="5769775"/>
                  </a:lnTo>
                  <a:lnTo>
                    <a:pt x="0" y="57697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750" r="0" b="-75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501123" y="2039014"/>
            <a:ext cx="6233799" cy="3072448"/>
            <a:chOff x="0" y="0"/>
            <a:chExt cx="8311731" cy="4096597"/>
          </a:xfrm>
        </p:grpSpPr>
        <p:sp>
          <p:nvSpPr>
            <p:cNvPr name="TextBox 9" id="9"/>
            <p:cNvSpPr txBox="true"/>
            <p:nvPr/>
          </p:nvSpPr>
          <p:spPr>
            <a:xfrm rot="0">
              <a:off x="0" y="104775"/>
              <a:ext cx="8311666" cy="102383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574"/>
                </a:lnSpc>
              </a:pPr>
              <a:r>
                <a:rPr lang="en-US" sz="5574" b="true">
                  <a:solidFill>
                    <a:srgbClr val="272525"/>
                  </a:solidFill>
                  <a:latin typeface="Petrona Bold"/>
                  <a:ea typeface="Petrona Bold"/>
                  <a:cs typeface="Petrona Bold"/>
                  <a:sym typeface="Petrona Bold"/>
                </a:rPr>
                <a:t>8.07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2748510" y="1109556"/>
              <a:ext cx="2814776" cy="59181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563"/>
                </a:lnSpc>
              </a:pPr>
              <a:r>
                <a:rPr lang="en-US" sz="2850" b="true">
                  <a:solidFill>
                    <a:srgbClr val="272525"/>
                  </a:solidFill>
                  <a:latin typeface="Petrona Bold"/>
                  <a:ea typeface="Petrona Bold"/>
                  <a:cs typeface="Petrona Bold"/>
                  <a:sym typeface="Petrona Bold"/>
                </a:rPr>
                <a:t>極端 PCR 值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2365832" y="3504782"/>
              <a:ext cx="3580132" cy="59181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563"/>
                </a:lnSpc>
              </a:pPr>
              <a:r>
                <a:rPr lang="en-US" sz="2850" b="true">
                  <a:solidFill>
                    <a:srgbClr val="272525"/>
                  </a:solidFill>
                  <a:latin typeface="Petrona Bold"/>
                  <a:ea typeface="Petrona Bold"/>
                  <a:cs typeface="Petrona Bold"/>
                  <a:sym typeface="Petrona Bold"/>
                </a:rPr>
                <a:t>隨後修正點數</a:t>
              </a: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65" y="2334342"/>
              <a:ext cx="8311666" cy="102383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574"/>
                </a:lnSpc>
              </a:pPr>
              <a:r>
                <a:rPr lang="en-US" sz="5574" b="true">
                  <a:solidFill>
                    <a:srgbClr val="272525"/>
                  </a:solidFill>
                  <a:latin typeface="Petrona Bold"/>
                  <a:ea typeface="Petrona Bold"/>
                  <a:cs typeface="Petrona Bold"/>
                  <a:sym typeface="Petrona Bold"/>
                </a:rPr>
                <a:t>1,300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6353805" y="1832436"/>
            <a:ext cx="11569352" cy="3570660"/>
            <a:chOff x="0" y="0"/>
            <a:chExt cx="15425803" cy="4760880"/>
          </a:xfrm>
        </p:grpSpPr>
        <p:sp>
          <p:nvSpPr>
            <p:cNvPr name="Freeform 14" id="14" descr="preencoded.png"/>
            <p:cNvSpPr/>
            <p:nvPr/>
          </p:nvSpPr>
          <p:spPr>
            <a:xfrm flipH="false" flipV="false" rot="0">
              <a:off x="0" y="9733"/>
              <a:ext cx="477277" cy="477277"/>
            </a:xfrm>
            <a:custGeom>
              <a:avLst/>
              <a:gdLst/>
              <a:ahLst/>
              <a:cxnLst/>
              <a:rect r="r" b="b" t="t" l="l"/>
              <a:pathLst>
                <a:path h="477277" w="477277">
                  <a:moveTo>
                    <a:pt x="0" y="0"/>
                  </a:moveTo>
                  <a:lnTo>
                    <a:pt x="477277" y="0"/>
                  </a:lnTo>
                  <a:lnTo>
                    <a:pt x="477277" y="477277"/>
                  </a:lnTo>
                  <a:lnTo>
                    <a:pt x="0" y="4772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-9091" t="0" r="-9091" b="0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 rot="0">
              <a:off x="914941" y="641441"/>
              <a:ext cx="13799662" cy="57709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708"/>
                </a:lnSpc>
              </a:pPr>
              <a:r>
                <a:rPr lang="en-US" sz="2537">
                  <a:solidFill>
                    <a:srgbClr val="272525"/>
                  </a:solidFill>
                  <a:latin typeface="Inter"/>
                  <a:ea typeface="Inter"/>
                  <a:cs typeface="Inter"/>
                  <a:sym typeface="Inter"/>
                </a:rPr>
                <a:t>當日 Call 成交低迷，Put 卻出現</a:t>
              </a:r>
              <a:r>
                <a:rPr lang="en-US" sz="2537" b="true">
                  <a:solidFill>
                    <a:srgbClr val="272525"/>
                  </a:solidFill>
                  <a:latin typeface="Inter Bold"/>
                  <a:ea typeface="Inter Bold"/>
                  <a:cs typeface="Inter Bold"/>
                  <a:sym typeface="Inter Bold"/>
                </a:rPr>
                <a:t>巨量交易</a:t>
              </a:r>
              <a:r>
                <a:rPr lang="en-US" sz="2537">
                  <a:solidFill>
                    <a:srgbClr val="272525"/>
                  </a:solidFill>
                  <a:latin typeface="Inter"/>
                  <a:ea typeface="Inter"/>
                  <a:cs typeface="Inter"/>
                  <a:sym typeface="Inter"/>
                </a:rPr>
                <a:t>，顯示市場當時情緒極度偏空。</a:t>
              </a:r>
            </a:p>
          </p:txBody>
        </p:sp>
        <p:sp>
          <p:nvSpPr>
            <p:cNvPr name="Freeform 16" id="16" descr="preencoded.png"/>
            <p:cNvSpPr/>
            <p:nvPr/>
          </p:nvSpPr>
          <p:spPr>
            <a:xfrm flipH="false" flipV="false" rot="0">
              <a:off x="0" y="1717214"/>
              <a:ext cx="477277" cy="477277"/>
            </a:xfrm>
            <a:custGeom>
              <a:avLst/>
              <a:gdLst/>
              <a:ahLst/>
              <a:cxnLst/>
              <a:rect r="r" b="b" t="t" l="l"/>
              <a:pathLst>
                <a:path h="477277" w="477277">
                  <a:moveTo>
                    <a:pt x="0" y="0"/>
                  </a:moveTo>
                  <a:lnTo>
                    <a:pt x="477277" y="0"/>
                  </a:lnTo>
                  <a:lnTo>
                    <a:pt x="477277" y="477277"/>
                  </a:lnTo>
                  <a:lnTo>
                    <a:pt x="0" y="4772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-9091" t="0" r="-9091" b="0"/>
              </a:stretch>
            </a:blipFill>
          </p:spPr>
        </p:sp>
        <p:sp>
          <p:nvSpPr>
            <p:cNvPr name="Freeform 17" id="17" descr="preencoded.png"/>
            <p:cNvSpPr/>
            <p:nvPr/>
          </p:nvSpPr>
          <p:spPr>
            <a:xfrm flipH="false" flipV="false" rot="0">
              <a:off x="0" y="3544839"/>
              <a:ext cx="477277" cy="477277"/>
            </a:xfrm>
            <a:custGeom>
              <a:avLst/>
              <a:gdLst/>
              <a:ahLst/>
              <a:cxnLst/>
              <a:rect r="r" b="b" t="t" l="l"/>
              <a:pathLst>
                <a:path h="477277" w="477277">
                  <a:moveTo>
                    <a:pt x="0" y="0"/>
                  </a:moveTo>
                  <a:lnTo>
                    <a:pt x="477277" y="0"/>
                  </a:lnTo>
                  <a:lnTo>
                    <a:pt x="477277" y="477277"/>
                  </a:lnTo>
                  <a:lnTo>
                    <a:pt x="0" y="4772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-9091" t="0" r="-9091" b="0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 rot="0">
              <a:off x="914941" y="-28575"/>
              <a:ext cx="2201501" cy="68178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062"/>
                </a:lnSpc>
              </a:pPr>
              <a:r>
                <a:rPr lang="en-US" sz="3250" b="true">
                  <a:solidFill>
                    <a:srgbClr val="272525"/>
                  </a:solidFill>
                  <a:latin typeface="Petrona Bold"/>
                  <a:ea typeface="Petrona Bold"/>
                  <a:cs typeface="Petrona Bold"/>
                  <a:sym typeface="Petrona Bold"/>
                </a:rPr>
                <a:t>事件分析</a:t>
              </a:r>
            </a:p>
          </p:txBody>
        </p:sp>
        <p:sp>
          <p:nvSpPr>
            <p:cNvPr name="TextBox 19" id="19"/>
            <p:cNvSpPr txBox="true"/>
            <p:nvPr/>
          </p:nvSpPr>
          <p:spPr>
            <a:xfrm rot="0">
              <a:off x="914941" y="1678906"/>
              <a:ext cx="5041378" cy="68178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062"/>
                </a:lnSpc>
              </a:pPr>
              <a:r>
                <a:rPr lang="en-US" sz="3250" b="true">
                  <a:solidFill>
                    <a:srgbClr val="272525"/>
                  </a:solidFill>
                  <a:latin typeface="Petrona Bold"/>
                  <a:ea typeface="Petrona Bold"/>
                  <a:cs typeface="Petrona Bold"/>
                  <a:sym typeface="Petrona Bold"/>
                </a:rPr>
                <a:t>統計篩選標準差異</a:t>
              </a:r>
            </a:p>
          </p:txBody>
        </p:sp>
        <p:sp>
          <p:nvSpPr>
            <p:cNvPr name="TextBox 20" id="20"/>
            <p:cNvSpPr txBox="true"/>
            <p:nvPr/>
          </p:nvSpPr>
          <p:spPr>
            <a:xfrm rot="0">
              <a:off x="914941" y="2348908"/>
              <a:ext cx="14510862" cy="57659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708"/>
                </a:lnSpc>
              </a:pPr>
              <a:r>
                <a:rPr lang="en-US" sz="2537">
                  <a:solidFill>
                    <a:srgbClr val="272525"/>
                  </a:solidFill>
                  <a:latin typeface="Inter"/>
                  <a:ea typeface="Inter"/>
                  <a:cs typeface="Inter"/>
                  <a:sym typeface="Inter"/>
                </a:rPr>
                <a:t>當日多為週買權，月買權較少，顯示投資人當日對中長期不看好</a:t>
              </a:r>
            </a:p>
          </p:txBody>
        </p:sp>
        <p:sp>
          <p:nvSpPr>
            <p:cNvPr name="TextBox 21" id="21"/>
            <p:cNvSpPr txBox="true"/>
            <p:nvPr/>
          </p:nvSpPr>
          <p:spPr>
            <a:xfrm rot="0">
              <a:off x="914941" y="4176547"/>
              <a:ext cx="13799662" cy="58433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708"/>
                </a:lnSpc>
              </a:pPr>
              <a:r>
                <a:rPr lang="en-US" sz="2537">
                  <a:solidFill>
                    <a:srgbClr val="272525"/>
                  </a:solidFill>
                  <a:latin typeface="Inter"/>
                  <a:ea typeface="Inter"/>
                  <a:cs typeface="Inter"/>
                  <a:sym typeface="Inter"/>
                </a:rPr>
                <a:t>隨後兩週指數下降近 1,300 點，</a:t>
              </a:r>
              <a:r>
                <a:rPr lang="en-US" sz="2537" b="true">
                  <a:solidFill>
                    <a:srgbClr val="272525"/>
                  </a:solidFill>
                  <a:latin typeface="Inter Bold"/>
                  <a:ea typeface="Inter Bold"/>
                  <a:cs typeface="Inter Bold"/>
                  <a:sym typeface="Inter Bold"/>
                </a:rPr>
                <a:t>驗證 PCR 異常值的預測能力</a:t>
              </a:r>
              <a:r>
                <a:rPr lang="en-US" sz="2537">
                  <a:solidFill>
                    <a:srgbClr val="272525"/>
                  </a:solidFill>
                  <a:latin typeface="Inter"/>
                  <a:ea typeface="Inter"/>
                  <a:cs typeface="Inter"/>
                  <a:sym typeface="Inter"/>
                </a:rPr>
                <a:t>。</a:t>
              </a:r>
            </a:p>
          </p:txBody>
        </p:sp>
        <p:sp>
          <p:nvSpPr>
            <p:cNvPr name="TextBox 22" id="22"/>
            <p:cNvSpPr txBox="true"/>
            <p:nvPr/>
          </p:nvSpPr>
          <p:spPr>
            <a:xfrm rot="0">
              <a:off x="914941" y="3506531"/>
              <a:ext cx="2751877" cy="68178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062"/>
                </a:lnSpc>
              </a:pPr>
              <a:r>
                <a:rPr lang="en-US" sz="3250" b="true">
                  <a:solidFill>
                    <a:srgbClr val="272525"/>
                  </a:solidFill>
                  <a:latin typeface="Petrona Bold"/>
                  <a:ea typeface="Petrona Bold"/>
                  <a:cs typeface="Petrona Bold"/>
                  <a:sym typeface="Petrona Bold"/>
                </a:rPr>
                <a:t>指標領先性</a:t>
              </a: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837305" y="665112"/>
            <a:ext cx="12836744" cy="714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25"/>
              </a:lnSpc>
            </a:pPr>
            <a:r>
              <a:rPr lang="en-US" sz="4499" b="true">
                <a:solidFill>
                  <a:srgbClr val="F95F88"/>
                </a:solidFill>
                <a:latin typeface="Petrona Bold"/>
                <a:ea typeface="Petrona Bold"/>
                <a:cs typeface="Petrona Bold"/>
                <a:sym typeface="Petrona Bold"/>
              </a:rPr>
              <a:t>特定事件深度解碼：2021/08/05 PCR 異常點</a:t>
            </a:r>
          </a:p>
        </p:txBody>
      </p:sp>
      <p:sp>
        <p:nvSpPr>
          <p:cNvPr name="AutoShape 24" id="24"/>
          <p:cNvSpPr/>
          <p:nvPr/>
        </p:nvSpPr>
        <p:spPr>
          <a:xfrm flipH="true" flipV="true">
            <a:off x="6373203" y="6899488"/>
            <a:ext cx="881280" cy="55356"/>
          </a:xfrm>
          <a:prstGeom prst="line">
            <a:avLst/>
          </a:prstGeom>
          <a:ln cap="flat" w="38100">
            <a:solidFill>
              <a:srgbClr val="FF3131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TextBox 25" id="25"/>
          <p:cNvSpPr txBox="true"/>
          <p:nvPr/>
        </p:nvSpPr>
        <p:spPr>
          <a:xfrm rot="0">
            <a:off x="7254482" y="6869119"/>
            <a:ext cx="2045924" cy="3884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86"/>
              </a:lnSpc>
              <a:spcBef>
                <a:spcPct val="0"/>
              </a:spcBef>
            </a:pPr>
            <a:r>
              <a:rPr lang="en-US" sz="2037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2021/08/05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501123" y="4442051"/>
            <a:ext cx="1776412" cy="6694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648"/>
              </a:lnSpc>
            </a:pPr>
            <a:r>
              <a:rPr lang="en-US" sz="2100" b="true">
                <a:solidFill>
                  <a:srgbClr val="000000"/>
                </a:solidFill>
                <a:latin typeface="Petrona Bold"/>
                <a:ea typeface="Petrona Bold"/>
                <a:cs typeface="Petrona Bold"/>
                <a:sym typeface="Petrona Bold"/>
              </a:rPr>
              <a:t>8/5     </a:t>
            </a:r>
            <a:r>
              <a:rPr lang="en-US" sz="2100" b="true">
                <a:solidFill>
                  <a:srgbClr val="000000"/>
                </a:solidFill>
                <a:latin typeface="Petrona Bold"/>
                <a:ea typeface="Petrona Bold"/>
                <a:cs typeface="Petrona Bold"/>
                <a:sym typeface="Petrona Bold"/>
              </a:rPr>
              <a:t>17603.12</a:t>
            </a:r>
          </a:p>
          <a:p>
            <a:pPr algn="ctr">
              <a:lnSpc>
                <a:spcPts val="2649"/>
              </a:lnSpc>
              <a:spcBef>
                <a:spcPct val="0"/>
              </a:spcBef>
            </a:pPr>
            <a:r>
              <a:rPr lang="en-US" b="true" sz="2100">
                <a:solidFill>
                  <a:srgbClr val="000000"/>
                </a:solidFill>
                <a:latin typeface="Petrona Bold"/>
                <a:ea typeface="Petrona Bold"/>
                <a:cs typeface="Petrona Bold"/>
                <a:sym typeface="Petrona Bold"/>
              </a:rPr>
              <a:t>8/20  16341.94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AF2E9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DFAF7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197813" y="170307"/>
            <a:ext cx="6822434" cy="8908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87"/>
              </a:lnSpc>
            </a:pPr>
            <a:r>
              <a:rPr lang="en-US" sz="5312" b="true">
                <a:solidFill>
                  <a:srgbClr val="F95F88"/>
                </a:solidFill>
                <a:latin typeface="Petrona Bold"/>
                <a:ea typeface="Petrona Bold"/>
                <a:cs typeface="Petrona Bold"/>
                <a:sym typeface="Petrona Bold"/>
              </a:rPr>
              <a:t>跨年度比較分析</a:t>
            </a:r>
          </a:p>
        </p:txBody>
      </p:sp>
      <p:graphicFrame>
        <p:nvGraphicFramePr>
          <p:cNvPr name="Table 7" id="7"/>
          <p:cNvGraphicFramePr>
            <a:graphicFrameLocks noGrp="true"/>
          </p:cNvGraphicFramePr>
          <p:nvPr/>
        </p:nvGraphicFramePr>
        <p:xfrm>
          <a:off x="0" y="1061190"/>
          <a:ext cx="18288000" cy="8485982"/>
        </p:xfrm>
        <a:graphic>
          <a:graphicData uri="http://schemas.openxmlformats.org/drawingml/2006/table">
            <a:tbl>
              <a:tblPr/>
              <a:tblGrid>
                <a:gridCol w="2285851"/>
                <a:gridCol w="1556711"/>
                <a:gridCol w="1605480"/>
                <a:gridCol w="12839959"/>
              </a:tblGrid>
              <a:tr h="13988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104"/>
                        </a:lnSpc>
                        <a:defRPr/>
                      </a:pPr>
                      <a:r>
                        <a:rPr lang="en-US" sz="2699">
                          <a:solidFill>
                            <a:srgbClr val="000000"/>
                          </a:solidFill>
                          <a:latin typeface="Petrona"/>
                          <a:ea typeface="Petrona"/>
                          <a:cs typeface="Petrona"/>
                          <a:sym typeface="Petrona"/>
                        </a:rPr>
                        <a:t>指標解釋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Petrona"/>
                          <a:ea typeface="Petrona"/>
                          <a:cs typeface="Petrona"/>
                          <a:sym typeface="Petrona"/>
                        </a:rPr>
                        <a:t>指標 (平均數)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4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Petrona"/>
                          <a:ea typeface="Petrona"/>
                          <a:cs typeface="Petrona"/>
                          <a:sym typeface="Petrona"/>
                        </a:rPr>
                        <a:t>2021 年 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4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Petrona"/>
                          <a:ea typeface="Petrona"/>
                          <a:cs typeface="Petrona"/>
                          <a:sym typeface="Petrona"/>
                        </a:rPr>
                        <a:t>2022 年 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7318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989"/>
                        </a:lnSpc>
                        <a:defRPr/>
                      </a:pPr>
                      <a:r>
                        <a:rPr lang="en-US" sz="2599">
                          <a:solidFill>
                            <a:srgbClr val="000000"/>
                          </a:solidFill>
                          <a:latin typeface="Petrona"/>
                          <a:ea typeface="Petrona"/>
                          <a:cs typeface="Petrona"/>
                          <a:sym typeface="Petrona"/>
                        </a:rPr>
                        <a:t>1、理論：市場看跌開始轉看漲</a:t>
                      </a:r>
                      <a:endParaRPr lang="en-US" sz="1100"/>
                    </a:p>
                    <a:p>
                      <a:pPr algn="l">
                        <a:lnSpc>
                          <a:spcPts val="2989"/>
                        </a:lnSpc>
                      </a:pPr>
                      <a:r>
                        <a:rPr lang="en-US" sz="2599">
                          <a:solidFill>
                            <a:srgbClr val="000000"/>
                          </a:solidFill>
                          <a:latin typeface="Petrona"/>
                          <a:ea typeface="Petrona"/>
                          <a:cs typeface="Petrona"/>
                          <a:sym typeface="Petrona"/>
                        </a:rPr>
                        <a:t>2、考慮到大盤指數：市場看漲，交易熱絡使避險(P)需求高昂=&gt;市場看空，投資人不敢入場開始觀望，使避險需求(P)下降、抄底投機(C)需求上升</a:t>
                      </a: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Petrona"/>
                          <a:ea typeface="Petrona"/>
                          <a:cs typeface="Petrona"/>
                          <a:sym typeface="Petrona"/>
                        </a:rPr>
                        <a:t>PCR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4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Petrona"/>
                          <a:ea typeface="Petrona"/>
                          <a:cs typeface="Petrona"/>
                          <a:sym typeface="Petrona"/>
                        </a:rPr>
                        <a:t>1.3780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4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Petrona"/>
                          <a:ea typeface="Petrona"/>
                          <a:cs typeface="Petrona"/>
                          <a:sym typeface="Petrona"/>
                        </a:rPr>
                        <a:t>0.9840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484908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639"/>
                        </a:lnSpc>
                        <a:defRPr/>
                      </a:pPr>
                      <a:r>
                        <a:rPr lang="en-US" sz="2599">
                          <a:solidFill>
                            <a:srgbClr val="000000"/>
                          </a:solidFill>
                          <a:latin typeface="Petrona"/>
                          <a:ea typeface="Petrona"/>
                          <a:cs typeface="Petrona"/>
                          <a:sym typeface="Petrona"/>
                        </a:rPr>
                        <a:t>避險成本常態化：儘管2022年盤勢低迷，Put IV仍未顯著下降，代表投資人願意支付極高的權利金來規避下跌風險or投機。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4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Petrona"/>
                          <a:ea typeface="Petrona"/>
                          <a:cs typeface="Petrona"/>
                          <a:sym typeface="Petrona"/>
                        </a:rPr>
                        <a:t>Put IV Mean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4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Petrona"/>
                          <a:ea typeface="Petrona"/>
                          <a:cs typeface="Petrona"/>
                          <a:sym typeface="Petrona"/>
                        </a:rPr>
                        <a:t>0.2802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4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Petrona"/>
                          <a:ea typeface="Petrona"/>
                          <a:cs typeface="Petrona"/>
                          <a:sym typeface="Petrona"/>
                        </a:rPr>
                        <a:t>0.2776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72872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989"/>
                        </a:lnSpc>
                        <a:defRPr/>
                      </a:pPr>
                      <a:r>
                        <a:rPr lang="en-US" sz="2599">
                          <a:solidFill>
                            <a:srgbClr val="000000"/>
                          </a:solidFill>
                          <a:latin typeface="Petrona"/>
                          <a:ea typeface="Petrona"/>
                          <a:cs typeface="Petrona"/>
                          <a:sym typeface="Petrona"/>
                        </a:rPr>
                        <a:t>在空頭年（2022），抄底反彈的念想提高=&gt;需求拉高使預期收益波動、願付提升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4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Petrona"/>
                          <a:ea typeface="Petrona"/>
                          <a:cs typeface="Petrona"/>
                          <a:sym typeface="Petrona"/>
                        </a:rPr>
                        <a:t>Call IV Mean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4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Petrona"/>
                          <a:ea typeface="Petrona"/>
                          <a:cs typeface="Petrona"/>
                          <a:sym typeface="Petrona"/>
                        </a:rPr>
                        <a:t>0.1668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4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Petrona"/>
                          <a:ea typeface="Petrona"/>
                          <a:cs typeface="Petrona"/>
                          <a:sym typeface="Petrona"/>
                        </a:rPr>
                        <a:t>0.1767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3988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989"/>
                        </a:lnSpc>
                        <a:defRPr/>
                      </a:pPr>
                      <a:r>
                        <a:rPr lang="en-US" sz="2599">
                          <a:solidFill>
                            <a:srgbClr val="000000"/>
                          </a:solidFill>
                          <a:latin typeface="Petrona"/>
                          <a:ea typeface="Petrona"/>
                          <a:cs typeface="Petrona"/>
                          <a:sym typeface="Petrona"/>
                        </a:rPr>
                        <a:t>2021 年市場因多頭, 對「風險」的評價極度分歧且不穩定。2022則因市場保守悲觀而趨於一致。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4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Petrona"/>
                          <a:ea typeface="Petrona"/>
                          <a:cs typeface="Petrona"/>
                          <a:sym typeface="Petrona"/>
                        </a:rPr>
                        <a:t>Put IV Std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4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Petrona"/>
                          <a:ea typeface="Petrona"/>
                          <a:cs typeface="Petrona"/>
                          <a:sym typeface="Petrona"/>
                        </a:rPr>
                        <a:t>0.0780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4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Petrona"/>
                          <a:ea typeface="Petrona"/>
                          <a:cs typeface="Petrona"/>
                          <a:sym typeface="Petrona"/>
                        </a:rPr>
                        <a:t>0.0556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3988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104"/>
                        </a:lnSpc>
                        <a:defRPr/>
                      </a:pPr>
                      <a:r>
                        <a:rPr lang="en-US" sz="2699">
                          <a:solidFill>
                            <a:srgbClr val="000000"/>
                          </a:solidFill>
                          <a:latin typeface="Petrona"/>
                          <a:ea typeface="Petrona"/>
                          <a:cs typeface="Petrona"/>
                          <a:sym typeface="Petrona"/>
                        </a:rPr>
                        <a:t>兩年來分歧情況較為穩定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4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Petrona"/>
                          <a:ea typeface="Petrona"/>
                          <a:cs typeface="Petrona"/>
                          <a:sym typeface="Petrona"/>
                        </a:rPr>
                        <a:t>Call IV Std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Petrona"/>
                          <a:ea typeface="Petrona"/>
                          <a:cs typeface="Petrona"/>
                          <a:sym typeface="Petrona"/>
                        </a:rPr>
                        <a:t>0.0289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4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Petrona"/>
                          <a:ea typeface="Petrona"/>
                          <a:cs typeface="Petrona"/>
                          <a:sym typeface="Petrona"/>
                        </a:rPr>
                        <a:t>0.0286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AF2E9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DFAF7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0" y="0"/>
            <a:ext cx="6858000" cy="10287000"/>
            <a:chOff x="0" y="0"/>
            <a:chExt cx="9144000" cy="13716000"/>
          </a:xfrm>
        </p:grpSpPr>
        <p:sp>
          <p:nvSpPr>
            <p:cNvPr name="Freeform 7" id="7" descr="preencoded.png"/>
            <p:cNvSpPr/>
            <p:nvPr/>
          </p:nvSpPr>
          <p:spPr>
            <a:xfrm flipH="false" flipV="false" rot="0">
              <a:off x="0" y="0"/>
              <a:ext cx="914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7593441" y="877043"/>
            <a:ext cx="6822434" cy="8908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87"/>
              </a:lnSpc>
            </a:pPr>
            <a:r>
              <a:rPr lang="en-US" sz="5312" b="true">
                <a:solidFill>
                  <a:srgbClr val="F95F88"/>
                </a:solidFill>
                <a:latin typeface="Petrona Bold"/>
                <a:ea typeface="Petrona Bold"/>
                <a:cs typeface="Petrona Bold"/>
                <a:sym typeface="Petrona Bold"/>
              </a:rPr>
              <a:t>AI 協作與驗證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7813777" y="2441550"/>
            <a:ext cx="9481985" cy="6923625"/>
            <a:chOff x="0" y="0"/>
            <a:chExt cx="12642647" cy="9231499"/>
          </a:xfrm>
        </p:grpSpPr>
        <p:sp>
          <p:nvSpPr>
            <p:cNvPr name="Freeform 10" id="10" descr="preencoded.png"/>
            <p:cNvSpPr/>
            <p:nvPr/>
          </p:nvSpPr>
          <p:spPr>
            <a:xfrm flipH="false" flipV="false" rot="0">
              <a:off x="0" y="0"/>
              <a:ext cx="826884" cy="826884"/>
            </a:xfrm>
            <a:custGeom>
              <a:avLst/>
              <a:gdLst/>
              <a:ahLst/>
              <a:cxnLst/>
              <a:rect r="r" b="b" t="t" l="l"/>
              <a:pathLst>
                <a:path h="826884" w="826884">
                  <a:moveTo>
                    <a:pt x="0" y="0"/>
                  </a:moveTo>
                  <a:lnTo>
                    <a:pt x="826884" y="0"/>
                  </a:lnTo>
                  <a:lnTo>
                    <a:pt x="826884" y="826884"/>
                  </a:lnTo>
                  <a:lnTo>
                    <a:pt x="0" y="8268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-5303" r="0" b="-5303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 rot="0">
              <a:off x="1240231" y="-28575"/>
              <a:ext cx="4548188" cy="65621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943"/>
                </a:lnSpc>
              </a:pPr>
              <a:r>
                <a:rPr lang="en-US" sz="3124" b="true">
                  <a:solidFill>
                    <a:srgbClr val="272525"/>
                  </a:solidFill>
                  <a:latin typeface="Petrona Bold"/>
                  <a:ea typeface="Petrona Bold"/>
                  <a:cs typeface="Petrona Bold"/>
                  <a:sym typeface="Petrona Bold"/>
                </a:rPr>
                <a:t>AI 協助</a:t>
              </a: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1240231" y="722109"/>
              <a:ext cx="11353800" cy="12551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931"/>
                </a:lnSpc>
              </a:pPr>
              <a:r>
                <a:rPr lang="en-US" sz="2437">
                  <a:solidFill>
                    <a:srgbClr val="272525"/>
                  </a:solidFill>
                  <a:latin typeface="Inter"/>
                  <a:ea typeface="Inter"/>
                  <a:cs typeface="Inter"/>
                  <a:sym typeface="Inter"/>
                </a:rPr>
                <a:t>生成程式來</a:t>
              </a:r>
              <a:r>
                <a:rPr lang="en-US" sz="2437">
                  <a:solidFill>
                    <a:srgbClr val="272525"/>
                  </a:solidFill>
                  <a:latin typeface="Inter"/>
                  <a:ea typeface="Inter"/>
                  <a:cs typeface="Inter"/>
                  <a:sym typeface="Inter"/>
                </a:rPr>
                <a:t>協助處理龐大的 CSV 資料提取出TXO的部分，並計算出各指標</a:t>
              </a:r>
            </a:p>
          </p:txBody>
        </p:sp>
        <p:sp>
          <p:nvSpPr>
            <p:cNvPr name="Freeform 13" id="13" descr="preencoded.png"/>
            <p:cNvSpPr/>
            <p:nvPr/>
          </p:nvSpPr>
          <p:spPr>
            <a:xfrm flipH="false" flipV="false" rot="0">
              <a:off x="48616" y="5993172"/>
              <a:ext cx="826884" cy="826884"/>
            </a:xfrm>
            <a:custGeom>
              <a:avLst/>
              <a:gdLst/>
              <a:ahLst/>
              <a:cxnLst/>
              <a:rect r="r" b="b" t="t" l="l"/>
              <a:pathLst>
                <a:path h="826884" w="826884">
                  <a:moveTo>
                    <a:pt x="0" y="0"/>
                  </a:moveTo>
                  <a:lnTo>
                    <a:pt x="826884" y="0"/>
                  </a:lnTo>
                  <a:lnTo>
                    <a:pt x="826884" y="826885"/>
                  </a:lnTo>
                  <a:lnTo>
                    <a:pt x="0" y="8268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-5303" t="0" r="-5303" b="0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 rot="0">
              <a:off x="1288847" y="5964597"/>
              <a:ext cx="4548188" cy="65621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943"/>
                </a:lnSpc>
              </a:pPr>
              <a:r>
                <a:rPr lang="en-US" sz="3124" b="true">
                  <a:solidFill>
                    <a:srgbClr val="272525"/>
                  </a:solidFill>
                  <a:latin typeface="Petrona Bold"/>
                  <a:ea typeface="Petrona Bold"/>
                  <a:cs typeface="Petrona Bold"/>
                  <a:sym typeface="Petrona Bold"/>
                </a:rPr>
                <a:t>限制與反思</a:t>
              </a:r>
            </a:p>
          </p:txBody>
        </p:sp>
        <p:sp>
          <p:nvSpPr>
            <p:cNvPr name="TextBox 15" id="15"/>
            <p:cNvSpPr txBox="true"/>
            <p:nvPr/>
          </p:nvSpPr>
          <p:spPr>
            <a:xfrm rot="0">
              <a:off x="1288847" y="6655363"/>
              <a:ext cx="11353800" cy="257613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929"/>
                </a:lnSpc>
              </a:pPr>
              <a:r>
                <a:rPr lang="en-US" sz="2437">
                  <a:solidFill>
                    <a:srgbClr val="272525"/>
                  </a:solidFill>
                  <a:latin typeface="Inter"/>
                  <a:ea typeface="Inter"/>
                  <a:cs typeface="Inter"/>
                  <a:sym typeface="Inter"/>
                </a:rPr>
                <a:t>若指令未下達的詳細，則AI可能誤解或少生成物件，導致未達到要求，故需要在下指令時越詳細越好。</a:t>
              </a:r>
            </a:p>
            <a:p>
              <a:pPr algn="l">
                <a:lnSpc>
                  <a:spcPts val="3931"/>
                </a:lnSpc>
              </a:pPr>
              <a:r>
                <a:rPr lang="en-US" sz="2437">
                  <a:solidFill>
                    <a:srgbClr val="272525"/>
                  </a:solidFill>
                  <a:latin typeface="Inter"/>
                  <a:ea typeface="Inter"/>
                  <a:cs typeface="Inter"/>
                  <a:sym typeface="Inter"/>
                </a:rPr>
                <a:t>在運行之前可先讓AI先行生成欄位預覽，確認無誤後再運行程式以節省時間</a:t>
              </a:r>
            </a:p>
          </p:txBody>
        </p:sp>
        <p:sp>
          <p:nvSpPr>
            <p:cNvPr name="Freeform 16" id="16" descr="preencoded.png"/>
            <p:cNvSpPr/>
            <p:nvPr/>
          </p:nvSpPr>
          <p:spPr>
            <a:xfrm flipH="false" flipV="false" rot="0">
              <a:off x="0" y="2736118"/>
              <a:ext cx="826884" cy="826884"/>
            </a:xfrm>
            <a:custGeom>
              <a:avLst/>
              <a:gdLst/>
              <a:ahLst/>
              <a:cxnLst/>
              <a:rect r="r" b="b" t="t" l="l"/>
              <a:pathLst>
                <a:path h="826884" w="826884">
                  <a:moveTo>
                    <a:pt x="0" y="0"/>
                  </a:moveTo>
                  <a:lnTo>
                    <a:pt x="826884" y="0"/>
                  </a:lnTo>
                  <a:lnTo>
                    <a:pt x="826884" y="826884"/>
                  </a:lnTo>
                  <a:lnTo>
                    <a:pt x="0" y="8268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 l="0" t="-757" r="0" b="-758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 rot="0">
              <a:off x="1240231" y="2707543"/>
              <a:ext cx="4548188" cy="65621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943"/>
                </a:lnSpc>
              </a:pPr>
              <a:r>
                <a:rPr lang="en-US" sz="3124" b="true">
                  <a:solidFill>
                    <a:srgbClr val="272525"/>
                  </a:solidFill>
                  <a:latin typeface="Petrona Bold"/>
                  <a:ea typeface="Petrona Bold"/>
                  <a:cs typeface="Petrona Bold"/>
                  <a:sym typeface="Petrona Bold"/>
                </a:rPr>
                <a:t>Prompt 優化</a:t>
              </a:r>
            </a:p>
          </p:txBody>
        </p:sp>
        <p:sp>
          <p:nvSpPr>
            <p:cNvPr name="TextBox 18" id="18"/>
            <p:cNvSpPr txBox="true"/>
            <p:nvPr/>
          </p:nvSpPr>
          <p:spPr>
            <a:xfrm rot="0">
              <a:off x="1240231" y="3458227"/>
              <a:ext cx="11353800" cy="125533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929"/>
                </a:lnSpc>
              </a:pPr>
              <a:r>
                <a:rPr lang="en-US" sz="2437">
                  <a:solidFill>
                    <a:srgbClr val="272525"/>
                  </a:solidFill>
                  <a:latin typeface="Inter"/>
                  <a:ea typeface="Inter"/>
                  <a:cs typeface="Inter"/>
                  <a:sym typeface="Inter"/>
                </a:rPr>
                <a:t>一開始檔案過大無法上傳 -&gt; 上傳壓縮檔至COLAB即可解決</a:t>
              </a:r>
            </a:p>
            <a:p>
              <a:pPr algn="l">
                <a:lnSpc>
                  <a:spcPts val="3931"/>
                </a:lnSpc>
              </a:pPr>
              <a:r>
                <a:rPr lang="en-US" sz="2437">
                  <a:solidFill>
                    <a:srgbClr val="272525"/>
                  </a:solidFill>
                  <a:latin typeface="Inter"/>
                  <a:ea typeface="Inter"/>
                  <a:cs typeface="Inter"/>
                  <a:sym typeface="Inter"/>
                </a:rPr>
                <a:t>程式運行後出錯(bug、少生成指標) -&gt; 要求AI進行除錯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AF2E9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DFAF7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6049015" y="9686925"/>
            <a:ext cx="2153260" cy="514350"/>
            <a:chOff x="0" y="0"/>
            <a:chExt cx="2871013" cy="685800"/>
          </a:xfrm>
        </p:grpSpPr>
        <p:sp>
          <p:nvSpPr>
            <p:cNvPr name="Freeform 7" id="7" descr="preencoded.png">
              <a:hlinkClick r:id="rId3" tooltip="https://gamma.app/?utm_source=made-with-gamma"/>
            </p:cNvPr>
            <p:cNvSpPr/>
            <p:nvPr/>
          </p:nvSpPr>
          <p:spPr>
            <a:xfrm flipH="false" flipV="false" rot="0">
              <a:off x="0" y="0"/>
              <a:ext cx="2870962" cy="685800"/>
            </a:xfrm>
            <a:custGeom>
              <a:avLst/>
              <a:gdLst/>
              <a:ahLst/>
              <a:cxnLst/>
              <a:rect r="r" b="b" t="t" l="l"/>
              <a:pathLst>
                <a:path h="685800" w="2870962">
                  <a:moveTo>
                    <a:pt x="0" y="0"/>
                  </a:moveTo>
                  <a:lnTo>
                    <a:pt x="2870962" y="0"/>
                  </a:lnTo>
                  <a:lnTo>
                    <a:pt x="2870962" y="685800"/>
                  </a:lnTo>
                  <a:lnTo>
                    <a:pt x="0" y="685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1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1430000" y="0"/>
            <a:ext cx="6858000" cy="10287000"/>
            <a:chOff x="0" y="0"/>
            <a:chExt cx="9144000" cy="13716000"/>
          </a:xfrm>
        </p:grpSpPr>
        <p:sp>
          <p:nvSpPr>
            <p:cNvPr name="Freeform 9" id="9" descr="preencoded.png"/>
            <p:cNvSpPr/>
            <p:nvPr/>
          </p:nvSpPr>
          <p:spPr>
            <a:xfrm flipH="false" flipV="false" rot="0">
              <a:off x="0" y="0"/>
              <a:ext cx="914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992238" y="899522"/>
            <a:ext cx="4722812" cy="8461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87"/>
              </a:lnSpc>
            </a:pPr>
            <a:r>
              <a:rPr lang="en-US" sz="5312" b="true">
                <a:solidFill>
                  <a:srgbClr val="F95F88"/>
                </a:solidFill>
                <a:latin typeface="Petrona Bold"/>
                <a:ea typeface="Petrona Bold"/>
                <a:cs typeface="Petrona Bold"/>
                <a:sym typeface="Petrona Bold"/>
              </a:rPr>
              <a:t>結論與實務洞察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992238" y="3315707"/>
            <a:ext cx="9767473" cy="4539823"/>
            <a:chOff x="0" y="0"/>
            <a:chExt cx="13023297" cy="6053097"/>
          </a:xfrm>
        </p:grpSpPr>
        <p:grpSp>
          <p:nvGrpSpPr>
            <p:cNvPr name="Group 12" id="12"/>
            <p:cNvGrpSpPr/>
            <p:nvPr/>
          </p:nvGrpSpPr>
          <p:grpSpPr>
            <a:xfrm rot="0">
              <a:off x="0" y="0"/>
              <a:ext cx="756844" cy="756844"/>
              <a:chOff x="0" y="0"/>
              <a:chExt cx="756844" cy="756844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6350" y="6350"/>
                <a:ext cx="744093" cy="744093"/>
              </a:xfrm>
              <a:custGeom>
                <a:avLst/>
                <a:gdLst/>
                <a:ahLst/>
                <a:cxnLst/>
                <a:rect r="r" b="b" t="t" l="l"/>
                <a:pathLst>
                  <a:path h="744093" w="744093">
                    <a:moveTo>
                      <a:pt x="0" y="138938"/>
                    </a:moveTo>
                    <a:cubicBezTo>
                      <a:pt x="0" y="62230"/>
                      <a:pt x="62230" y="0"/>
                      <a:pt x="138938" y="0"/>
                    </a:cubicBezTo>
                    <a:lnTo>
                      <a:pt x="605155" y="0"/>
                    </a:lnTo>
                    <a:cubicBezTo>
                      <a:pt x="681990" y="0"/>
                      <a:pt x="744093" y="62230"/>
                      <a:pt x="744093" y="138938"/>
                    </a:cubicBezTo>
                    <a:lnTo>
                      <a:pt x="744093" y="605155"/>
                    </a:lnTo>
                    <a:cubicBezTo>
                      <a:pt x="744093" y="681863"/>
                      <a:pt x="681863" y="744093"/>
                      <a:pt x="605155" y="744093"/>
                    </a:cubicBezTo>
                    <a:lnTo>
                      <a:pt x="138938" y="744093"/>
                    </a:lnTo>
                    <a:cubicBezTo>
                      <a:pt x="62230" y="744093"/>
                      <a:pt x="0" y="681990"/>
                      <a:pt x="0" y="605155"/>
                    </a:cubicBezTo>
                    <a:close/>
                  </a:path>
                </a:pathLst>
              </a:custGeom>
              <a:solidFill>
                <a:srgbClr val="E0D7F4"/>
              </a:solidFill>
            </p:spPr>
          </p:sp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756793" cy="756793"/>
              </a:xfrm>
              <a:custGeom>
                <a:avLst/>
                <a:gdLst/>
                <a:ahLst/>
                <a:cxnLst/>
                <a:rect r="r" b="b" t="t" l="l"/>
                <a:pathLst>
                  <a:path h="756793" w="756793">
                    <a:moveTo>
                      <a:pt x="0" y="145288"/>
                    </a:moveTo>
                    <a:cubicBezTo>
                      <a:pt x="0" y="65024"/>
                      <a:pt x="65024" y="0"/>
                      <a:pt x="145288" y="0"/>
                    </a:cubicBezTo>
                    <a:lnTo>
                      <a:pt x="611505" y="0"/>
                    </a:lnTo>
                    <a:lnTo>
                      <a:pt x="611505" y="6350"/>
                    </a:lnTo>
                    <a:lnTo>
                      <a:pt x="611505" y="0"/>
                    </a:lnTo>
                    <a:cubicBezTo>
                      <a:pt x="691769" y="0"/>
                      <a:pt x="756793" y="65024"/>
                      <a:pt x="756793" y="145288"/>
                    </a:cubicBezTo>
                    <a:lnTo>
                      <a:pt x="750443" y="145288"/>
                    </a:lnTo>
                    <a:lnTo>
                      <a:pt x="756793" y="145288"/>
                    </a:lnTo>
                    <a:lnTo>
                      <a:pt x="756793" y="611505"/>
                    </a:lnTo>
                    <a:lnTo>
                      <a:pt x="750443" y="611505"/>
                    </a:lnTo>
                    <a:lnTo>
                      <a:pt x="756793" y="611505"/>
                    </a:lnTo>
                    <a:cubicBezTo>
                      <a:pt x="756793" y="691769"/>
                      <a:pt x="691769" y="756793"/>
                      <a:pt x="611505" y="756793"/>
                    </a:cubicBezTo>
                    <a:lnTo>
                      <a:pt x="611505" y="750443"/>
                    </a:lnTo>
                    <a:lnTo>
                      <a:pt x="611505" y="756793"/>
                    </a:lnTo>
                    <a:lnTo>
                      <a:pt x="145288" y="756793"/>
                    </a:lnTo>
                    <a:lnTo>
                      <a:pt x="145288" y="750443"/>
                    </a:lnTo>
                    <a:lnTo>
                      <a:pt x="145288" y="756793"/>
                    </a:lnTo>
                    <a:cubicBezTo>
                      <a:pt x="65024" y="756793"/>
                      <a:pt x="0" y="691769"/>
                      <a:pt x="0" y="611505"/>
                    </a:cubicBezTo>
                    <a:lnTo>
                      <a:pt x="0" y="145288"/>
                    </a:lnTo>
                    <a:lnTo>
                      <a:pt x="6350" y="145288"/>
                    </a:lnTo>
                    <a:lnTo>
                      <a:pt x="0" y="145288"/>
                    </a:lnTo>
                    <a:moveTo>
                      <a:pt x="12700" y="145288"/>
                    </a:moveTo>
                    <a:lnTo>
                      <a:pt x="12700" y="611505"/>
                    </a:lnTo>
                    <a:lnTo>
                      <a:pt x="6350" y="611505"/>
                    </a:lnTo>
                    <a:lnTo>
                      <a:pt x="12700" y="611505"/>
                    </a:lnTo>
                    <a:cubicBezTo>
                      <a:pt x="12700" y="684784"/>
                      <a:pt x="72009" y="744093"/>
                      <a:pt x="145288" y="744093"/>
                    </a:cubicBezTo>
                    <a:lnTo>
                      <a:pt x="611505" y="744093"/>
                    </a:lnTo>
                    <a:cubicBezTo>
                      <a:pt x="684784" y="744093"/>
                      <a:pt x="744093" y="684784"/>
                      <a:pt x="744093" y="611505"/>
                    </a:cubicBezTo>
                    <a:lnTo>
                      <a:pt x="744093" y="145288"/>
                    </a:lnTo>
                    <a:cubicBezTo>
                      <a:pt x="744093" y="72009"/>
                      <a:pt x="684784" y="12700"/>
                      <a:pt x="611505" y="12700"/>
                    </a:cubicBezTo>
                    <a:lnTo>
                      <a:pt x="145288" y="12700"/>
                    </a:lnTo>
                    <a:lnTo>
                      <a:pt x="145288" y="6350"/>
                    </a:lnTo>
                    <a:lnTo>
                      <a:pt x="145288" y="12700"/>
                    </a:lnTo>
                    <a:cubicBezTo>
                      <a:pt x="72009" y="12700"/>
                      <a:pt x="12700" y="72009"/>
                      <a:pt x="12700" y="145288"/>
                    </a:cubicBezTo>
                    <a:close/>
                  </a:path>
                </a:pathLst>
              </a:custGeom>
              <a:solidFill>
                <a:srgbClr val="C6BDDA"/>
              </a:solidFill>
            </p:spPr>
          </p:sp>
        </p:grpSp>
        <p:sp>
          <p:nvSpPr>
            <p:cNvPr name="TextBox 15" id="15"/>
            <p:cNvSpPr txBox="true"/>
            <p:nvPr/>
          </p:nvSpPr>
          <p:spPr>
            <a:xfrm rot="0">
              <a:off x="230249" y="113500"/>
              <a:ext cx="296333" cy="74802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087"/>
                </a:lnSpc>
              </a:pPr>
              <a:r>
                <a:rPr lang="en-US" sz="4087" b="true">
                  <a:solidFill>
                    <a:srgbClr val="272525"/>
                  </a:solidFill>
                  <a:latin typeface="Petrona Bold"/>
                  <a:ea typeface="Petrona Bold"/>
                  <a:cs typeface="Petrona Bold"/>
                  <a:sym typeface="Petrona Bold"/>
                </a:rPr>
                <a:t>1</a:t>
              </a:r>
            </a:p>
          </p:txBody>
        </p:sp>
        <p:sp>
          <p:nvSpPr>
            <p:cNvPr name="TextBox 16" id="16"/>
            <p:cNvSpPr txBox="true"/>
            <p:nvPr/>
          </p:nvSpPr>
          <p:spPr>
            <a:xfrm rot="0">
              <a:off x="1081088" y="91478"/>
              <a:ext cx="4280535" cy="74092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448"/>
                </a:lnSpc>
              </a:pPr>
              <a:r>
                <a:rPr lang="en-US" sz="3524" b="true">
                  <a:solidFill>
                    <a:srgbClr val="272525"/>
                  </a:solidFill>
                  <a:latin typeface="Petrona Bold"/>
                  <a:ea typeface="Petrona Bold"/>
                  <a:cs typeface="Petrona Bold"/>
                  <a:sym typeface="Petrona Bold"/>
                </a:rPr>
                <a:t>PCR 的領先訊號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1081088" y="772706"/>
              <a:ext cx="11519294" cy="146530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576"/>
                </a:lnSpc>
              </a:pPr>
              <a:r>
                <a:rPr lang="en-US" sz="2837">
                  <a:solidFill>
                    <a:srgbClr val="272525"/>
                  </a:solidFill>
                  <a:latin typeface="Inter"/>
                  <a:ea typeface="Inter"/>
                  <a:cs typeface="Inter"/>
                  <a:sym typeface="Inter"/>
                </a:rPr>
                <a:t>PCR 的突發噴發往往是短線下跌的訊號，具有顯著的預測領先性。</a:t>
              </a:r>
            </a:p>
          </p:txBody>
        </p:sp>
        <p:grpSp>
          <p:nvGrpSpPr>
            <p:cNvPr name="Group 18" id="18"/>
            <p:cNvGrpSpPr/>
            <p:nvPr/>
          </p:nvGrpSpPr>
          <p:grpSpPr>
            <a:xfrm rot="0">
              <a:off x="0" y="2756074"/>
              <a:ext cx="756844" cy="756844"/>
              <a:chOff x="0" y="0"/>
              <a:chExt cx="756844" cy="756844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6350" y="6350"/>
                <a:ext cx="744093" cy="744093"/>
              </a:xfrm>
              <a:custGeom>
                <a:avLst/>
                <a:gdLst/>
                <a:ahLst/>
                <a:cxnLst/>
                <a:rect r="r" b="b" t="t" l="l"/>
                <a:pathLst>
                  <a:path h="744093" w="744093">
                    <a:moveTo>
                      <a:pt x="0" y="138938"/>
                    </a:moveTo>
                    <a:cubicBezTo>
                      <a:pt x="0" y="62230"/>
                      <a:pt x="62230" y="0"/>
                      <a:pt x="138938" y="0"/>
                    </a:cubicBezTo>
                    <a:lnTo>
                      <a:pt x="605155" y="0"/>
                    </a:lnTo>
                    <a:cubicBezTo>
                      <a:pt x="681990" y="0"/>
                      <a:pt x="744093" y="62230"/>
                      <a:pt x="744093" y="138938"/>
                    </a:cubicBezTo>
                    <a:lnTo>
                      <a:pt x="744093" y="605155"/>
                    </a:lnTo>
                    <a:cubicBezTo>
                      <a:pt x="744093" y="681863"/>
                      <a:pt x="681863" y="744093"/>
                      <a:pt x="605155" y="744093"/>
                    </a:cubicBezTo>
                    <a:lnTo>
                      <a:pt x="138938" y="744093"/>
                    </a:lnTo>
                    <a:cubicBezTo>
                      <a:pt x="62230" y="744093"/>
                      <a:pt x="0" y="681990"/>
                      <a:pt x="0" y="605155"/>
                    </a:cubicBezTo>
                    <a:close/>
                  </a:path>
                </a:pathLst>
              </a:custGeom>
              <a:solidFill>
                <a:srgbClr val="E0D7F4"/>
              </a:solidFill>
            </p:spPr>
          </p:sp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756793" cy="756793"/>
              </a:xfrm>
              <a:custGeom>
                <a:avLst/>
                <a:gdLst/>
                <a:ahLst/>
                <a:cxnLst/>
                <a:rect r="r" b="b" t="t" l="l"/>
                <a:pathLst>
                  <a:path h="756793" w="756793">
                    <a:moveTo>
                      <a:pt x="0" y="145288"/>
                    </a:moveTo>
                    <a:cubicBezTo>
                      <a:pt x="0" y="65024"/>
                      <a:pt x="65024" y="0"/>
                      <a:pt x="145288" y="0"/>
                    </a:cubicBezTo>
                    <a:lnTo>
                      <a:pt x="611505" y="0"/>
                    </a:lnTo>
                    <a:lnTo>
                      <a:pt x="611505" y="6350"/>
                    </a:lnTo>
                    <a:lnTo>
                      <a:pt x="611505" y="0"/>
                    </a:lnTo>
                    <a:cubicBezTo>
                      <a:pt x="691769" y="0"/>
                      <a:pt x="756793" y="65024"/>
                      <a:pt x="756793" y="145288"/>
                    </a:cubicBezTo>
                    <a:lnTo>
                      <a:pt x="750443" y="145288"/>
                    </a:lnTo>
                    <a:lnTo>
                      <a:pt x="756793" y="145288"/>
                    </a:lnTo>
                    <a:lnTo>
                      <a:pt x="756793" y="611505"/>
                    </a:lnTo>
                    <a:lnTo>
                      <a:pt x="750443" y="611505"/>
                    </a:lnTo>
                    <a:lnTo>
                      <a:pt x="756793" y="611505"/>
                    </a:lnTo>
                    <a:cubicBezTo>
                      <a:pt x="756793" y="691769"/>
                      <a:pt x="691769" y="756793"/>
                      <a:pt x="611505" y="756793"/>
                    </a:cubicBezTo>
                    <a:lnTo>
                      <a:pt x="611505" y="750443"/>
                    </a:lnTo>
                    <a:lnTo>
                      <a:pt x="611505" y="756793"/>
                    </a:lnTo>
                    <a:lnTo>
                      <a:pt x="145288" y="756793"/>
                    </a:lnTo>
                    <a:lnTo>
                      <a:pt x="145288" y="750443"/>
                    </a:lnTo>
                    <a:lnTo>
                      <a:pt x="145288" y="756793"/>
                    </a:lnTo>
                    <a:cubicBezTo>
                      <a:pt x="65024" y="756793"/>
                      <a:pt x="0" y="691769"/>
                      <a:pt x="0" y="611505"/>
                    </a:cubicBezTo>
                    <a:lnTo>
                      <a:pt x="0" y="145288"/>
                    </a:lnTo>
                    <a:lnTo>
                      <a:pt x="6350" y="145288"/>
                    </a:lnTo>
                    <a:lnTo>
                      <a:pt x="0" y="145288"/>
                    </a:lnTo>
                    <a:moveTo>
                      <a:pt x="12700" y="145288"/>
                    </a:moveTo>
                    <a:lnTo>
                      <a:pt x="12700" y="611505"/>
                    </a:lnTo>
                    <a:lnTo>
                      <a:pt x="6350" y="611505"/>
                    </a:lnTo>
                    <a:lnTo>
                      <a:pt x="12700" y="611505"/>
                    </a:lnTo>
                    <a:cubicBezTo>
                      <a:pt x="12700" y="684784"/>
                      <a:pt x="72009" y="744093"/>
                      <a:pt x="145288" y="744093"/>
                    </a:cubicBezTo>
                    <a:lnTo>
                      <a:pt x="611505" y="744093"/>
                    </a:lnTo>
                    <a:cubicBezTo>
                      <a:pt x="684784" y="744093"/>
                      <a:pt x="744093" y="684784"/>
                      <a:pt x="744093" y="611505"/>
                    </a:cubicBezTo>
                    <a:lnTo>
                      <a:pt x="744093" y="145288"/>
                    </a:lnTo>
                    <a:cubicBezTo>
                      <a:pt x="744093" y="72009"/>
                      <a:pt x="684784" y="12700"/>
                      <a:pt x="611505" y="12700"/>
                    </a:cubicBezTo>
                    <a:lnTo>
                      <a:pt x="145288" y="12700"/>
                    </a:lnTo>
                    <a:lnTo>
                      <a:pt x="145288" y="6350"/>
                    </a:lnTo>
                    <a:lnTo>
                      <a:pt x="145288" y="12700"/>
                    </a:lnTo>
                    <a:cubicBezTo>
                      <a:pt x="72009" y="12700"/>
                      <a:pt x="12700" y="72009"/>
                      <a:pt x="12700" y="145288"/>
                    </a:cubicBezTo>
                    <a:close/>
                  </a:path>
                </a:pathLst>
              </a:custGeom>
              <a:solidFill>
                <a:srgbClr val="C6BDDA"/>
              </a:solidFill>
            </p:spPr>
          </p:sp>
        </p:grpSp>
        <p:sp>
          <p:nvSpPr>
            <p:cNvPr name="TextBox 21" id="21"/>
            <p:cNvSpPr txBox="true"/>
            <p:nvPr/>
          </p:nvSpPr>
          <p:spPr>
            <a:xfrm rot="0">
              <a:off x="182201" y="2869587"/>
              <a:ext cx="392430" cy="74802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087"/>
                </a:lnSpc>
              </a:pPr>
              <a:r>
                <a:rPr lang="en-US" sz="4087" b="true">
                  <a:solidFill>
                    <a:srgbClr val="272525"/>
                  </a:solidFill>
                  <a:latin typeface="Petrona Bold"/>
                  <a:ea typeface="Petrona Bold"/>
                  <a:cs typeface="Petrona Bold"/>
                  <a:sym typeface="Petrona Bold"/>
                </a:rPr>
                <a:t>2</a:t>
              </a:r>
            </a:p>
          </p:txBody>
        </p:sp>
        <p:sp>
          <p:nvSpPr>
            <p:cNvPr name="TextBox 22" id="22"/>
            <p:cNvSpPr txBox="true"/>
            <p:nvPr/>
          </p:nvSpPr>
          <p:spPr>
            <a:xfrm rot="0">
              <a:off x="1081088" y="3825571"/>
              <a:ext cx="11942209" cy="222752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4574"/>
                </a:lnSpc>
                <a:spcBef>
                  <a:spcPct val="0"/>
                </a:spcBef>
              </a:pPr>
              <a:r>
                <a:rPr lang="en-US" sz="2837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2021</a:t>
              </a:r>
              <a:r>
                <a:rPr lang="en-US" sz="2837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年市場熱絡，帳跌幅大，導致各指標波動大</a:t>
              </a:r>
            </a:p>
            <a:p>
              <a:pPr algn="just">
                <a:lnSpc>
                  <a:spcPts val="4576"/>
                </a:lnSpc>
                <a:spcBef>
                  <a:spcPct val="0"/>
                </a:spcBef>
              </a:pPr>
              <a:r>
                <a:rPr lang="en-US" sz="2837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2022市場低迷，導致賣權需求降低，買權則因有更多抄底想法而提高</a:t>
              </a:r>
            </a:p>
          </p:txBody>
        </p:sp>
        <p:sp>
          <p:nvSpPr>
            <p:cNvPr name="TextBox 23" id="23"/>
            <p:cNvSpPr txBox="true"/>
            <p:nvPr/>
          </p:nvSpPr>
          <p:spPr>
            <a:xfrm rot="0">
              <a:off x="1081088" y="2820752"/>
              <a:ext cx="3919855" cy="74092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448"/>
                </a:lnSpc>
              </a:pPr>
              <a:r>
                <a:rPr lang="en-US" sz="3524" b="true">
                  <a:solidFill>
                    <a:srgbClr val="272525"/>
                  </a:solidFill>
                  <a:latin typeface="Petrona Bold"/>
                  <a:ea typeface="Petrona Bold"/>
                  <a:cs typeface="Petrona Bold"/>
                  <a:sym typeface="Petrona Bold"/>
                </a:rPr>
                <a:t>2個年度的觀察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DAHGd-aqpvI</dc:identifier>
  <dcterms:modified xsi:type="dcterms:W3CDTF">2011-08-01T06:04:30Z</dcterms:modified>
  <cp:revision>1</cp:revision>
  <dc:title>2021-2022.pptx</dc:title>
</cp:coreProperties>
</file>