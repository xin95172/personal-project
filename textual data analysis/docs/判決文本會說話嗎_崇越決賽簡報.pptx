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15e8751f674472" /><Relationship Type="http://schemas.openxmlformats.org/officeDocument/2006/relationships/extended-properties" Target="/docProps/app.xml" Id="R1dbc951733564672" /><Relationship Type="http://schemas.openxmlformats.org/officeDocument/2006/relationships/officeDocument" Target="/ppt/presentation.xml" Id="Rd6f9031b5c1845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cfe929f9e64d66"/>
  </p:sldMasterIdLst>
  <p:notesMasterIdLst>
    <p:notesMasterId xmlns:r="http://schemas.openxmlformats.org/officeDocument/2006/relationships" r:id="R1eecfd411683421b"/>
  </p:notesMasterIdLst>
  <p:sldIdLst>
    <p:sldId xmlns:r="http://schemas.openxmlformats.org/officeDocument/2006/relationships" id="256" r:id="Rf3503889992a4b9c"/>
    <p:sldId xmlns:r="http://schemas.openxmlformats.org/officeDocument/2006/relationships" id="257" r:id="R43c41ed661184686"/>
    <p:sldId xmlns:r="http://schemas.openxmlformats.org/officeDocument/2006/relationships" id="258" r:id="Re8d4702f14944065"/>
    <p:sldId xmlns:r="http://schemas.openxmlformats.org/officeDocument/2006/relationships" id="259" r:id="R7b05bf194e104183"/>
    <p:sldId xmlns:r="http://schemas.openxmlformats.org/officeDocument/2006/relationships" id="260" r:id="R663ce48d93a44732"/>
    <p:sldId xmlns:r="http://schemas.openxmlformats.org/officeDocument/2006/relationships" id="261" r:id="R88d057f8053f454c"/>
    <p:sldId xmlns:r="http://schemas.openxmlformats.org/officeDocument/2006/relationships" id="262" r:id="R4521e99cf563476d"/>
    <p:sldId xmlns:r="http://schemas.openxmlformats.org/officeDocument/2006/relationships" id="263" r:id="Ra9e7f40dcc924bb4"/>
    <p:sldId xmlns:r="http://schemas.openxmlformats.org/officeDocument/2006/relationships" id="264" r:id="R525dfca9f4bf4a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bb0247a04644a7" /><Relationship Type="http://schemas.openxmlformats.org/officeDocument/2006/relationships/slideMaster" Target="/ppt/slideMasters/slideMaster1.xml" Id="R92cfe929f9e64d66" /><Relationship Type="http://schemas.openxmlformats.org/officeDocument/2006/relationships/notesMaster" Target="/ppt/notesMasters/notesMaster1.xml" Id="R1eecfd411683421b" /><Relationship Type="http://schemas.openxmlformats.org/officeDocument/2006/relationships/presProps" Target="/ppt/presProps.xml" Id="Rad27b8f74df34380" /><Relationship Type="http://schemas.openxmlformats.org/officeDocument/2006/relationships/viewProps" Target="/ppt/viewProps.xml" Id="R22db1710337844ca" /><Relationship Type="http://schemas.openxmlformats.org/officeDocument/2006/relationships/tableStyles" Target="/ppt/tableStyles.xml" Id="R4e9272dbcf6a4e1c" /><Relationship Type="http://schemas.openxmlformats.org/officeDocument/2006/relationships/slide" Target="/ppt/slides/slide1.xml" Id="Rf3503889992a4b9c" /><Relationship Type="http://schemas.openxmlformats.org/officeDocument/2006/relationships/slide" Target="/ppt/slides/slide2.xml" Id="R43c41ed661184686" /><Relationship Type="http://schemas.openxmlformats.org/officeDocument/2006/relationships/slide" Target="/ppt/slides/slide3.xml" Id="Re8d4702f14944065" /><Relationship Type="http://schemas.openxmlformats.org/officeDocument/2006/relationships/slide" Target="/ppt/slides/slide4.xml" Id="R7b05bf194e104183" /><Relationship Type="http://schemas.openxmlformats.org/officeDocument/2006/relationships/slide" Target="/ppt/slides/slide5.xml" Id="R663ce48d93a44732" /><Relationship Type="http://schemas.openxmlformats.org/officeDocument/2006/relationships/slide" Target="/ppt/slides/slide6.xml" Id="R88d057f8053f454c" /><Relationship Type="http://schemas.openxmlformats.org/officeDocument/2006/relationships/slide" Target="/ppt/slides/slide7.xml" Id="R4521e99cf563476d" /><Relationship Type="http://schemas.openxmlformats.org/officeDocument/2006/relationships/slide" Target="/ppt/slides/slide8.xml" Id="Ra9e7f40dcc924bb4" /><Relationship Type="http://schemas.openxmlformats.org/officeDocument/2006/relationships/slide" Target="/ppt/slides/slide9.xml" Id="R525dfca9f4bf4a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4ba74eb3c54b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67350742fd43ee" /><Relationship Type="http://schemas.openxmlformats.org/officeDocument/2006/relationships/notesMaster" Target="/ppt/notesMasters/notesMaster1.xml" Id="R7dcb61e5974c4f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107f9e42d0435d" /><Relationship Type="http://schemas.openxmlformats.org/officeDocument/2006/relationships/notesMaster" Target="/ppt/notesMasters/notesMaster1.xml" Id="R4d5d35da016b42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a68ce605e14f19" /><Relationship Type="http://schemas.openxmlformats.org/officeDocument/2006/relationships/notesMaster" Target="/ppt/notesMasters/notesMaster1.xml" Id="R3fbbbf688dec45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272c951290412a" /><Relationship Type="http://schemas.openxmlformats.org/officeDocument/2006/relationships/notesMaster" Target="/ppt/notesMasters/notesMaster1.xml" Id="Rf0f48ffd5b924b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f732ccb4f44c7a" /><Relationship Type="http://schemas.openxmlformats.org/officeDocument/2006/relationships/notesMaster" Target="/ppt/notesMasters/notesMaster1.xml" Id="Rac1b95ceab7e4d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2a7d3b076b4f91" /><Relationship Type="http://schemas.openxmlformats.org/officeDocument/2006/relationships/notesMaster" Target="/ppt/notesMasters/notesMaster1.xml" Id="R07cbad32b79b42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b06ac85bcd4d79" /><Relationship Type="http://schemas.openxmlformats.org/officeDocument/2006/relationships/notesMaster" Target="/ppt/notesMasters/notesMaster1.xml" Id="R8bd92df20a8345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44035c1b60487a" /><Relationship Type="http://schemas.openxmlformats.org/officeDocument/2006/relationships/notesMaster" Target="/ppt/notesMasters/notesMaster1.xml" Id="R25172c49771146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4728193b904857" /><Relationship Type="http://schemas.openxmlformats.org/officeDocument/2006/relationships/notesMaster" Target="/ppt/notesMasters/notesMaster1.xml" Id="R336457097fe14b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各位評審好。本研究面對的是超過四萬五千篇的法律裁判書。每天閱讀 10 篇，讀完這些裁判書會需要超過 12 年。面對這麼大量的文本，我想問的是：即使不逐句理解每一份裁判書的完整意義，只觀察詞彙出現的分布，能不能區分案件最後是敗訴、部分勝訴，還是勝訴？這就是我的論文題目「判決文本會說話嗎？以臺灣智慧財產權判決文本分類為例」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研究講稿：判決文本會說話嗎_崇越決賽_10分鐘講稿.md</a:t>
            </a:r>
          </a:p>
          <a:p xmlns:a="http://schemas.openxmlformats.org/drawingml/2006/main">
            <a:r>
              <a:t>- 原始論文：判決文本會說話嗎？.docx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法院公開大量判決書，但資料主要以文章的方式存在。要進行大規模實證分析，仍需要建立一致、可運算的文本特徵與評估流程。所以這份研究以 </a:t>
            </a:r>
            <a:r>
              <a:t>BoW、TF</a:t>
            </a:r>
            <a:r>
              <a:t> </a:t>
            </a:r>
            <a:r>
              <a:t>與</a:t>
            </a:r>
            <a:r>
              <a:t> TF-IDF 把文字轉換為可比較的特徵，並觀察詞彙分布是否足以區分裁判結果。不同程序的智慧財產權案件，即使都屬於同一領域，文本結構與結果分布也不一定相同。因此，這份研究更想比較不同案件類型</a:t>
            </a:r>
            <a:r>
              <a:t>、不同</a:t>
            </a:r>
            <a:r>
              <a:t>文字特徵</a:t>
            </a:r>
            <a:r>
              <a:t>與不同模型流程</a:t>
            </a:r>
            <a:r>
              <a:t>，會不會得到不同的分類效果。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研究講稿：判決文本會說話嗎_崇越決賽_10分鐘講稿.md</a:t>
            </a:r>
          </a:p>
          <a:p xmlns:a="http://schemas.openxmlformats.org/drawingml/2006/main">
            <a:r>
              <a:t>- </a:t>
            </a:r>
            <a:r>
              <a:t>原始論文：判決文本會說話嗎</a:t>
            </a:r>
            <a:r>
              <a:t>？.docx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本研究蒐集 1996 年至 2024 年的臺灣智慧財產權相關裁判書。原始資料共有 90,027 篇，經過案件篩選後，最後保留 45,344 篇判決。案件分為行政、民事、刑事與刑事附帶民事四種類型；裁判結果整理為敗訴、部分勝訴與勝訴三類。值得注意的是，刑事附帶民事案件有逐年成長的趨勢。這邊的推測是部分權利人會在提告時傾向先提出刑事，增加威嚇力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研究講稿：判決文本會說話嗎_崇越決賽_10分鐘講稿.md</a:t>
            </a:r>
          </a:p>
          <a:p xmlns:a="http://schemas.openxmlformats.org/drawingml/2006/main">
            <a:r>
              <a:t>- 原始論文：判決文本會說話嗎？.docx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研究流程首先進行文本清理與中文斷詞，並將判決結果整理為三類標籤。為了降低模型直接依賴結論用語的可能性，我先把「駁回」、「准許」、「有理由」這些詞彙移除掉。接著，分別使用 BoW、TF 與 TF-IDF，將文字轉換成模型可以處理的數值特徵。在模型流程上，比較兩種方法：第一種是經過卡方特徵選擇後，直接使用 SVM；第二種是在卡方選擇後加入 MNIR 監督式特徵轉換和降維，再使用 SVM。資料分成訓練集、驗證集與測試集。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研究講稿：判決文本會說話嗎_崇越決賽_10分鐘講稿.md</a:t>
            </a:r>
          </a:p>
          <a:p xmlns:a="http://schemas.openxmlformats.org/drawingml/2006/main">
            <a:r>
              <a:t>- 原始論文：判決文本會說話嗎？.docx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第一個發現相當反直覺。在四類案件中，在卡方篩選後，直接使用 SVM 的 Macro F1 都高於有加入 MNIR 的流程。而且四個資料集的 95% paired bootstrap 信賴區間皆未跨越零。這表示，在本研究的資料與設定下，增加 MNIR 特徵轉換，並沒有帶來額外的加分效果。一個可能的解釋是，SVM 的優勢是可以找到一個高維平面做分類，但 MNIR 先把這些特徵壓縮為二維分數，反而讓一些可以提供分類的訊號無法再被利用。這仍然是推論，而不是已經確立的結論。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研究講稿：判決文本會說話嗎_崇越決賽_10分鐘講稿.md</a:t>
            </a:r>
          </a:p>
          <a:p xmlns:a="http://schemas.openxmlformats.org/drawingml/2006/main">
            <a:r>
              <a:t>- 原始論文：判決文本會說話嗎？.docx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第二個發現是最佳</a:t>
            </a:r>
            <a:r>
              <a:t>文字特徵</a:t>
            </a:r>
            <a:r>
              <a:t>依案件而異</a:t>
            </a:r>
            <a:r>
              <a:t>：行政為</a:t>
            </a:r>
            <a:r>
              <a:t> </a:t>
            </a:r>
            <a:r>
              <a:t>BoW、民事為</a:t>
            </a:r>
            <a:r>
              <a:t> </a:t>
            </a:r>
            <a:r>
              <a:t>TF-IDF、刑事為</a:t>
            </a:r>
            <a:r>
              <a:t> </a:t>
            </a:r>
            <a:r>
              <a:t>TF、刑事附帶民事為</a:t>
            </a:r>
            <a:r>
              <a:t> </a:t>
            </a:r>
            <a:r>
              <a:t>BoW。模型效果不只由演算法決定，也受到制度程序與文本生成方式影響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研究講稿：判決文本會說話嗎_崇越決賽_10分鐘講稿.md</a:t>
            </a:r>
          </a:p>
          <a:p xmlns:a="http://schemas.openxmlformats.org/drawingml/2006/main">
            <a:r>
              <a:t>- </a:t>
            </a:r>
            <a:r>
              <a:t>原始論文：判決文本會說話嗎</a:t>
            </a:r>
            <a:r>
              <a:t>？.docx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第三個發現是類別不平衡的問題。以民事案件最佳模型為例，Accuracy 是 0.680，但 Macro F1 只有 0.428。敗訴的 F1 是 0.802，部分勝訴是 0.352，勝訴則只有 0.130。測試集中實際勝訴的 86 件案件裡，只有 7 件被正確辨識為勝訴。這代表模型主要學到的是最常見的結果，也就是敗訴。下一步不該只是換更複雜模型，而要拆解高度異質的 Mixed 標籤、採用類別權重或重抽樣。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研究講稿：判決文本會說話嗎_崇越決賽_10分鐘講稿.md</a:t>
            </a:r>
          </a:p>
          <a:p xmlns:a="http://schemas.openxmlformats.org/drawingml/2006/main">
            <a:r>
              <a:t>- 原始論文：判決文本會說話嗎？.docx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最直接的輸出是敗訴、部分勝訴與勝訴三類標籤。但本研究處理的是已完成判決的文本分類，不是事前預測個案勝敗，當然也拿不到告訴人事前準備的法律材料。標籤可以協助大量判決的初步整理、資料結構化、樣本篩選與案件分布掌握。研究價值不只在產生標籤：建立可重複比較的智慧財產權判決分類流程；發現案件類型適合的文字特徵不同；</a:t>
            </a:r>
            <a:r>
              <a:t>SVM</a:t>
            </a:r>
            <a:r>
              <a:t> </a:t>
            </a:r>
            <a:r>
              <a:t>提供後續模型一個比較基準；並指出模型改善不能只追求</a:t>
            </a:r>
            <a:r>
              <a:t> </a:t>
            </a:r>
            <a:r>
              <a:t>Accuracy，而要同時處理少數類別樣本不足與標籤不平衡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研究講稿：判決文本會說話嗎_崇越決賽_10分鐘講稿.md</a:t>
            </a:r>
          </a:p>
          <a:p xmlns:a="http://schemas.openxmlformats.org/drawingml/2006/main">
            <a:r>
              <a:t>- </a:t>
            </a:r>
            <a:r>
              <a:t>原始論文：判決文本會說話嗎</a:t>
            </a:r>
            <a:r>
              <a:t>？.docx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最後回到題目：判決文本確實會說話，移除明顯結果詞後仍有一定分類訊號。但它是有條件的：案件類型不同、複雜方法不一定較佳，而且</a:t>
            </a:r>
            <a:r>
              <a:t> Accuracy </a:t>
            </a:r>
            <a:r>
              <a:t>可能遮蔽少數類別失敗。這些結果是後續使用深度學習與預訓練模型時的比較基礎</a:t>
            </a:r>
            <a:r>
              <a:t>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研究講稿：判決文本會說話嗎_崇越決賽_10分鐘講稿.md</a:t>
            </a:r>
          </a:p>
          <a:p xmlns:a="http://schemas.openxmlformats.org/drawingml/2006/main">
            <a:r>
              <a:t>- </a:t>
            </a:r>
            <a:r>
              <a:t>原始論文：判決文本會說話嗎</a:t>
            </a:r>
            <a:r>
              <a:t>？.docx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09384917c845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bdb571d4244679" /><Relationship Type="http://schemas.openxmlformats.org/officeDocument/2006/relationships/slideLayout" Target="/ppt/slideLayouts/slideLayout1.xml" Id="Rb15ee68368d04b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ee68368d04b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2e085a2aa4f3d" /><Relationship Type="http://schemas.openxmlformats.org/officeDocument/2006/relationships/notesSlide" Target="/ppt/notesSlides/notesSlide1.xml" Id="Rcb686db26f764a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186d42ee44463" /><Relationship Type="http://schemas.openxmlformats.org/officeDocument/2006/relationships/notesSlide" Target="/ppt/notesSlides/notesSlide2.xml" Id="R64d359fa754a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ce2bf9c974c42" /><Relationship Type="http://schemas.openxmlformats.org/officeDocument/2006/relationships/notesSlide" Target="/ppt/notesSlides/notesSlide3.xml" Id="R6f85a507cb5d41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431d240854fd4" /><Relationship Type="http://schemas.openxmlformats.org/officeDocument/2006/relationships/notesSlide" Target="/ppt/notesSlides/notesSlide4.xml" Id="R426fbceeaae242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e8f846b2d4590" /><Relationship Type="http://schemas.openxmlformats.org/officeDocument/2006/relationships/chart" Target="/ppt/slides/charts/chart1.xml" Id="R5565265ff3ea40ea" /><Relationship Type="http://schemas.openxmlformats.org/officeDocument/2006/relationships/notesSlide" Target="/ppt/notesSlides/notesSlide5.xml" Id="R143cee26e8c145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cd8ee775d4996" /><Relationship Type="http://schemas.openxmlformats.org/officeDocument/2006/relationships/notesSlide" Target="/ppt/notesSlides/notesSlide6.xml" Id="Rdeb74bbebb6c47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1d06ffad0440d" /><Relationship Type="http://schemas.openxmlformats.org/officeDocument/2006/relationships/notesSlide" Target="/ppt/notesSlides/notesSlide7.xml" Id="Rae0186ec61464a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6e0680b3442bc" /><Relationship Type="http://schemas.openxmlformats.org/officeDocument/2006/relationships/notesSlide" Target="/ppt/notesSlides/notesSlide8.xml" Id="Rf5476041edfa4d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62e6e8d3f465d" /><Relationship Type="http://schemas.openxmlformats.org/officeDocument/2006/relationships/notesSlide" Target="/ppt/notesSlides/notesSlide9.xml" Id="R241f8954dad644a3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Direct SVM − MNIR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75" b="1">
                    <a:solidFill>
                      <a:srgbClr val="11182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行政</c:v>
              </c:pt>
              <c:pt idx="1">
                <c:v>民事</c:v>
              </c:pt>
              <c:pt idx="2">
                <c:v>刑事</c:v>
              </c:pt>
              <c:pt idx="3">
                <c:v>刑事附帶民事</c:v>
              </c:pt>
            </c:strLit>
          </c:cat>
          <c:val>
            <c:numLit>
              <c:formatCode>General</c:formatCode>
              <c:ptCount val="4"/>
              <c:pt idx="0">
                <c:v>0.073</c:v>
              </c:pt>
              <c:pt idx="1">
                <c:v>0.075</c:v>
              </c:pt>
              <c:pt idx="2">
                <c:v>0.187</c:v>
              </c:pt>
              <c:pt idx="3">
                <c:v>0.109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6CCD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649DE07-C0CA-425F-B89E-1C4E7238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判決文本</a:t>
            </a:r>
          </a:p>
          <a:p xmlns:a="http://schemas.openxmlformats.org/drawingml/2006/main">
            <a:pPr>
              <a:buNone/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會說話嗎？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8571D6-393B-42C2-BCDF-ED594D9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D6775"/>
                </a:solidFill>
              </a:defRPr>
            </a:pPr>
            <a:r>
              <a:rPr sz="1875" b="0">
                <a:solidFill>
                  <a:srgbClr val="5D6775"/>
                </a:solidFill>
              </a:rPr>
              <a:t>以臺灣智慧財產權判決文本分類為例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2EB1886-A954-4649-A9BD-6043692A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EDA79-A670-48F9-A623-5F69A54E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952500"/>
            <a:ext cx="32194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F62904-9AF1-401B-8DDF-45280835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478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45,344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C3F3225-3F4B-4666-B4C9-9E406B14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D6775"/>
                </a:solidFill>
              </a:defRPr>
            </a:pPr>
            <a:r>
              <a:rPr sz="1425" b="0">
                <a:solidFill>
                  <a:srgbClr val="5D6775"/>
                </a:solidFill>
              </a:rPr>
              <a:t>篇法律裁判書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3AD8C5E-85AC-4882-859A-210A3442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61E5324-A213-4462-BBA4-94AD2AB4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00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每天 10 篇</a:t>
            </a:r>
          </a:p>
          <a:p xmlns:a="http://schemas.openxmlformats.org/drawingml/2006/main">
            <a:pPr>
              <a:buNone/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超過 12 年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5FD2FE8-3C39-4761-95FD-C51FAA7E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14875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6775"/>
                </a:solidFill>
              </a:defRPr>
            </a:pPr>
            <a:r>
              <a:rPr sz="1350" b="0">
                <a:solidFill>
                  <a:srgbClr val="5D6775"/>
                </a:solidFill>
              </a:rPr>
              <a:t>詞彙分布是否留下</a:t>
            </a:r>
          </a:p>
          <a:p xmlns:a="http://schemas.openxmlformats.org/drawingml/2006/main">
            <a:pPr>
              <a:buNone/>
              <a:defRPr sz="1350" b="0">
                <a:solidFill>
                  <a:srgbClr val="5D6775"/>
                </a:solidFill>
              </a:defRPr>
            </a:pPr>
            <a:r>
              <a:rPr sz="1350" b="0">
                <a:solidFill>
                  <a:srgbClr val="5D6775"/>
                </a:solidFill>
              </a:rPr>
              <a:t>可辨識的結果訊號？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ABBF5B4-CEFA-419C-821D-4FC4EF4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D6775"/>
                </a:solidFill>
              </a:defRPr>
            </a:pPr>
            <a:r>
              <a:rPr sz="825" b="1">
                <a:solidFill>
                  <a:srgbClr val="5D677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9811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9427281-3B13-49B9-9621-805129EF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研究問題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B770FE-E6EC-4BDC-A115-41E98484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大量公開的判決，仍難以看見整體規律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7DD7C6-94B4-4539-962F-9B17F545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非結構化文本需要一套一致、可運算、可比較的研究流程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054108-1EE4-4BEB-BEF7-DB3B0A92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C7FA610-62E3-4E70-B8CD-333E6BCB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905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法院公開大量判決書，但它們多半仍是</a:t>
            </a:r>
          </a:p>
          <a:p xmlns:a="http://schemas.openxmlformats.org/drawingml/2006/main">
            <a:pPr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無法直接比較的長篇文字。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70D054-5F68-409F-B39B-FD251C87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6D5D063-5837-4A4F-AA84-1A03AC9F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可比較的特徵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CCE2CF4-F1A2-495A-B165-6CACAFBE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421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以 BoW、TF 與 TF-IDF 把文字轉換成可比較的特徵。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02A91E4-0E1B-4D02-AF0C-3812FB66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6CEA381-1B12-471D-A426-FB856ED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不預設同質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E82D588-D0B1-42AE-9E26-367B4DDE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421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不同程序的案件，可能有不同文本結構與結果分布。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87D565A-CE47-4550-8DC5-A3FF7902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4533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6ECF696-1F55-4A63-9774-7AF38560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3619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我要比較的是</a:t>
            </a:r>
            <a:r>
              <a:rPr sz="2325" b="1">
                <a:solidFill>
                  <a:srgbClr val="111827"/>
                </a:solidFill>
              </a:rPr>
              <a:t>：</a:t>
            </a:r>
          </a:p>
          <a:p xmlns:a="http://schemas.openxmlformats.org/drawingml/2006/main">
            <a:pPr>
              <a:buNone/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不同案件類型、文字特徵與模型流程，會不會帶來不同的分類效果？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E63867E-3BB5-4C72-B81F-45F8FB44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3524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D6775"/>
                </a:solidFill>
              </a:defRPr>
            </a:pPr>
            <a:endParaRPr sz="1575" b="0">
              <a:solidFill>
                <a:srgbClr val="5D6775"/>
              </a:solidFill>
            </a:endParaR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D42A170-70F9-449B-B2D4-1BA3758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3009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24AEE80-F902-40E0-8400-B140A3DB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法律文本模型在哪裡有效？</a:t>
            </a:r>
          </a:p>
          <a:p xmlns:a="http://schemas.openxmlformats.org/drawingml/2006/main"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又在哪裡仍有限制？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6C2BCC1-26BD-4851-88BC-EF66EAEF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D6775"/>
                </a:solidFill>
              </a:defRPr>
            </a:pPr>
            <a:r>
              <a:rPr sz="825" b="1">
                <a:solidFill>
                  <a:srgbClr val="5D677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12251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00757C8-BD4F-4623-8D56-12BBBBEE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研究資料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DB80FF5-019E-45BF-BBC3-7AFC8161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從 90,027 篇原始資料，到 45,344 篇可比較判決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6E28546-B08A-4798-A981-8F04A684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1996–2024 年臺灣智慧財產權相關裁判書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5DFBE26-3B70-45A9-8CA7-06294821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6961C81-B5C9-432E-B56C-CF7E88BB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90,027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19B3CC6-79EE-44DF-A325-79E46BA7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原始裁判書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52AE38F-15BF-4EC2-9CA2-08C6A49C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37146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6775"/>
                </a:solidFill>
              </a:defRPr>
            </a:pPr>
            <a:r>
              <a:rPr sz="1350" b="0">
                <a:solidFill>
                  <a:srgbClr val="5D6775"/>
                </a:solidFill>
              </a:rPr>
              <a:t>經過案件篩選後</a:t>
            </a:r>
            <a:endParaRPr sz="1350" b="0">
              <a:solidFill>
                <a:srgbClr val="5D6775"/>
              </a:solidFill>
            </a:endParaRPr>
          </a:p>
          <a:p xmlns:a="http://schemas.openxmlformats.org/drawingml/2006/main">
            <a:pPr>
              <a:buNone/>
              <a:defRPr sz="1350" b="0">
                <a:solidFill>
                  <a:srgbClr val="5D6775"/>
                </a:solidFill>
              </a:defRPr>
            </a:pPr>
            <a:r>
              <a:rPr sz="1350" b="0">
                <a:solidFill>
                  <a:srgbClr val="5D6775"/>
                </a:solidFill>
              </a:rPr>
              <a:t>保留可比較資料</a:t>
            </a:r>
            <a:endParaRPr sz="1350" b="0">
              <a:solidFill>
                <a:srgbClr val="5D6775"/>
              </a:solidFill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3365098-BBFA-4901-8F03-560BA740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190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222DE40-BE0F-4436-989C-754CFC10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45,344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064D289-E9C3-4383-9F5A-6E4AC2EE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479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最終分析樣本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28FD2B3-8818-4912-B961-18644031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四種案件類型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40C8E5-A807-4BA7-B946-856D85F3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D6775"/>
                </a:solidFill>
              </a:defRPr>
            </a:pPr>
            <a:r>
              <a:rPr sz="1650" b="0">
                <a:solidFill>
                  <a:srgbClr val="5D6775"/>
                </a:solidFill>
              </a:rPr>
              <a:t>行政　民事　刑事　刑事附帶民事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B9AAB1C-5095-4824-A5F8-BDC1509F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三類裁判結果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6878632-537D-4391-A0B7-6C5F001E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D6775"/>
                </a:solidFill>
              </a:defRPr>
            </a:pPr>
            <a:r>
              <a:rPr sz="1575" b="0">
                <a:solidFill>
                  <a:srgbClr val="5D6775"/>
                </a:solidFill>
              </a:rPr>
              <a:t>敗訴　部分勝訴　勝訴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5B21EF5-3BCD-496E-8939-E2C72B0A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0099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8314782-213C-4C1A-98D7-29CAAF6A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觀察到的趨勢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179F9E5-F67B-464F-AE27-BFC249E7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76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刑事附帶民事案件</a:t>
            </a:r>
          </a:p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在後期明顯增加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2277991-2EFF-4FA1-BF66-D3A6BC6C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102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D6775"/>
                </a:solidFill>
              </a:defRPr>
            </a:pPr>
            <a:r>
              <a:rPr sz="975" b="0">
                <a:solidFill>
                  <a:srgbClr val="5D6775"/>
                </a:solidFill>
              </a:rPr>
              <a:t>可能與提告的威嚇策略有關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0DAE7B2-07BA-4007-9ED4-D56FBC45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D6775"/>
                </a:solidFill>
              </a:defRPr>
            </a:pPr>
            <a:r>
              <a:rPr sz="825" b="1">
                <a:solidFill>
                  <a:srgbClr val="5D6775"/>
                </a:solidFill>
              </a:rPr>
              <a:t>03</a:t>
            </a:r>
          </a:p>
        </p:txBody>
      </p:sp>
      <p:sp>
        <p:nvSpPr>
          <p:cNvPr id="21" name="Right Arrow 20">
            <a:extLst xmlns:a="http://schemas.openxmlformats.org/drawingml/2006/main">
              <a:ext uri="{FF2B5EF4-FFF2-40B4-BE49-F238E27FC236}">
                <a16:creationId xmlns:a16="http://schemas.microsoft.com/office/drawing/2014/main" id="{18305F41-8AF5-D760-9610-589B73A5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237" y="2400300"/>
            <a:ext cx="2339163" cy="447675"/>
          </a:xfrm>
          <a:prstGeom xmlns:a="http://schemas.openxmlformats.org/drawingml/2006/main" prst="rightArrow">
            <a:avLst>
              <a:gd name="adj1" fmla="val 50000"/>
              <a:gd name="adj2" fmla="val 171128"/>
            </a:avLst>
          </a:prstGeom>
          <a:solidFill xmlns:a="http://schemas.openxmlformats.org/drawingml/2006/main">
            <a:schemeClr val="tx1">
              <a:lumMod val="65000"/>
              <a:lumOff val="3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035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6BC15B7-0416-46DB-85E7-2FD17C4B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研究設計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8F13F2F-6FA4-4B2B-8D7F-CD8716E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兩條流程，共用前處理，在同一測試集上比較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B2FA78-B1C2-4D5A-8ACA-C1FC2C66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避免模型只靠「駁回、准許、有理由」等結論用語作答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3B0A641-3BC0-4760-98B3-27F9D513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6F529E-7B16-4516-943C-A1A5B5FA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0D1467-26D0-4750-8A69-BA916456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文本清理</a:t>
            </a:r>
          </a:p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中文斷詞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8A77903-82C5-475C-B12F-8677C0E8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83A192-4F59-4C76-9FCF-0DFFAA22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90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D34F792-9290-45FA-86DF-EECB16EA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98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BoW ／ TF ／ TF-IDF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5EAFC2F-3C89-4AB1-B634-246C7F82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4F0EF49-DEF5-49CE-AD02-D8ACEEA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1828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D6CA64C-6049-47AC-B81D-D0B2616C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098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卡方特徵選擇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8C0193D-558B-4BD5-AE1E-2AE0F37D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81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分成兩條流程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F8AF307-327C-4DF5-8662-DD8C7568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D354C7F-CA94-4187-94C1-4805BDB0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流程</a:t>
            </a:r>
            <a:r>
              <a:rPr sz="1650" b="1">
                <a:solidFill>
                  <a:srgbClr val="111827"/>
                </a:solidFill>
              </a:rPr>
              <a:t> A｜SVM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88E6B17-2203-407D-A646-B8BEDDA6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29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選詞後直接分類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5C15F2-B03E-44BD-8D6C-DD48B9DA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196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F669446-C916-4326-90A3-E3EC2A0F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91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流程 B｜MNIR + SVM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A3F981E-F289-4FBF-836A-0ABB6ABB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53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MNIR 轉換後再分類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60F33AF-1F57-4BA7-BC29-F7471CBD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6AFEAF0-B163-4F6F-8ECD-0BE71C6A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86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47A73"/>
                </a:solidFill>
              </a:defRPr>
            </a:pPr>
            <a:r>
              <a:rPr sz="2025" b="1">
                <a:solidFill>
                  <a:srgbClr val="147A73"/>
                </a:solidFill>
              </a:rPr>
              <a:t>→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58D9073-2E40-435E-825D-581FCB10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3812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399A9D61-6607-4E9C-B320-77229A12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81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同一資料切分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DECDE84-937A-44A2-AB03-680F8562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243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訓練集 → 驗證集</a:t>
            </a:r>
          </a:p>
          <a:p xmlns:a="http://schemas.openxmlformats.org/drawingml/2006/main">
            <a:pPr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→ 同一測試集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AEFAC6-8DE3-493F-8A51-21CA8155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720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6547CBA-F022-4705-8F20-FF6F0A07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81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paired bootstrap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B7F238C-556E-47A2-8DF7-FE1C221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48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D6775"/>
                </a:solidFill>
              </a:defRPr>
            </a:pPr>
            <a:r>
              <a:rPr sz="1050" b="0">
                <a:solidFill>
                  <a:srgbClr val="5D6775"/>
                </a:solidFill>
              </a:rPr>
              <a:t>以相同樣本索引配對比較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C600352-8310-4F6D-A2D5-65EE95E3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EB59A77-2E33-4AC0-92A5-F7EA8781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主要指標：Macro F1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ADFF225-8211-47CF-B1C5-9ACC51AB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05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6775"/>
                </a:solidFill>
              </a:defRPr>
            </a:pPr>
            <a:r>
              <a:rPr sz="1350" b="0">
                <a:solidFill>
                  <a:srgbClr val="5D6775"/>
                </a:solidFill>
              </a:rPr>
              <a:t>輔助解讀：Accuracy、類別 F1、多數類別基準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6712F9C-DE68-4794-B63B-E83D40E3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90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三類結果樣本並不平均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9724653-1F52-495D-B015-C3366BA6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D6775"/>
                </a:solidFill>
              </a:defRPr>
            </a:pPr>
            <a:r>
              <a:rPr sz="825" b="1">
                <a:solidFill>
                  <a:srgbClr val="5D677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52362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527DADE-599A-413D-925B-7C0C2DD9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發現一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2944A93-2D04-4D5E-B548-D3103981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SVM</a:t>
            </a:r>
            <a:r>
              <a:rPr sz="2850" b="1">
                <a:solidFill>
                  <a:srgbClr val="111827"/>
                </a:solidFill>
              </a:rPr>
              <a:t> </a:t>
            </a:r>
            <a:r>
              <a:rPr sz="2850" b="1">
                <a:solidFill>
                  <a:srgbClr val="111827"/>
                </a:solidFill>
              </a:rPr>
              <a:t>在四類案件中都較佳</a:t>
            </a:r>
            <a:endParaRPr sz="2850" b="1">
              <a:solidFill>
                <a:srgbClr val="111827"/>
              </a:solidFill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98A6CA0-AF4B-4460-A6D1-5ABD8BC3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[SVM </a:t>
            </a:r>
            <a:r>
              <a:rPr sz="1275" b="0">
                <a:solidFill>
                  <a:srgbClr val="5D6775"/>
                </a:solidFill>
              </a:rPr>
              <a:t>流程的</a:t>
            </a:r>
            <a:r>
              <a:rPr sz="1275" b="0">
                <a:solidFill>
                  <a:srgbClr val="5D6775"/>
                </a:solidFill>
              </a:rPr>
              <a:t> Macro F1] – [MNIR + SVM</a:t>
            </a:r>
            <a:r>
              <a:rPr sz="1275" b="0">
                <a:solidFill>
                  <a:srgbClr val="5D6775"/>
                </a:solidFill>
              </a:rPr>
              <a:t> 流程的 </a:t>
            </a:r>
            <a:r>
              <a:rPr sz="1275" b="0">
                <a:solidFill>
                  <a:srgbClr val="5D6775"/>
                </a:solidFill>
              </a:rPr>
              <a:t>Macro F1</a:t>
            </a:r>
            <a:r>
              <a:rPr sz="1275" b="0">
                <a:solidFill>
                  <a:srgbClr val="5D6775"/>
                </a:solidFill>
              </a:rPr>
              <a:t>]</a:t>
            </a:r>
            <a:endParaRPr sz="1275" b="0">
              <a:solidFill>
                <a:srgbClr val="5D6775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84A7E4C-E7AB-4778-933C-2B7D949F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38200" y="2362200"/>
          <a:ext xmlns:a="http://schemas.openxmlformats.org/drawingml/2006/main" cx="5905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65265ff3ea40ea"/>
          </a:graphicData>
        </a:graphic>
      </p:graphicFrame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35F737-FAD4-446C-B074-77821497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3333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964967-6912-45A7-8184-CB05ACCB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方向一致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7DFC6CE-A8B2-4262-8475-D5CC743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43250"/>
            <a:ext cx="247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四個資料集的</a:t>
            </a:r>
          </a:p>
          <a:p xmlns:a="http://schemas.openxmlformats.org/drawingml/2006/main">
            <a:pPr>
              <a:buNone/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95% paired bootstrap</a:t>
            </a:r>
          </a:p>
          <a:p xmlns:a="http://schemas.openxmlformats.org/drawingml/2006/main">
            <a:pPr>
              <a:buNone/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信賴區間皆未跨零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0D2EE8A-FAB3-46FC-9497-EBAB0446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57FB16-80E1-47FB-9444-6039CA41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複雜度不等於效果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B1A3B7B-EE89-4E5C-B672-FFDCD91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720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MNIR 的特徵摘要</a:t>
            </a:r>
            <a:r>
              <a:rPr sz="1200" b="0">
                <a:solidFill>
                  <a:srgbClr val="5D6775"/>
                </a:solidFill>
              </a:rPr>
              <a:t>可能讓部分</a:t>
            </a:r>
          </a:p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高維可分訊號無法被利用。</a:t>
            </a:r>
          </a:p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這是合理推論，非機制驗證。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4E2E816-A6AE-4AC3-A1BC-8D8E533E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D6775"/>
                </a:solidFill>
              </a:defRPr>
            </a:pPr>
            <a:r>
              <a:rPr sz="825" b="1">
                <a:solidFill>
                  <a:srgbClr val="5D677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83329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2034D91-79A1-42A0-AFF4-CC812F12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發現二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695010-B125-44EE-B86C-BEEDACE0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不同案件，說著不同的文字語言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7CB8892-F607-4F2F-B028-B6913F58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不存在一種</a:t>
            </a:r>
            <a:r>
              <a:rPr sz="1275" b="0">
                <a:solidFill>
                  <a:srgbClr val="5D6775"/>
                </a:solidFill>
              </a:rPr>
              <a:t>文字特徵</a:t>
            </a:r>
            <a:r>
              <a:rPr sz="1275" b="0">
                <a:solidFill>
                  <a:srgbClr val="5D6775"/>
                </a:solidFill>
              </a:rPr>
              <a:t>可以在所有案件中勝出</a:t>
            </a:r>
            <a:endParaRPr sz="1275" b="0">
              <a:solidFill>
                <a:srgbClr val="5D6775"/>
              </a:solidFill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B069C3B-659F-40B2-A801-62BE685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14B1A3F-2E7A-43C3-8B2C-537E933A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D6775"/>
                </a:solidFill>
              </a:defRPr>
            </a:pPr>
            <a:r>
              <a:rPr sz="1275" b="1">
                <a:solidFill>
                  <a:srgbClr val="5D6775"/>
                </a:solidFill>
              </a:rPr>
              <a:t>案件類型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DCB370-3C16-413C-96A3-CFEA813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43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D6775"/>
                </a:solidFill>
              </a:defRPr>
            </a:pPr>
            <a:r>
              <a:rPr sz="1275" b="1">
                <a:solidFill>
                  <a:srgbClr val="5D6775"/>
                </a:solidFill>
              </a:rPr>
              <a:t>最佳</a:t>
            </a:r>
            <a:r>
              <a:rPr sz="1275" b="1">
                <a:solidFill>
                  <a:srgbClr val="5D6775"/>
                </a:solidFill>
              </a:rPr>
              <a:t>文字特徵</a:t>
            </a:r>
            <a:endParaRPr sz="1275" b="1">
              <a:solidFill>
                <a:srgbClr val="5D6775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E1004CB-A8F9-44C7-A8A4-0931B0AE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4A6252-915B-43A4-952E-1558513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行政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7E3A05-3602-4D49-97DE-B8AD7312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76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BoW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EFFE606-D714-45B5-984C-543DA7CF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76BCF6D-B09E-4734-AF61-D162287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民事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1EC7303-36FC-4F06-AC9E-E5B4997B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TF-IDF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0B2C011-ABD0-4A82-9B53-C12BB4C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22B1E9E-ABA8-49BA-9DD7-4F814E66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刑事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5303C8C-7141-4EBD-BC39-A7A2F99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95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TF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21A3B88-6F43-4381-BB2E-5D09A4F8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DE22F43-7696-4E68-A0C9-7C21381A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刑事附帶民事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F2FD081-FB9A-4B25-BB2A-A2F925E5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0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BoW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BCD07CD-094C-4B92-9AE6-37256805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43C5587-892B-4854-BD96-AB031E63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1638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72B07F5-D529-457F-9383-B4542585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52725"/>
            <a:ext cx="1695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法律問題本來就不同</a:t>
            </a:r>
            <a:endParaRPr sz="2250" b="1">
              <a:solidFill>
                <a:srgbClr val="111827"/>
              </a:solidFill>
            </a:endParaRP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10F8F95-B782-47A5-9846-7B4DCD75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794" y="4395787"/>
            <a:ext cx="150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行政：處分合法性</a:t>
            </a:r>
            <a:endParaRPr sz="1200" b="0">
              <a:solidFill>
                <a:srgbClr val="5D6775"/>
              </a:solidFill>
            </a:endParaRPr>
          </a:p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民事：侵權、賠償、攻防</a:t>
            </a:r>
            <a:endParaRPr sz="1200" b="0">
              <a:solidFill>
                <a:srgbClr val="5D6775"/>
              </a:solidFill>
            </a:endParaR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5840F4E-0488-4B5A-9308-A7644BD2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D6775"/>
                </a:solidFill>
              </a:defRPr>
            </a:pPr>
            <a:r>
              <a:rPr sz="1425" b="0">
                <a:solidFill>
                  <a:srgbClr val="5D6775"/>
                </a:solidFill>
              </a:rPr>
              <a:t>法律程序、請求內容、敘事方式與裁判結構不同，保留下來的分類訊號也會不同。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F0F0496-AF85-42EF-8913-27B24BD8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D6775"/>
                </a:solidFill>
              </a:defRPr>
            </a:pPr>
            <a:r>
              <a:rPr sz="825" b="1">
                <a:solidFill>
                  <a:srgbClr val="5D677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98983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4180D20-DEE4-499E-BEF2-3C52C15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發現三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7586429-F815-41B1-B0F2-7E254D90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高準確率，可能掩蓋少數類別的失敗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243B2C-B05A-416D-B6A1-1C871B29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以民事案件最佳模型為例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C075D7A-3208-4CFB-ABCF-D141FB55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4B3D22-650B-41AB-B792-1E34852D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1827"/>
                </a:solidFill>
              </a:defRPr>
            </a:pPr>
            <a:r>
              <a:rPr sz="3300" b="1">
                <a:solidFill>
                  <a:srgbClr val="111827"/>
                </a:solidFill>
              </a:rPr>
              <a:t>0.680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DC0F712-0C40-438A-AD0F-8F345010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Accuracy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0FEC199-319D-42E2-B7BB-7DCD1789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3D8DFF"/>
                </a:solidFill>
              </a:defRPr>
            </a:pPr>
            <a:r>
              <a:rPr sz="3300" b="1">
                <a:solidFill>
                  <a:srgbClr val="3D8DFF"/>
                </a:solidFill>
              </a:rPr>
              <a:t>0.428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5A0F9F1-5FE6-4C95-8C3C-247F229E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479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D6775"/>
                </a:solidFill>
              </a:defRPr>
            </a:pPr>
            <a:r>
              <a:rPr sz="1200" b="0">
                <a:solidFill>
                  <a:srgbClr val="5D6775"/>
                </a:solidFill>
              </a:rPr>
              <a:t>Macro F1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9D0AA7C-72E8-4D22-89FA-25F6984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5AEB19-F151-4F1C-A46C-A3232E53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5D6775"/>
                </a:solidFill>
              </a:defRPr>
            </a:pPr>
            <a:r>
              <a:rPr sz="1350" b="1">
                <a:solidFill>
                  <a:srgbClr val="5D6775"/>
                </a:solidFill>
              </a:rPr>
              <a:t>各類別 F1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9F520-5A8D-499C-9CB8-04961A93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Lose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7C7CA4-1ECB-41B4-8F2A-0E26E4A5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229171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1B495BD-EEFB-46E8-AB54-C8510BCE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0.802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590E5C9-6345-49DD-96B6-57C8355B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Mixed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F06B92C-2EEE-40F8-9A37-38959C9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72000"/>
            <a:ext cx="100584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9FCA5B5-CDCC-492B-8510-75027E1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0.352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E6AD7E4-EDB6-497B-A775-F3B93C22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Win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1094511-4FD2-4700-A45B-31ABFC14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3714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8828CC-DF7D-4C30-8A31-BD82BF18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292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0.130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05EDEC7-11D7-467D-AFB6-A32D812D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43434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0B72781-8721-432C-942E-FF3F0766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C2410C"/>
                </a:solidFill>
              </a:defRPr>
            </a:pPr>
            <a:r>
              <a:rPr sz="3225" b="1">
                <a:solidFill>
                  <a:srgbClr val="C2410C"/>
                </a:solidFill>
              </a:rPr>
              <a:t>86 件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A1F73BA-8216-4FF5-885F-ED7B9BF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6775"/>
                </a:solidFill>
              </a:defRPr>
            </a:pPr>
            <a:r>
              <a:rPr sz="1350" b="0">
                <a:solidFill>
                  <a:srgbClr val="5D6775"/>
                </a:solidFill>
              </a:rPr>
              <a:t>測試集中實際勝訴案件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9583148-EBD0-43C6-B88E-AE2095D6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195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6F9E3DA-C26A-4896-A7FF-2FF452C7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243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只有 7 件被正確辨識為勝訴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33C3C54-45E0-4615-97EB-18B6B77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00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Win recall = 0.081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8FF115E-DB95-45FD-BDCF-D18A132E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模型主要學到的是最常見的敗訴結果。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B07E7CF-75DF-4F1B-8CB1-74B2780E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下一步：拆解高度異質的 Mixed 標籤，並採用類別權重或重抽樣。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6860292-EC6E-48DB-A917-D002C71F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D6775"/>
                </a:solidFill>
              </a:defRPr>
            </a:pPr>
            <a:r>
              <a:rPr sz="825" b="1">
                <a:solidFill>
                  <a:srgbClr val="5D677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3740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FAFE860-C434-4975-B110-D5CA095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研究價值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BF5726-C92C-4B88-9C66-679272D2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模型輸出是分類，研究貢獻不只是一組標籤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1E72E4-C411-461F-9AED-DF83530F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這是已完成判決的文本分類，不是事前預測個案勝敗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1EFA69C-0B92-4D45-B979-C6B0ED1B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DA6ADCD-427F-456E-A9FD-438EF6B4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可用於：初步整理｜資料結構化｜樣本篩選｜案件分布掌握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DA15961-C79D-4E7D-946C-0F7450FD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190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EF63ED9-7691-45A1-9E58-10380B24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15FFBC5-6693-49B5-B05B-A537CEBD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可重複流程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C8E9DCE-CF08-4D8B-8D56-B99A251F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建立智慧財產權判決</a:t>
            </a:r>
          </a:p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分類流程。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BBAA899-3C95-4081-BD7F-C5F22B5E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190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F52A72F-149A-465A-AA87-12236320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9902A2C-E758-4244-BBE7-3E6662BC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案件異質性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A2D4A34-6B01-404C-A408-641C0FF0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四種案件適合的文字</a:t>
            </a:r>
          </a:p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特徵並不相同。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BF09369-5D93-42F8-8921-324406B8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2190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79DF11F-96C0-4C40-A50A-2933A59A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86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E09000C-6F41-474B-B086-C8FF29F8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強基準比較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13DD585-7E2C-47A5-A946-C4AA9B5B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SVM</a:t>
            </a:r>
            <a:r>
              <a:rPr sz="1275" b="0">
                <a:solidFill>
                  <a:srgbClr val="5D6775"/>
                </a:solidFill>
              </a:rPr>
              <a:t> </a:t>
            </a:r>
            <a:r>
              <a:rPr sz="1275" b="0">
                <a:solidFill>
                  <a:srgbClr val="5D6775"/>
                </a:solidFill>
              </a:rPr>
              <a:t>在四類案件</a:t>
            </a:r>
            <a:endParaRPr sz="1275" b="0">
              <a:solidFill>
                <a:srgbClr val="5D6775"/>
              </a:solidFill>
            </a:endParaRPr>
          </a:p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皆高於</a:t>
            </a:r>
            <a:r>
              <a:rPr sz="1275" b="0">
                <a:solidFill>
                  <a:srgbClr val="5D6775"/>
                </a:solidFill>
              </a:rPr>
              <a:t> MNIR </a:t>
            </a:r>
            <a:r>
              <a:rPr sz="1275" b="0">
                <a:solidFill>
                  <a:srgbClr val="5D6775"/>
                </a:solidFill>
              </a:rPr>
              <a:t>流程</a:t>
            </a:r>
            <a:r>
              <a:rPr sz="1275" b="0">
                <a:solidFill>
                  <a:srgbClr val="5D6775"/>
                </a:solidFill>
              </a:rPr>
              <a:t>。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AF3F0AA-0988-4E5C-A0F7-5624966E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57500"/>
            <a:ext cx="2190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2BCC21F-68D4-465D-A763-D7813BC6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861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008FA73-A918-4A11-8474-450FCEDB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評估的盲點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1609FE5-5574-4456-A0C3-A648BC6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0050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不只追求 Accuracy；</a:t>
            </a:r>
          </a:p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還要處理少數類別</a:t>
            </a:r>
          </a:p>
          <a:p xmlns:a="http://schemas.openxmlformats.org/drawingml/2006/main">
            <a:pPr>
              <a:buNone/>
              <a:defRPr sz="1275" b="0">
                <a:solidFill>
                  <a:srgbClr val="5D6775"/>
                </a:solidFill>
              </a:defRPr>
            </a:pPr>
            <a:r>
              <a:rPr sz="1275" b="0">
                <a:solidFill>
                  <a:srgbClr val="5D6775"/>
                </a:solidFill>
              </a:rPr>
              <a:t>樣本不足與標籤不平衡。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FE870DB-DD6D-4432-8818-49A9F574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研究提供後續法律文本研究在資料處理、模型比較與評估方式上的實證基礎。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68DCC4-4078-45F9-93D2-0CC9DDD4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D6775"/>
                </a:solidFill>
              </a:defRPr>
            </a:pPr>
            <a:r>
              <a:rPr sz="825" b="1">
                <a:solidFill>
                  <a:srgbClr val="5D677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9391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ABA113D-DB05-4FBD-9F68-BEBD3BD0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結論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FE4BD30-3560-4344-82E9-C441E4D5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810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11827"/>
                </a:solidFill>
              </a:defRPr>
            </a:pPr>
            <a:r>
              <a:rPr sz="4350" b="1">
                <a:solidFill>
                  <a:srgbClr val="111827"/>
                </a:solidFill>
              </a:rPr>
              <a:t>判決文本確實會說話</a:t>
            </a:r>
            <a:endParaRPr sz="4350" b="1">
              <a:solidFill>
                <a:srgbClr val="111827"/>
              </a:solidFill>
            </a:endParaR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B76B5E5-6132-4436-889F-54B2CDE9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但它說的是有條件的訊號。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292B825-21B7-4864-93C0-14E59F7B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E440962-2DE5-4A8E-93D7-3CD7A541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案件異質性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96D39F-8B36-4F03-BC83-F5F8F30B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D6775"/>
                </a:solidFill>
              </a:defRPr>
            </a:pPr>
            <a:r>
              <a:rPr sz="1425" b="0">
                <a:solidFill>
                  <a:srgbClr val="5D6775"/>
                </a:solidFill>
              </a:rPr>
              <a:t>不同案件需要不同</a:t>
            </a:r>
            <a:r>
              <a:rPr sz="1425" b="0">
                <a:solidFill>
                  <a:srgbClr val="5D6775"/>
                </a:solidFill>
              </a:rPr>
              <a:t>文字特徵</a:t>
            </a:r>
            <a:endParaRPr sz="1425" b="0">
              <a:solidFill>
                <a:srgbClr val="5D6775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85DC3E-192E-4CEC-ACA3-765219FD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強基準必要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5ACF4DA-EEBD-4CF8-9746-985448CB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910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D6775"/>
                </a:solidFill>
              </a:defRPr>
            </a:pPr>
            <a:r>
              <a:rPr sz="1425" b="0">
                <a:solidFill>
                  <a:srgbClr val="5D6775"/>
                </a:solidFill>
              </a:rPr>
              <a:t>更複雜的流程不一定較佳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78DDD1C-2909-4C15-94F8-6551404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99" y="5200650"/>
            <a:ext cx="192980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少數類別不能被忽略</a:t>
            </a:r>
            <a:endParaRPr sz="1500" b="1">
              <a:solidFill>
                <a:srgbClr val="111827"/>
              </a:solidFill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018CB1C-BA86-4CEC-BE6B-E3348287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006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D6775"/>
                </a:solidFill>
              </a:defRPr>
            </a:pPr>
            <a:r>
              <a:rPr sz="1425" b="0">
                <a:solidFill>
                  <a:srgbClr val="5D6775"/>
                </a:solidFill>
              </a:rPr>
              <a:t>整體準確率可能遮蔽失敗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A6A70A7-107F-4D6F-87C3-A4CB6E97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81100"/>
            <a:ext cx="32956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118B03-007E-47F6-8672-52B81A54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43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研究回答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94218EF-2B1F-4D89-B62F-B5D5EEA9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38350"/>
            <a:ext cx="2718392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詞彙分布仍可留下可辨識的結果訊號</a:t>
            </a:r>
            <a:endParaRPr sz="2700" b="1">
              <a:solidFill>
                <a:srgbClr val="111827"/>
              </a:solidFill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B66E57C-A6C5-4408-9415-145ACD0B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05250"/>
            <a:ext cx="219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CD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C561B4D-9E55-42CA-B636-03A92141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49" y="4210050"/>
            <a:ext cx="2718391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D6775"/>
                </a:solidFill>
              </a:defRPr>
            </a:pPr>
            <a:r>
              <a:rPr sz="1350" b="0">
                <a:solidFill>
                  <a:srgbClr val="5D6775"/>
                </a:solidFill>
              </a:rPr>
              <a:t>後續導入深度學習或預訓練語言模型時，可作為比較基礎</a:t>
            </a:r>
            <a:r>
              <a:rPr sz="1350" b="0">
                <a:solidFill>
                  <a:srgbClr val="5D6775"/>
                </a:solidFill>
              </a:rPr>
              <a:t>。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2B2F01A-C393-4852-84A6-5679FB30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謝謝各位評審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5C59BEA-C68F-4AFB-9653-2166AF7C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5D6775"/>
                </a:solidFill>
              </a:defRPr>
            </a:pPr>
            <a:r>
              <a:rPr sz="825" b="1">
                <a:solidFill>
                  <a:srgbClr val="5D677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2721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2026-08-22T01:21:05.9970000Z</dcterms:created>
  <dcterms:modified xsi:type="dcterms:W3CDTF">2026-08-22T01:21:05.9970000Z</dcterms:modified>
</coreProperties>
</file>