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a63f984894c1b" /><Relationship Type="http://schemas.openxmlformats.org/officeDocument/2006/relationships/extended-properties" Target="/docProps/app.xml" Id="Rd6e5a2569e3246fb" /><Relationship Type="http://schemas.openxmlformats.org/officeDocument/2006/relationships/officeDocument" Target="/ppt/presentation.xml" Id="R5af2ecbfa99c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11e08870a94eb2"/>
  </p:sldMasterIdLst>
  <p:notesMasterIdLst>
    <p:notesMasterId xmlns:r="http://schemas.openxmlformats.org/officeDocument/2006/relationships" r:id="R91ccc7f46181424f"/>
  </p:notesMasterIdLst>
  <p:sldIdLst>
    <p:sldId xmlns:r="http://schemas.openxmlformats.org/officeDocument/2006/relationships" id="256" r:id="Rb211b9b8b64a4b6c"/>
    <p:sldId xmlns:r="http://schemas.openxmlformats.org/officeDocument/2006/relationships" id="257" r:id="Ra360401f32624fff"/>
    <p:sldId xmlns:r="http://schemas.openxmlformats.org/officeDocument/2006/relationships" id="258" r:id="R8327bcf0a8674a72"/>
    <p:sldId xmlns:r="http://schemas.openxmlformats.org/officeDocument/2006/relationships" id="259" r:id="R1e0a000f23684886"/>
    <p:sldId xmlns:r="http://schemas.openxmlformats.org/officeDocument/2006/relationships" id="260" r:id="Rdf1f50da27464fa2"/>
    <p:sldId xmlns:r="http://schemas.openxmlformats.org/officeDocument/2006/relationships" id="261" r:id="Rf7b5b2b8fe3c454d"/>
    <p:sldId xmlns:r="http://schemas.openxmlformats.org/officeDocument/2006/relationships" id="262" r:id="R2127b654c3d746cd"/>
    <p:sldId xmlns:r="http://schemas.openxmlformats.org/officeDocument/2006/relationships" id="263" r:id="Rd0aec023bb204654"/>
    <p:sldId xmlns:r="http://schemas.openxmlformats.org/officeDocument/2006/relationships" id="264" r:id="Rf6f2ba13e5f149e2"/>
    <p:sldId xmlns:r="http://schemas.openxmlformats.org/officeDocument/2006/relationships" id="265" r:id="R4f99ccc0c9b24e21"/>
    <p:sldId xmlns:r="http://schemas.openxmlformats.org/officeDocument/2006/relationships" id="266" r:id="R064093a8622f40bc"/>
    <p:sldId xmlns:r="http://schemas.openxmlformats.org/officeDocument/2006/relationships" id="267" r:id="Rfea3312d09ad4e70"/>
    <p:sldId xmlns:r="http://schemas.openxmlformats.org/officeDocument/2006/relationships" id="268" r:id="R43048fa09e284715"/>
    <p:sldId xmlns:r="http://schemas.openxmlformats.org/officeDocument/2006/relationships" id="269" r:id="Rb07a35abe97f4e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90b9f9f527498d" /><Relationship Type="http://schemas.openxmlformats.org/officeDocument/2006/relationships/slideMaster" Target="/ppt/slideMasters/slideMaster1.xml" Id="R2f11e08870a94eb2" /><Relationship Type="http://schemas.openxmlformats.org/officeDocument/2006/relationships/notesMaster" Target="/ppt/notesMasters/notesMaster1.xml" Id="R91ccc7f46181424f" /><Relationship Type="http://schemas.openxmlformats.org/officeDocument/2006/relationships/presProps" Target="/ppt/presProps.xml" Id="R7165c22eb4f94c6d" /><Relationship Type="http://schemas.openxmlformats.org/officeDocument/2006/relationships/tableStyles" Target="/ppt/tableStyles.xml" Id="R5a989f68c6a14e47" /><Relationship Type="http://schemas.openxmlformats.org/officeDocument/2006/relationships/slide" Target="/ppt/slides/slide1.xml" Id="Rb211b9b8b64a4b6c" /><Relationship Type="http://schemas.openxmlformats.org/officeDocument/2006/relationships/slide" Target="/ppt/slides/slide2.xml" Id="Ra360401f32624fff" /><Relationship Type="http://schemas.openxmlformats.org/officeDocument/2006/relationships/slide" Target="/ppt/slides/slide3.xml" Id="R8327bcf0a8674a72" /><Relationship Type="http://schemas.openxmlformats.org/officeDocument/2006/relationships/slide" Target="/ppt/slides/slide4.xml" Id="R1e0a000f23684886" /><Relationship Type="http://schemas.openxmlformats.org/officeDocument/2006/relationships/slide" Target="/ppt/slides/slide5.xml" Id="Rdf1f50da27464fa2" /><Relationship Type="http://schemas.openxmlformats.org/officeDocument/2006/relationships/slide" Target="/ppt/slides/slide6.xml" Id="Rf7b5b2b8fe3c454d" /><Relationship Type="http://schemas.openxmlformats.org/officeDocument/2006/relationships/slide" Target="/ppt/slides/slide7.xml" Id="R2127b654c3d746cd" /><Relationship Type="http://schemas.openxmlformats.org/officeDocument/2006/relationships/slide" Target="/ppt/slides/slide8.xml" Id="Rd0aec023bb204654" /><Relationship Type="http://schemas.openxmlformats.org/officeDocument/2006/relationships/slide" Target="/ppt/slides/slide9.xml" Id="Rf6f2ba13e5f149e2" /><Relationship Type="http://schemas.openxmlformats.org/officeDocument/2006/relationships/slide" Target="/ppt/slides/slide10.xml" Id="R4f99ccc0c9b24e21" /><Relationship Type="http://schemas.openxmlformats.org/officeDocument/2006/relationships/slide" Target="/ppt/slides/slide11.xml" Id="R064093a8622f40bc" /><Relationship Type="http://schemas.openxmlformats.org/officeDocument/2006/relationships/slide" Target="/ppt/slides/slide12.xml" Id="Rfea3312d09ad4e70" /><Relationship Type="http://schemas.openxmlformats.org/officeDocument/2006/relationships/slide" Target="/ppt/slides/slide13.xml" Id="R43048fa09e284715" /><Relationship Type="http://schemas.openxmlformats.org/officeDocument/2006/relationships/slide" Target="/ppt/slides/slide14.xml" Id="Rb07a35abe97f4e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44075d627a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8a0bd497d4dff" /><Relationship Type="http://schemas.openxmlformats.org/officeDocument/2006/relationships/notesMaster" Target="/ppt/notesMasters/notesMaster1.xml" Id="Rbfcc855ac76d40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d4f73ddec147cb" /><Relationship Type="http://schemas.openxmlformats.org/officeDocument/2006/relationships/notesMaster" Target="/ppt/notesMasters/notesMaster1.xml" Id="R90a3f3fffea942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1c1e22b574b49" /><Relationship Type="http://schemas.openxmlformats.org/officeDocument/2006/relationships/notesMaster" Target="/ppt/notesMasters/notesMaster1.xml" Id="R1468dcbc9faf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a9adfa03b04cd5" /><Relationship Type="http://schemas.openxmlformats.org/officeDocument/2006/relationships/notesMaster" Target="/ppt/notesMasters/notesMaster1.xml" Id="R6438e31a865c46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621d9763974d35" /><Relationship Type="http://schemas.openxmlformats.org/officeDocument/2006/relationships/notesMaster" Target="/ppt/notesMasters/notesMaster1.xml" Id="R85c88912c9ca4b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e587d173844d80" /><Relationship Type="http://schemas.openxmlformats.org/officeDocument/2006/relationships/notesMaster" Target="/ppt/notesMasters/notesMaster1.xml" Id="Rb6f56c434d6a49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d2601279a441d7" /><Relationship Type="http://schemas.openxmlformats.org/officeDocument/2006/relationships/notesMaster" Target="/ppt/notesMasters/notesMaster1.xml" Id="Rd79e5d23c15a4e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ffa213e4704c23" /><Relationship Type="http://schemas.openxmlformats.org/officeDocument/2006/relationships/notesMaster" Target="/ppt/notesMasters/notesMaster1.xml" Id="R373f0113759c41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fa1a94f2aa4863" /><Relationship Type="http://schemas.openxmlformats.org/officeDocument/2006/relationships/notesMaster" Target="/ppt/notesMasters/notesMaster1.xml" Id="R712eea42860842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39cec286364b31" /><Relationship Type="http://schemas.openxmlformats.org/officeDocument/2006/relationships/notesMaster" Target="/ppt/notesMasters/notesMaster1.xml" Id="R57acf583ec684b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f34446e7b149f8" /><Relationship Type="http://schemas.openxmlformats.org/officeDocument/2006/relationships/notesMaster" Target="/ppt/notesMasters/notesMaster1.xml" Id="R06a1a21f794240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a9a2bd70de47b1" /><Relationship Type="http://schemas.openxmlformats.org/officeDocument/2006/relationships/notesMaster" Target="/ppt/notesMasters/notesMaster1.xml" Id="Rb88e1c4766f24e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35d7e13d7d465e" /><Relationship Type="http://schemas.openxmlformats.org/officeDocument/2006/relationships/notesMaster" Target="/ppt/notesMasters/notesMaster1.xml" Id="R69981a73d8d149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8d2792012c404b" /><Relationship Type="http://schemas.openxmlformats.org/officeDocument/2006/relationships/notesMaster" Target="/ppt/notesMasters/notesMaster1.xml" Id="R4210f1fa764c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2b9eb4e65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8d8e9e2e54c03" /><Relationship Type="http://schemas.openxmlformats.org/officeDocument/2006/relationships/slideLayout" Target="/ppt/slideLayouts/slideLayout1.xml" Id="Refdd3c65b9334f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d3c65b9334f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dab5ac5984ff8" /><Relationship Type="http://schemas.openxmlformats.org/officeDocument/2006/relationships/notesSlide" Target="/ppt/notesSlides/notesSlide1.xml" Id="R677065a6cb174e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068c5ee9640eb" /><Relationship Type="http://schemas.openxmlformats.org/officeDocument/2006/relationships/notesSlide" Target="/ppt/notesSlides/notesSlide2.xml" Id="R068941754d9147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60b00daf341d3" /><Relationship Type="http://schemas.openxmlformats.org/officeDocument/2006/relationships/notesSlide" Target="/ppt/notesSlides/notesSlide3.xml" Id="R7f40c55f827f4a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99680fea94b81" /><Relationship Type="http://schemas.openxmlformats.org/officeDocument/2006/relationships/notesSlide" Target="/ppt/notesSlides/notesSlide4.xml" Id="Ra5f6b13d59ac4f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bddc43f84251" /><Relationship Type="http://schemas.openxmlformats.org/officeDocument/2006/relationships/chart" Target="/ppt/slides/charts/chart1.xml" Id="Rc078ce90ae394903" /><Relationship Type="http://schemas.openxmlformats.org/officeDocument/2006/relationships/notesSlide" Target="/ppt/notesSlides/notesSlide5.xml" Id="R48b4ff8b838340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e67d44a754981" /><Relationship Type="http://schemas.openxmlformats.org/officeDocument/2006/relationships/chart" Target="/ppt/slides/charts/chart2.xml" Id="R612631da3ad84f31" /><Relationship Type="http://schemas.openxmlformats.org/officeDocument/2006/relationships/notesSlide" Target="/ppt/notesSlides/notesSlide6.xml" Id="Radd089a8f7224f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23ba19ed04a12" /><Relationship Type="http://schemas.openxmlformats.org/officeDocument/2006/relationships/notesSlide" Target="/ppt/notesSlides/notesSlide7.xml" Id="Rb7be6fd282f9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6232690334df5" /><Relationship Type="http://schemas.openxmlformats.org/officeDocument/2006/relationships/notesSlide" Target="/ppt/notesSlides/notesSlide8.xml" Id="R5952ee3efdef47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c7e722fd3445f" /><Relationship Type="http://schemas.openxmlformats.org/officeDocument/2006/relationships/notesSlide" Target="/ppt/notesSlides/notesSlide9.xml" Id="Rd2e2f7f2129e47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041148cfa4158" /><Relationship Type="http://schemas.openxmlformats.org/officeDocument/2006/relationships/notesSlide" Target="/ppt/notesSlides/notesSlide10.xml" Id="Rbb01e19163664c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90b8af48344fa" /><Relationship Type="http://schemas.openxmlformats.org/officeDocument/2006/relationships/notesSlide" Target="/ppt/notesSlides/notesSlide11.xml" Id="R9a16a748d55349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b49c7f3834fa2" /><Relationship Type="http://schemas.openxmlformats.org/officeDocument/2006/relationships/notesSlide" Target="/ppt/notesSlides/notesSlide12.xml" Id="Rb146217dfcc34e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91a6864a4359" /><Relationship Type="http://schemas.openxmlformats.org/officeDocument/2006/relationships/notesSlide" Target="/ppt/notesSlides/notesSlide13.xml" Id="Rf0663a873cc34a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4b747c3124c6b" /><Relationship Type="http://schemas.openxmlformats.org/officeDocument/2006/relationships/notesSlide" Target="/ppt/notesSlides/notesSlide14.xml" Id="R110b5db468f145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Direct SVM</c:v>
          </c:tx>
          <c:spPr>
            <a:solidFill xmlns:a="http://schemas.openxmlformats.org/drawingml/2006/main">
              <a:srgbClr val="1167B1"/>
            </a:solidFill>
          </c:spPr>
          <c:cat>
            <c:strLit>
              <c:ptCount val="4"/>
              <c:pt idx="0">
                <c:v>行政</c:v>
              </c:pt>
              <c:pt idx="1">
                <c:v>民事</c:v>
              </c:pt>
              <c:pt idx="2">
                <c:v>刑事</c:v>
              </c:pt>
              <c:pt idx="3">
                <c:v>刑附民</c:v>
              </c:pt>
            </c:strLit>
          </c:cat>
          <c:val>
            <c:numLit>
              <c:formatCode>General</c:formatCode>
              <c:ptCount val="4"/>
              <c:pt idx="0">
                <c:v>380</c:v>
              </c:pt>
              <c:pt idx="1">
                <c:v>428</c:v>
              </c:pt>
              <c:pt idx="2">
                <c:v>577</c:v>
              </c:pt>
              <c:pt idx="3">
                <c:v>654</c:v>
              </c:pt>
            </c:numLit>
          </c:val>
        </c:ser>
        <c:ser>
          <c:idx val="1"/>
          <c:order val="1"/>
          <c:tx>
            <c:v>MNIR + SVM</c:v>
          </c:tx>
          <c:spPr>
            <a:solidFill xmlns:a="http://schemas.openxmlformats.org/drawingml/2006/main">
              <a:srgbClr val="A9BDD1"/>
            </a:solidFill>
          </c:spPr>
          <c:cat>
            <c:strLit>
              <c:ptCount val="4"/>
              <c:pt idx="0">
                <c:v>行政</c:v>
              </c:pt>
              <c:pt idx="1">
                <c:v>民事</c:v>
              </c:pt>
              <c:pt idx="2">
                <c:v>刑事</c:v>
              </c:pt>
              <c:pt idx="3">
                <c:v>刑附民</c:v>
              </c:pt>
            </c:strLit>
          </c:cat>
          <c:val>
            <c:numLit>
              <c:formatCode>General</c:formatCode>
              <c:ptCount val="4"/>
              <c:pt idx="0">
                <c:v>318</c:v>
              </c:pt>
              <c:pt idx="1">
                <c:v>353</c:v>
              </c:pt>
              <c:pt idx="2">
                <c:v>390</c:v>
              </c:pt>
              <c:pt idx="3">
                <c:v>545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BoW</c:v>
          </c:tx>
          <c:spPr>
            <a:solidFill xmlns:a="http://schemas.openxmlformats.org/drawingml/2006/main">
              <a:srgbClr val="1167B1"/>
            </a:solidFill>
          </c:spPr>
          <c:cat>
            <c:strLit>
              <c:ptCount val="4"/>
              <c:pt idx="0">
                <c:v>行政</c:v>
              </c:pt>
              <c:pt idx="1">
                <c:v>民事</c:v>
              </c:pt>
              <c:pt idx="2">
                <c:v>刑事</c:v>
              </c:pt>
              <c:pt idx="3">
                <c:v>刑附民</c:v>
              </c:pt>
            </c:strLit>
          </c:cat>
          <c:val>
            <c:numLit>
              <c:formatCode>General</c:formatCode>
              <c:ptCount val="4"/>
              <c:pt idx="0">
                <c:v>380</c:v>
              </c:pt>
              <c:pt idx="1">
                <c:v>403</c:v>
              </c:pt>
              <c:pt idx="2">
                <c:v>564</c:v>
              </c:pt>
              <c:pt idx="3">
                <c:v>654</c:v>
              </c:pt>
            </c:numLit>
          </c:val>
        </c:ser>
        <c:ser>
          <c:idx val="1"/>
          <c:order val="1"/>
          <c:tx>
            <c:v>TF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4"/>
              <c:pt idx="0">
                <c:v>行政</c:v>
              </c:pt>
              <c:pt idx="1">
                <c:v>民事</c:v>
              </c:pt>
              <c:pt idx="2">
                <c:v>刑事</c:v>
              </c:pt>
              <c:pt idx="3">
                <c:v>刑附民</c:v>
              </c:pt>
            </c:strLit>
          </c:cat>
          <c:val>
            <c:numLit>
              <c:formatCode>General</c:formatCode>
              <c:ptCount val="4"/>
              <c:pt idx="0">
                <c:v>341</c:v>
              </c:pt>
              <c:pt idx="1">
                <c:v>417</c:v>
              </c:pt>
              <c:pt idx="2">
                <c:v>577</c:v>
              </c:pt>
              <c:pt idx="3">
                <c:v>580</c:v>
              </c:pt>
            </c:numLit>
          </c:val>
        </c:ser>
        <c:ser>
          <c:idx val="2"/>
          <c:order val="2"/>
          <c:tx>
            <c:v>TF-IDF</c:v>
          </c:tx>
          <c:spPr>
            <a:solidFill xmlns:a="http://schemas.openxmlformats.org/drawingml/2006/main">
              <a:srgbClr val="D99A22"/>
            </a:solidFill>
          </c:spPr>
          <c:cat>
            <c:strLit>
              <c:ptCount val="4"/>
              <c:pt idx="0">
                <c:v>行政</c:v>
              </c:pt>
              <c:pt idx="1">
                <c:v>民事</c:v>
              </c:pt>
              <c:pt idx="2">
                <c:v>刑事</c:v>
              </c:pt>
              <c:pt idx="3">
                <c:v>刑附民</c:v>
              </c:pt>
            </c:strLit>
          </c:cat>
          <c:val>
            <c:numLit>
              <c:formatCode>General</c:formatCode>
              <c:ptCount val="4"/>
              <c:pt idx="0">
                <c:v>375</c:v>
              </c:pt>
              <c:pt idx="1">
                <c:v>428</c:v>
              </c:pt>
              <c:pt idx="2">
                <c:v>562</c:v>
              </c:pt>
              <c:pt idx="3">
                <c:v>572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911FB-6FAD-4815-8EAC-A88DAA82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21168-6871-4036-94B8-171D8E0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76325"/>
            <a:ext cx="9001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判決文本會說話嗎？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F407A-30FF-414A-BDCF-8CBED49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EFF"/>
                </a:solidFill>
              </a:defRPr>
            </a:pPr>
            <a:r>
              <a:rPr sz="1875" b="0">
                <a:solidFill>
                  <a:srgbClr val="DCEEFF"/>
                </a:solidFill>
              </a:rPr>
              <a:t>臺灣智慧財產權裁判結果之文字探勘與分類研究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6A249-F7F2-4A3D-A014-A4D88A39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讓 45,344 篇判決同時告訴我們：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文字是否隱含裁判結果訊號？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1B9B0-4AA4-424F-A67D-A6C3901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52775"/>
            <a:ext cx="25146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3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CDA09-2614-44B4-8AB2-87BC6DF9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5C9F8"/>
                </a:solidFill>
              </a:defRPr>
            </a:pPr>
            <a:r>
              <a:rPr sz="1275" b="1">
                <a:solidFill>
                  <a:srgbClr val="95C9F8"/>
                </a:solidFill>
              </a:rPr>
              <a:t>研究視角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A79CF-A536-4093-BC6A-ADC2CD49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57625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從閱讀個案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到觀察整體模式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67F64-8DFD-4937-A4A9-EDE6D95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D8F4"/>
                </a:solidFill>
              </a:defRPr>
            </a:pPr>
            <a:r>
              <a:rPr sz="1125" b="0">
                <a:solidFill>
                  <a:srgbClr val="B8D8F4"/>
                </a:solidFill>
              </a:rPr>
              <a:t>崇越論文大賞｜10 分鐘競賽簡報</a:t>
            </a:r>
          </a:p>
        </p:txBody>
      </p:sp>
    </p:spTree>
    <p:extLst>
      <p:ext uri="{BB962C8B-B14F-4D97-AF65-F5344CB8AC3E}">
        <p14:creationId xmlns:p14="http://schemas.microsoft.com/office/powerpoint/2010/main" val="368427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F0D6D-EA24-4798-B7BD-47005F6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79DC-EDE6-47B8-8891-9D82FEF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判決大量公開，卻仍難以看見整體規律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D0EC2-6282-4853-9427-B29ADA4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問題不是沒有資料，而是數萬篇自然語言難以被同時理解。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08FB0-270C-424F-B806-1D784A7B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FE842-EAE3-4CDF-B5D2-97EB38F7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540"/>
                </a:solidFill>
              </a:defRPr>
            </a:pPr>
            <a:r>
              <a:rPr sz="2025" b="1">
                <a:solidFill>
                  <a:srgbClr val="0A2540"/>
                </a:solidFill>
              </a:rPr>
              <a:t>公開裁判書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88DCF-6F9C-4E32-8BA2-87CB72B8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內容完整、可跨年度累積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66B94-6080-4ED0-849E-46E3D4DE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67B1"/>
                </a:solidFill>
              </a:defRPr>
            </a:pPr>
            <a:r>
              <a:rPr sz="2625" b="1">
                <a:solidFill>
                  <a:srgbClr val="1167B1"/>
                </a:solidFill>
              </a:rPr>
              <a:t>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70210-3BAA-40FA-9330-93197AC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52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540"/>
                </a:solidFill>
              </a:defRPr>
            </a:pPr>
            <a:r>
              <a:rPr sz="2025" b="1">
                <a:solidFill>
                  <a:srgbClr val="0A2540"/>
                </a:solidFill>
              </a:rPr>
              <a:t>智財爭議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39FC3-C24A-46E9-B6EA-E23E58D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47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法律、技術與商業利益交織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5412F-CB28-4CF1-A0A9-37FCDD1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67B1"/>
                </a:solidFill>
              </a:defRPr>
            </a:pPr>
            <a:r>
              <a:rPr sz="2625" b="1">
                <a:solidFill>
                  <a:srgbClr val="1167B1"/>
                </a:solidFill>
              </a:rPr>
              <a:t>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8672C-9FA8-4337-8202-1B8C0E98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162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EF46C-47B2-4060-A2DA-614A4A0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52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高價值、低可讀性的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大規模實證資料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D1623-9FC9-4296-A61D-CABC831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1792B-7500-4D44-BC85-85437ED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2540"/>
                </a:solidFill>
              </a:defRPr>
            </a:pPr>
            <a:r>
              <a:rPr sz="1950" b="1">
                <a:solidFill>
                  <a:srgbClr val="0A2540"/>
                </a:solidFill>
              </a:rPr>
              <a:t>人工閱讀能深入理解個案，卻難以同時觀察數萬件案件的分布、差異與風險。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F6E01-EEF8-4BF5-9AD9-5BBA326E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67B1"/>
                </a:solidFill>
              </a:defRPr>
            </a:pPr>
            <a:r>
              <a:rPr sz="1950" b="1">
                <a:solidFill>
                  <a:srgbClr val="1167B1"/>
                </a:solidFill>
              </a:rPr>
              <a:t>研究任務：把判決文本轉化為可比較、可檢驗的資訊。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E686F-D59C-4892-8B1F-C9CBB49B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崇越論文大賞｜02</a:t>
            </a:r>
          </a:p>
        </p:txBody>
      </p:sp>
    </p:spTree>
    <p:extLst>
      <p:ext uri="{BB962C8B-B14F-4D97-AF65-F5344CB8AC3E}">
        <p14:creationId xmlns:p14="http://schemas.microsoft.com/office/powerpoint/2010/main" val="1512927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DF91F7-7C0E-400E-8DC5-A2F97C6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DATA &amp;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DC216-623D-4F98-A0B4-0EDBE61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讓 45,344 篇判決能被同時觀察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0A76A-0AD1-48E3-BBD5-320F0E8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24CC6-898D-45B8-AA39-EC64196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90875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76F98-F6E6-4ADB-A37A-DB84A0D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90,027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0545-9D2B-487C-9C30-755ED305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</a:defRPr>
            </a:pPr>
            <a:r>
              <a:rPr sz="1350" b="0">
                <a:solidFill>
                  <a:srgbClr val="DCEEFF"/>
                </a:solidFill>
              </a:rPr>
              <a:t>原始智財相關裁判書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78A2D-ABBC-4CD0-9E80-9B68C74D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8F4"/>
                </a:solidFill>
              </a:defRPr>
            </a:pPr>
            <a:r>
              <a:rPr sz="1200" b="0">
                <a:solidFill>
                  <a:srgbClr val="B8D8F4"/>
                </a:solidFill>
              </a:rPr>
              <a:t>1996—2024 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D20BB-053F-43C6-83FE-3E691362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52650"/>
            <a:ext cx="2647950" cy="24003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11B5F-32EF-40DC-8A42-AD22D1D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67B1"/>
                </a:solidFill>
              </a:defRPr>
            </a:pPr>
            <a:r>
              <a:rPr sz="3450" b="1">
                <a:solidFill>
                  <a:srgbClr val="1167B1"/>
                </a:solidFill>
              </a:rPr>
              <a:t>45,344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555B8-9C0E-4E2E-8059-7045D5C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28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540"/>
                </a:solidFill>
              </a:defRPr>
            </a:pPr>
            <a:r>
              <a:rPr sz="1425" b="1">
                <a:solidFill>
                  <a:srgbClr val="0A2540"/>
                </a:solidFill>
              </a:rPr>
              <a:t>有效分析樣本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D1B3A-F29E-4056-A995-D8F44A35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576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敗訴／部分勝訴／勝訴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40DB6-166D-4D22-9C84-FAA95C4F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526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3D768-F725-49FC-9DE0-B1F53CF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行政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4C8C5-8D62-4875-95F1-8CAF51CD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5265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DB941-8571-4352-A255-6A267BFD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57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民事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AE337-6DC1-40B8-8537-B9C15601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9090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7DCF9-BD07-44F2-B804-C7E17CC9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695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刑事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769E1-DA1F-4226-9A54-8C7D7B58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390900"/>
            <a:ext cx="180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F29E8-D617-49BB-98C2-B5E35685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957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刑附民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490C7-628A-4D57-A145-8C78254F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2540"/>
                </a:solidFill>
              </a:defRPr>
            </a:pPr>
            <a:r>
              <a:rPr sz="1950" b="1">
                <a:solidFill>
                  <a:srgbClr val="0A2540"/>
                </a:solidFill>
              </a:rPr>
              <a:t>判決文本是否存在結果訊號？不同案件是否需要不同的表示與模型？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DFE67-727C-4075-8828-44540700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崇越論文大賞｜03</a:t>
            </a:r>
          </a:p>
        </p:txBody>
      </p:sp>
    </p:spTree>
    <p:extLst>
      <p:ext uri="{BB962C8B-B14F-4D97-AF65-F5344CB8AC3E}">
        <p14:creationId xmlns:p14="http://schemas.microsoft.com/office/powerpoint/2010/main" val="382213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49CB49-2C8B-41E4-BAA0-BE7F0FE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RESEARCH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27226-B354-47CC-9728-6584D4D9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先移除「答案」，再檢驗剩餘文字是否有訊號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266A1-D646-4CB1-A997-ADB61330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評審只需記住：詞彙控制、資料切分與公平指標。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F4CB7-A7EB-4F9D-9027-00239E4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40FE5-1F00-448D-9BF9-4E11DDE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286000" cy="1781175"/>
          </a:xfrm>
          <a:prstGeom xmlns:a="http://schemas.openxmlformats.org/drawingml/2006/main" prst="roundRect">
            <a:avLst>
              <a:gd name="adj" fmla="val 8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24FB0-D6FA-41DD-91CD-1FA8CDF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7B1"/>
                </a:solidFill>
              </a:defRPr>
            </a:pPr>
            <a:r>
              <a:rPr sz="1050" b="1">
                <a:solidFill>
                  <a:srgbClr val="1167B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D78DD-ED09-4E04-8484-E544B59A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詞彙控制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4A7EE-E670-453E-9BA7-9E4C0AB0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清理、斷詞，移除明顯結果用語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41482-2EFC-405F-AA2C-1E2D4C43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67B1"/>
                </a:solidFill>
              </a:defRPr>
            </a:pPr>
            <a:r>
              <a:rPr sz="1875" b="1">
                <a:solidFill>
                  <a:srgbClr val="1167B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73777-B1CE-4AD1-B4A3-EB95E80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24125"/>
            <a:ext cx="2286000" cy="1781175"/>
          </a:xfrm>
          <a:prstGeom xmlns:a="http://schemas.openxmlformats.org/drawingml/2006/main" prst="roundRect">
            <a:avLst>
              <a:gd name="adj" fmla="val 8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6BE59-7D58-489A-96CA-4DAA3DB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52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7B1"/>
                </a:solidFill>
              </a:defRPr>
            </a:pPr>
            <a:r>
              <a:rPr sz="1050" b="1">
                <a:solidFill>
                  <a:srgbClr val="1167B1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5F4D1-12D2-47A0-8887-D8653C35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資料表示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83710-99E7-49B4-9FB5-CAA1A4F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004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BoW／TF／TF-IDF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B50CF-E2BD-49DA-AE28-23DF65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766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67B1"/>
                </a:solidFill>
              </a:defRPr>
            </a:pPr>
            <a:r>
              <a:rPr sz="1875" b="1">
                <a:solidFill>
                  <a:srgbClr val="1167B1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5A004-6E12-411A-843A-938057B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2286000" cy="1781175"/>
          </a:xfrm>
          <a:prstGeom xmlns:a="http://schemas.openxmlformats.org/drawingml/2006/main" prst="roundRect">
            <a:avLst>
              <a:gd name="adj" fmla="val 8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10395-834A-4F89-8FB4-FA8A5E6D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7B1"/>
                </a:solidFill>
              </a:defRPr>
            </a:pPr>
            <a:r>
              <a:rPr sz="1050" b="1">
                <a:solidFill>
                  <a:srgbClr val="1167B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77A1A-649A-489A-81D7-D5B6493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流程比較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8A6FB-D0AA-47CB-8604-2A73B36B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Chi-square + SVM</a:t>
            </a:r>
          </a:p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對照 MNIR + SVM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59B5C-B576-4813-9BED-3AC301C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67B1"/>
                </a:solidFill>
              </a:defRPr>
            </a:pPr>
            <a:r>
              <a:rPr sz="1875" b="1">
                <a:solidFill>
                  <a:srgbClr val="1167B1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2EB14-5047-4D9C-A8E2-2845064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24125"/>
            <a:ext cx="2286000" cy="1781175"/>
          </a:xfrm>
          <a:prstGeom xmlns:a="http://schemas.openxmlformats.org/drawingml/2006/main" prst="roundRect">
            <a:avLst>
              <a:gd name="adj" fmla="val 8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BE13B-8AA8-4A27-BA90-6ABAB0A6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52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7B1"/>
                </a:solidFill>
              </a:defRPr>
            </a:pPr>
            <a:r>
              <a:rPr sz="1050" b="1">
                <a:solidFill>
                  <a:srgbClr val="1167B1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5B2DD-CA44-4E8A-823B-912FA703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3372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嚴謹評估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35BC5-6336-4680-8463-E5B51EF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訓練／驗證／測試分離</a:t>
            </a:r>
          </a:p>
          <a:p xmlns:a="http://schemas.openxmlformats.org/drawingml/2006/main">
            <a:pPr algn="l">
              <a:defRPr sz="1200" b="0">
                <a:solidFill>
                  <a:srgbClr val="536579"/>
                </a:solidFill>
              </a:defRPr>
            </a:pPr>
            <a:r>
              <a:rPr sz="1200" b="0">
                <a:solidFill>
                  <a:srgbClr val="536579"/>
                </a:solidFill>
              </a:rPr>
              <a:t>Macro F1 + 最低基準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371B5-C785-4602-8D94-04BC0F0F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45963-FEBC-4583-84BD-04A66E22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54D00"/>
                </a:solidFill>
              </a:defRPr>
            </a:pPr>
            <a:r>
              <a:rPr sz="1500" b="1">
                <a:solidFill>
                  <a:srgbClr val="754D00"/>
                </a:solidFill>
              </a:rPr>
              <a:t>移除「駁回、准許、有理由、撤銷」等詞；但仍承認法律語境可能保留間接線索。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BBDA3-71B8-424B-BDE6-FB62B4D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A7CD6-2C2B-4E44-A262-81E114B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崇越論文大賞｜04</a:t>
            </a:r>
          </a:p>
        </p:txBody>
      </p:sp>
    </p:spTree>
    <p:extLst>
      <p:ext uri="{BB962C8B-B14F-4D97-AF65-F5344CB8AC3E}">
        <p14:creationId xmlns:p14="http://schemas.microsoft.com/office/powerpoint/2010/main" val="1040962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D6B38-3242-464C-A203-BD1F46C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FINDING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6859C-2691-486F-AD43-49EF591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加入 MNIR 沒有提升表現，Direct SVM 在四類案件皆較佳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DD388-A8B6-4928-B5FF-86146A6A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更複雜的轉換，沒有自動帶來更好的分類結果。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6ADDD-BD7E-4ABE-9E6A-799E7F5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BE395-159D-41A3-A928-82B862C6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43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Macro F1 × 1,000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104900" y="217170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78ce90ae39490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32E10-434D-42CA-9BD6-9A0DAD4D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71725"/>
            <a:ext cx="2476500" cy="2257425"/>
          </a:xfrm>
          <a:prstGeom xmlns:a="http://schemas.openxmlformats.org/drawingml/2006/main" prst="roundRect">
            <a:avLst>
              <a:gd name="adj" fmla="val 67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6D337-2E7E-4811-A096-11DC47C6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67B1"/>
                </a:solidFill>
              </a:defRPr>
            </a:pPr>
            <a:r>
              <a:rPr sz="1350" b="1">
                <a:solidFill>
                  <a:srgbClr val="1167B1"/>
                </a:solidFill>
              </a:rPr>
              <a:t>反直覺結果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5A498-EEF5-486D-8756-C321044F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卡方篩選後的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稀疏詞彙特徵，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已是有競爭力的基準。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F0F5E-6B59-4C44-BC0E-CE24341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8D77D-3BF8-4A3B-9C88-6361340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崇越論文大賞｜05</a:t>
            </a:r>
          </a:p>
        </p:txBody>
      </p:sp>
    </p:spTree>
    <p:extLst>
      <p:ext uri="{BB962C8B-B14F-4D97-AF65-F5344CB8AC3E}">
        <p14:creationId xmlns:p14="http://schemas.microsoft.com/office/powerpoint/2010/main" val="969235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D48DB-3ABE-40C6-BD4B-FA9D141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FINDING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709A6-C9C7-4AB7-837A-C51CD95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不同案件「說著不同的文字語言」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1BCE5-E181-45EB-BFF6-CDC9689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沒有一種文字表示能在所有案件中勝出。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AF08E-EB48-4660-8776-AE53C3C1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239FA-63A2-425E-9A06-0428EC27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579"/>
                </a:solidFill>
              </a:defRPr>
            </a:pPr>
            <a:r>
              <a:rPr sz="975" b="1">
                <a:solidFill>
                  <a:srgbClr val="536579"/>
                </a:solidFill>
              </a:rPr>
              <a:t>Macro F1 × 1,000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00100" y="2143125"/>
          <a:ext xmlns:a="http://schemas.openxmlformats.org/drawingml/2006/main" cx="73818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2631da3ad84f3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56DCB-E166-4A25-98B2-62A98A1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552700" cy="25717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15D7D-C698-412F-B446-C8A076ED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67B1"/>
                </a:solidFill>
              </a:defRPr>
            </a:pPr>
            <a:r>
              <a:rPr sz="1350" b="1">
                <a:solidFill>
                  <a:srgbClr val="1167B1"/>
                </a:solidFill>
              </a:rPr>
              <a:t>各類最佳表示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05DAF-08CB-45A6-A40E-FEAC8D55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1809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行政　BoW</a:t>
            </a:r>
          </a:p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民事　TF-IDF</a:t>
            </a:r>
          </a:p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刑事　TF</a:t>
            </a:r>
          </a:p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刑附民　BoW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2A732-74C6-4E96-A62F-8A18952F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054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36579"/>
                </a:solidFill>
              </a:defRPr>
            </a:pPr>
            <a:r>
              <a:rPr sz="1275" b="1">
                <a:solidFill>
                  <a:srgbClr val="536579"/>
                </a:solidFill>
              </a:rPr>
              <a:t>模型效果也受到法律程序與文本結構影響。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E3802-5764-47B6-AF11-402E99DC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BFE71-EACF-4368-A935-BA3D1F00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崇越論文大賞｜06</a:t>
            </a:r>
          </a:p>
        </p:txBody>
      </p:sp>
    </p:spTree>
    <p:extLst>
      <p:ext uri="{BB962C8B-B14F-4D97-AF65-F5344CB8AC3E}">
        <p14:creationId xmlns:p14="http://schemas.microsoft.com/office/powerpoint/2010/main" val="404074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DC08E-74E9-4CCF-82C4-93ADCA13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FINDING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B6CBA-C983-4F2D-8C54-2C65D813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高準確率可能掩蓋少數但重要的失敗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8138E-91E2-4BDB-BCEE-FCDEF5B7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民事案件顯示：整體命中率與每一類都能被辨識，是兩件不同的事。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279AA-36E3-4986-B91D-AFDD243F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D9E97-D920-42B7-BE2C-E07F3D26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133CD-73C6-4A80-ABA8-6CC1E39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67B1"/>
                </a:solidFill>
              </a:defRPr>
            </a:pPr>
            <a:r>
              <a:rPr sz="4125" b="1">
                <a:solidFill>
                  <a:srgbClr val="1167B1"/>
                </a:solidFill>
              </a:rPr>
              <a:t>0.680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0003-E87F-4ABB-A7A4-388C5BCE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24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Macro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8338F-94EA-4A96-B5CF-776F4A3A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6702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C85A54"/>
                </a:solidFill>
              </a:defRPr>
            </a:pPr>
            <a:r>
              <a:rPr sz="4125" b="1">
                <a:solidFill>
                  <a:srgbClr val="C85A54"/>
                </a:solidFill>
              </a:rPr>
              <a:t>0.428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E0F26-8FB7-4A3F-B65C-1163137F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93395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74C94-E902-4651-98D1-83F24D2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66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2540"/>
                </a:solidFill>
              </a:defRPr>
            </a:pPr>
            <a:r>
              <a:rPr sz="1500" b="1">
                <a:solidFill>
                  <a:srgbClr val="0A2540"/>
                </a:solidFill>
              </a:rPr>
              <a:t>民事案件類別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64665-055A-4F99-90E0-DB8A27EE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2F"/>
                </a:solidFill>
              </a:defRPr>
            </a:pPr>
            <a:r>
              <a:rPr sz="1200" b="0">
                <a:solidFill>
                  <a:srgbClr val="12202F"/>
                </a:solidFill>
              </a:rPr>
              <a:t>Lose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260BF-192C-4B78-9BB9-E4F211EA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23D33-3422-4158-B96B-C497B330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29171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C9F30-7E04-4C8D-9CED-4B03175E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048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2F"/>
                </a:solidFill>
              </a:defRPr>
            </a:pPr>
            <a:r>
              <a:rPr sz="1125" b="1">
                <a:solidFill>
                  <a:srgbClr val="12202F"/>
                </a:solidFill>
              </a:rPr>
              <a:t>0.802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84663-95BC-452B-BB20-0B795F8D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814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2F"/>
                </a:solidFill>
              </a:defRPr>
            </a:pPr>
            <a:r>
              <a:rPr sz="1200" b="0">
                <a:solidFill>
                  <a:srgbClr val="12202F"/>
                </a:solidFill>
              </a:rPr>
              <a:t>Mixed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41B45-AE26-4FCA-8B29-D6BCDCB9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15F1F-6246-4FEB-B661-AD6AAB5D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100584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5B72F-F3E1-49BF-8A21-02FF0E6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5814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2F"/>
                </a:solidFill>
              </a:defRPr>
            </a:pPr>
            <a:r>
              <a:rPr sz="1125" b="1">
                <a:solidFill>
                  <a:srgbClr val="12202F"/>
                </a:solidFill>
              </a:rPr>
              <a:t>0.352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A797C-D1C6-4B15-A486-6C21B0B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2F"/>
                </a:solidFill>
              </a:defRPr>
            </a:pPr>
            <a:r>
              <a:rPr sz="1200" b="0">
                <a:solidFill>
                  <a:srgbClr val="12202F"/>
                </a:solidFill>
              </a:rPr>
              <a:t>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9899B-2C7C-4BAE-B535-7A27510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2857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4CA3F-A5B0-4F09-A243-1DADB10E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33850"/>
            <a:ext cx="37147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A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4CF21-78C4-4B53-8B96-8DF7A3F5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148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2F"/>
                </a:solidFill>
              </a:defRPr>
            </a:pPr>
            <a:r>
              <a:rPr sz="1125" b="1">
                <a:solidFill>
                  <a:srgbClr val="12202F"/>
                </a:solidFill>
              </a:rPr>
              <a:t>0.130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1BF67-A9B3-445D-A06E-D09DFFB2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435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EEC7C-B4A0-41ED-8AD2-88408FB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A54"/>
                </a:solidFill>
              </a:defRPr>
            </a:pPr>
            <a:r>
              <a:rPr sz="1500" b="1">
                <a:solidFill>
                  <a:srgbClr val="C85A54"/>
                </a:solidFill>
              </a:rPr>
              <a:t>86 件實際勝訴中，僅 7 件被正確辨識</a:t>
            </a:r>
          </a:p>
          <a:p xmlns:a="http://schemas.openxmlformats.org/drawingml/2006/main">
            <a:pPr algn="l">
              <a:defRPr sz="1500" b="1">
                <a:solidFill>
                  <a:srgbClr val="C85A54"/>
                </a:solidFill>
              </a:defRPr>
            </a:pPr>
            <a:r>
              <a:rPr sz="1500" b="1">
                <a:solidFill>
                  <a:srgbClr val="C85A54"/>
                </a:solidFill>
              </a:rPr>
              <a:t>Win recall = 0.081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52D07-ADC9-4C0E-8555-0E0F355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2540"/>
                </a:solidFill>
              </a:defRPr>
            </a:pPr>
            <a:r>
              <a:rPr sz="2025" b="1">
                <a:solidFill>
                  <a:srgbClr val="0A2540"/>
                </a:solidFill>
              </a:rPr>
              <a:t>法律科技不能只問「整體多準」，還要問「忽略了誰」。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64DEF-49C1-4C42-8868-3B6ECA71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A0E6A-578A-4950-8837-66E965D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崇越論文大賞｜07</a:t>
            </a:r>
          </a:p>
        </p:txBody>
      </p:sp>
    </p:spTree>
    <p:extLst>
      <p:ext uri="{BB962C8B-B14F-4D97-AF65-F5344CB8AC3E}">
        <p14:creationId xmlns:p14="http://schemas.microsoft.com/office/powerpoint/2010/main" val="916483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37466-0245-46FD-B7C1-FD8DF490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788D4-EF40-41E9-915D-4E5BF839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研究能協助整理與辨識風險，但不能代替法律判斷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48CCD-74AF-4A97-8B3B-FC4C70F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52E31-FCDA-491D-90B2-5E5650BF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4825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FA655-BB93-45B0-B1F7-A0DB3A3B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24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CCCF3"/>
                </a:solidFill>
              </a:defRPr>
            </a:pPr>
            <a:r>
              <a:rPr sz="1650" b="1">
                <a:solidFill>
                  <a:srgbClr val="9CCCF3"/>
                </a:solidFill>
              </a:rPr>
              <a:t>可以做到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354E9-A0E5-4634-9843-7132BA0D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3857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大量判決初步分類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案件分布與趨勢掌握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研究樣本篩選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建立後續模型比較基準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59AC8-E87E-4623-94C3-C4AB0749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535305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9C2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503C1-4FE6-474B-A103-08EAF85B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5A54"/>
                </a:solidFill>
              </a:defRPr>
            </a:pPr>
            <a:r>
              <a:rPr sz="1650" b="1">
                <a:solidFill>
                  <a:srgbClr val="C85A54"/>
                </a:solidFill>
              </a:rPr>
              <a:t>不能宣稱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DA9B0-B804-44F4-B253-01D9FB34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取代法官或律師</a:t>
            </a:r>
          </a:p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保證個案勝敗</a:t>
            </a:r>
          </a:p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完全排除間接結果線索</a:t>
            </a:r>
          </a:p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直接作為事前裁判預測器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D191C-C31D-4937-BC3F-44C33D1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67B1"/>
                </a:solidFill>
              </a:defRPr>
            </a:pPr>
            <a:r>
              <a:rPr sz="1950" b="1">
                <a:solidFill>
                  <a:srgbClr val="1167B1"/>
                </a:solidFill>
              </a:rPr>
              <a:t>應用價值：更快看見大量案件中的模式、差異與風險。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EA279-BECD-4374-B93A-3B5AE0D6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0FA76-EBA4-4E69-B011-790F7341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崇越論文大賞｜08</a:t>
            </a:r>
          </a:p>
        </p:txBody>
      </p:sp>
    </p:spTree>
    <p:extLst>
      <p:ext uri="{BB962C8B-B14F-4D97-AF65-F5344CB8AC3E}">
        <p14:creationId xmlns:p14="http://schemas.microsoft.com/office/powerpoint/2010/main" val="2050145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9A5A5-49D3-4F78-B090-6866D3D3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判決文本確實會說話。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E639F-EA3E-4ACF-A460-2AD2210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8D8F4"/>
                </a:solidFill>
              </a:defRPr>
            </a:pPr>
            <a:r>
              <a:rPr sz="2175" b="0">
                <a:solidFill>
                  <a:srgbClr val="B8D8F4"/>
                </a:solidFill>
              </a:rPr>
              <a:t>但它說的不是下一個案件一定會輸或贏。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BC126-E945-42F4-A24C-4FCD750B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32004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03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75FEA-00F5-4717-A999-EAF741F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5C9F8"/>
                </a:solidFill>
              </a:defRPr>
            </a:pPr>
            <a:r>
              <a:rPr sz="1200" b="1">
                <a:solidFill>
                  <a:srgbClr val="95C9F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AC47A-E859-4199-87A1-D646379D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5C9F8"/>
                </a:solidFill>
              </a:defRPr>
            </a:pPr>
            <a:r>
              <a:rPr sz="1575" b="1">
                <a:solidFill>
                  <a:srgbClr val="95C9F8"/>
                </a:solidFill>
              </a:rPr>
              <a:t>文字訊號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6E956-24A4-4256-B60E-73E0F13D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判決結果存在可辨識模式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BD443-E923-435C-B081-3ADC81D0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76525"/>
            <a:ext cx="32004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03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02D85-EE9D-4AE7-8271-B221944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5C9F8"/>
                </a:solidFill>
              </a:defRPr>
            </a:pPr>
            <a:r>
              <a:rPr sz="1200" b="1">
                <a:solidFill>
                  <a:srgbClr val="95C9F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F5270-A99A-4829-BD2F-C4DC02EC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05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5C9F8"/>
                </a:solidFill>
              </a:defRPr>
            </a:pPr>
            <a:r>
              <a:rPr sz="1575" b="1">
                <a:solidFill>
                  <a:srgbClr val="95C9F8"/>
                </a:solidFill>
              </a:rPr>
              <a:t>案件差異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C8499-2AF8-4F7B-AEEE-85AFE4AE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14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不同程序需要不同表示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93D2E-EA31-47F5-82EC-B46DA29A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32004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03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37F16-356B-4127-AC77-C7E05FE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5C9F8"/>
                </a:solidFill>
              </a:defRPr>
            </a:pPr>
            <a:r>
              <a:rPr sz="1200" b="1">
                <a:solidFill>
                  <a:srgbClr val="95C9F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682DB-1F92-471F-86C4-332E7E8A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5C9F8"/>
                </a:solidFill>
              </a:defRPr>
            </a:pPr>
            <a:r>
              <a:rPr sz="1575" b="1">
                <a:solidFill>
                  <a:srgbClr val="95C9F8"/>
                </a:solidFill>
              </a:rPr>
              <a:t>模型責任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72EC7-8FBF-4C2A-8705-0076A42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14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必須看見少數類別與限制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B123A-2BE0-4AB8-86D5-FA2E188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可靠的法律科技，應同時重視分類效果、少數類別與可解釋性。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08D16-9B46-42E6-8687-1BA4EFA3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D8F4"/>
                </a:solidFill>
              </a:defRPr>
            </a:pPr>
            <a:r>
              <a:rPr sz="1350" b="0">
                <a:solidFill>
                  <a:srgbClr val="B8D8F4"/>
                </a:solidFill>
              </a:rPr>
              <a:t>謝謝聆聽</a:t>
            </a:r>
          </a:p>
        </p:txBody>
      </p:sp>
    </p:spTree>
    <p:extLst>
      <p:ext uri="{BB962C8B-B14F-4D97-AF65-F5344CB8AC3E}">
        <p14:creationId xmlns:p14="http://schemas.microsoft.com/office/powerpoint/2010/main" val="74822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FA48A-FB31-4A18-B62E-87FBC55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57F4B-4276-4C5C-8EA5-3BF6B63F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這是「判決文本分類」，不是事前預測法官決定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615BD-1453-4365-88FB-E29698B4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研究問題聚焦於判決全文是否存在可辨識的文字模式。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90DEB-FB2A-4AFA-A170-7338A37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CA4F9-2C14-4D84-8FFF-7645A07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00" cy="2619375"/>
          </a:xfrm>
          <a:prstGeom xmlns:a="http://schemas.openxmlformats.org/drawingml/2006/main" prst="roundRect">
            <a:avLst>
              <a:gd name="adj" fmla="val 5818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EE8CD-8C7C-4918-9EBC-9B0B4ED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CCCF3"/>
                </a:solidFill>
              </a:defRPr>
            </a:pPr>
            <a:r>
              <a:rPr sz="1425" b="1">
                <a:solidFill>
                  <a:srgbClr val="9CCCF3"/>
                </a:solidFill>
              </a:rPr>
              <a:t>本研究可以回答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B3109-BE9D-4050-A7C0-67957FF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371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判決文本中的詞彙分布，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能否區分敗訴、部分勝訴與勝訴？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2B85-97F1-435B-9D1A-45B553D6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5600700" cy="2619375"/>
          </a:xfrm>
          <a:prstGeom xmlns:a="http://schemas.openxmlformats.org/drawingml/2006/main" prst="roundRect">
            <a:avLst>
              <a:gd name="adj" fmla="val 5818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9C2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8F52-0363-40D5-9240-8A855A7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0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A54"/>
                </a:solidFill>
              </a:defRPr>
            </a:pPr>
            <a:r>
              <a:rPr sz="1425" b="1">
                <a:solidFill>
                  <a:srgbClr val="C85A54"/>
                </a:solidFill>
              </a:rPr>
              <a:t>本研究不主張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8E09B-25FE-40C8-B904-E8C885C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33725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2540"/>
                </a:solidFill>
              </a:defRPr>
            </a:pPr>
            <a:r>
              <a:rPr sz="2175" b="1">
                <a:solidFill>
                  <a:srgbClr val="0A2540"/>
                </a:solidFill>
              </a:rPr>
              <a:t>在法院作成裁判之前，</a:t>
            </a:r>
          </a:p>
          <a:p xmlns:a="http://schemas.openxmlformats.org/drawingml/2006/main">
            <a:pPr algn="l">
              <a:defRPr sz="2175" b="1">
                <a:solidFill>
                  <a:srgbClr val="0A2540"/>
                </a:solidFill>
              </a:defRPr>
            </a:pPr>
            <a:r>
              <a:rPr sz="2175" b="1">
                <a:solidFill>
                  <a:srgbClr val="0A2540"/>
                </a:solidFill>
              </a:rPr>
              <a:t>僅憑案件資料即可預言結果。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02691-25C8-4DBF-957D-51A277D2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因此，最精確的定位是：大量判決書的初步整理、分類與制度訊號分析。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466C0-B8BC-4B7B-A156-3C3A2FF5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3CF6B-C215-4920-BB9A-89CD0D8F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崇越論文大賞｜10</a:t>
            </a:r>
          </a:p>
        </p:txBody>
      </p:sp>
    </p:spTree>
    <p:extLst>
      <p:ext uri="{BB962C8B-B14F-4D97-AF65-F5344CB8AC3E}">
        <p14:creationId xmlns:p14="http://schemas.microsoft.com/office/powerpoint/2010/main" val="1171821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E390C-F6A5-402E-8EF8-8F153401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63C00-2780-4E5E-AB18-F5DD52A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如何降低模型「偷看答案」的風險？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A264E-839D-4F08-98AB-682036DD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研究設計採取三層控制，但不宣稱已完全排除所有間接線索。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03A38-FE6D-4360-90A3-08010439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7DB3-B287-4D2B-BD49-03212AE8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565E7-7B47-4897-A3BD-328C2C4C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7B1"/>
                </a:solidFill>
              </a:defRPr>
            </a:pPr>
            <a:r>
              <a:rPr sz="1275" b="1">
                <a:solidFill>
                  <a:srgbClr val="1167B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99E0B-4133-44F3-BAD4-EB195263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詞彙控制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47A75-619F-452E-9503-253CD660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移除駁回、有理由、准許、撤銷等明顯結果詞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3699E-F840-4F40-8379-6598507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9825"/>
            <a:ext cx="3238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498AF-B4C4-406A-A20C-BC6C15DA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7B1"/>
                </a:solidFill>
              </a:defRPr>
            </a:pPr>
            <a:r>
              <a:rPr sz="1275" b="1">
                <a:solidFill>
                  <a:srgbClr val="1167B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FCE52-35A3-4CDE-BB4C-1A0DF674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資料切分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CBEBE-C5B2-4168-8452-108643B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67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訓練集建模、驗證集選參數、測試集只做最終評估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39872-A2FF-4375-8D66-C36822D7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9825"/>
            <a:ext cx="32385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730B5-2A93-4DD1-AD97-9A0F481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765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67B1"/>
                </a:solidFill>
              </a:defRPr>
            </a:pPr>
            <a:r>
              <a:rPr sz="1275" b="1">
                <a:solidFill>
                  <a:srgbClr val="1167B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651CC-5B82-4E3E-8F7E-8E8E61C6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指標控制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A27C8-BC81-491D-90A2-597BB24F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以 Macro F1 與類別 F1 揭露多數類別偏誤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C1619-3E54-424A-85BE-79A9C4D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3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B7753-FB51-4C94-A307-27AB5500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02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54D00"/>
                </a:solidFill>
              </a:defRPr>
            </a:pPr>
            <a:r>
              <a:rPr sz="1425" b="1">
                <a:solidFill>
                  <a:srgbClr val="754D00"/>
                </a:solidFill>
              </a:rPr>
              <a:t>限制：法律理由、請求類型與語境仍可能間接反映結果，因此結論限縮為「分類效果」。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FA355-2CF6-4D5A-946A-4C7ACCA8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7CC43-D0E9-484E-A753-E4779518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崇越論文大賞｜11</a:t>
            </a:r>
          </a:p>
        </p:txBody>
      </p:sp>
    </p:spTree>
    <p:extLst>
      <p:ext uri="{BB962C8B-B14F-4D97-AF65-F5344CB8AC3E}">
        <p14:creationId xmlns:p14="http://schemas.microsoft.com/office/powerpoint/2010/main" val="546593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8A778-AC2C-44F6-9D39-4AA3F7A6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A3D9A-14CB-4C8B-A5BC-6EF8761C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為什麼 Direct SVM 反而優於 MNIR？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5147E-3955-4C25-AEA6-9E370BB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四類案件方向一致，但原因仍應視為待進一步驗證的解釋。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AE34C-8948-4970-8E07-27F59F8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A021C-7EFB-4BE4-916C-B7994512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85775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FC8CC-0594-4186-8034-BA3375B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67B1"/>
                </a:solidFill>
              </a:defRPr>
            </a:pPr>
            <a:r>
              <a:rPr sz="1350" b="1">
                <a:solidFill>
                  <a:srgbClr val="1167B1"/>
                </a:solidFill>
              </a:rPr>
              <a:t>可能機制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ABDBF-9FFF-4145-A8B7-1B424010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14675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2540"/>
                </a:solidFill>
              </a:defRPr>
            </a:pPr>
            <a:r>
              <a:rPr sz="2175" b="1">
                <a:solidFill>
                  <a:srgbClr val="0A2540"/>
                </a:solidFill>
              </a:rPr>
              <a:t>卡方選詞後的稀疏特徵</a:t>
            </a:r>
          </a:p>
          <a:p xmlns:a="http://schemas.openxmlformats.org/drawingml/2006/main">
            <a:pPr algn="l">
              <a:defRPr sz="2175" b="1">
                <a:solidFill>
                  <a:srgbClr val="0A2540"/>
                </a:solidFill>
              </a:defRPr>
            </a:pPr>
            <a:r>
              <a:rPr sz="2175" b="1">
                <a:solidFill>
                  <a:srgbClr val="0A2540"/>
                </a:solidFill>
              </a:rPr>
              <a:t>已保留足夠的判別訊號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0557C-AF5F-4F8B-BADF-77F0B68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直接建模可保留詞彙層級差異。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28817-BEA6-483F-81B0-616A744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552450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8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C42B8-828D-4C03-A5DB-4B87A02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518B"/>
                </a:solidFill>
              </a:defRPr>
            </a:pPr>
            <a:r>
              <a:rPr sz="1350" b="1">
                <a:solidFill>
                  <a:srgbClr val="79518B"/>
                </a:solidFill>
              </a:rPr>
              <a:t>可能機制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E10CF-3640-4F87-A032-0663B51E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2540"/>
                </a:solidFill>
              </a:defRPr>
            </a:pPr>
            <a:r>
              <a:rPr sz="2175" b="1">
                <a:solidFill>
                  <a:srgbClr val="0A2540"/>
                </a:solidFill>
              </a:rPr>
              <a:t>MNIR 的低維轉換可能壓縮</a:t>
            </a:r>
          </a:p>
          <a:p xmlns:a="http://schemas.openxmlformats.org/drawingml/2006/main">
            <a:pPr algn="l">
              <a:defRPr sz="2175" b="1">
                <a:solidFill>
                  <a:srgbClr val="0A2540"/>
                </a:solidFill>
              </a:defRPr>
            </a:pPr>
            <a:r>
              <a:rPr sz="2175" b="1">
                <a:solidFill>
                  <a:srgbClr val="0A2540"/>
                </a:solidFill>
              </a:rPr>
              <a:t>少數類別的細微信號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EB847-18FF-4149-B2FB-866A1D9F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這是合理推論，尚需權重與重複抽樣驗證。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10403-F9BA-4F26-B576-B6A2E905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2540"/>
                </a:solidFill>
              </a:defRPr>
            </a:pPr>
            <a:r>
              <a:rPr sz="1875" b="1">
                <a:solidFill>
                  <a:srgbClr val="0A2540"/>
                </a:solidFill>
              </a:rPr>
              <a:t>研究訊息：新方法必須先證明它確實勝過可解釋的強基準。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73C28-2A3F-411C-B6D1-D5850EA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E9764-3137-47BE-AD4F-7FFDE0CF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崇越論文大賞｜12</a:t>
            </a:r>
          </a:p>
        </p:txBody>
      </p:sp>
    </p:spTree>
    <p:extLst>
      <p:ext uri="{BB962C8B-B14F-4D97-AF65-F5344CB8AC3E}">
        <p14:creationId xmlns:p14="http://schemas.microsoft.com/office/powerpoint/2010/main" val="22794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E1949-C78D-4FAC-B4FE-6921263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4982D-1662-4B00-807C-CF1A5BCF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Macro F1 不算高，研究價值在哪裡？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492C2-A05D-4E97-93D9-3CD68D13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</a:defRPr>
            </a:pPr>
            <a:r>
              <a:rPr sz="1350" b="0">
                <a:solidFill>
                  <a:srgbClr val="536579"/>
                </a:solidFill>
              </a:rPr>
              <a:t>分數本身揭露了案件異質性與少數類別辨識的真實困難。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E730B-5E3A-422C-82FA-DD9668CC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E19A8-5C45-4A1E-B705-D47F1BE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67B1"/>
                </a:solidFill>
              </a:defRPr>
            </a:pPr>
            <a:r>
              <a:rPr sz="4050" b="1">
                <a:solidFill>
                  <a:srgbClr val="1167B1"/>
                </a:solidFill>
              </a:rPr>
              <a:t>0.380—0.654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D7B8D-2298-4027-A1C1-2F2A51D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9"/>
                </a:solidFill>
              </a:defRPr>
            </a:pPr>
            <a:r>
              <a:rPr sz="1425" b="0">
                <a:solidFill>
                  <a:srgbClr val="536579"/>
                </a:solidFill>
              </a:rPr>
              <a:t>四類案件最佳 Direct SVM 的 Macro F1 範圍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B3A56-45F6-4C59-A8EF-10FF482A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19325"/>
            <a:ext cx="5543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A4D61-FF40-4444-B6BB-C5866575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40"/>
                </a:solidFill>
              </a:defRPr>
            </a:pPr>
            <a:r>
              <a:rPr sz="1350" b="1">
                <a:solidFill>
                  <a:srgbClr val="0A2540"/>
                </a:solidFill>
              </a:rPr>
              <a:t>高於最低基準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A6DF3-2ACD-4278-B3CA-5CE8B17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907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四類案件皆不是只猜多數類別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3E883-2435-484C-B73D-EA1FCA54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86125"/>
            <a:ext cx="5543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E54C9-4730-41D5-9408-DDFDCAD9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57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40"/>
                </a:solidFill>
              </a:defRPr>
            </a:pPr>
            <a:r>
              <a:rPr sz="1350" b="1">
                <a:solidFill>
                  <a:srgbClr val="0A2540"/>
                </a:solidFill>
              </a:rPr>
              <a:t>揭露失敗位置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950CD-CB63-4099-B1ED-FCE3C884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57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Win／Mixed 的辨識困難可被量化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9E903-92F9-4F05-9B4F-E296422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52925"/>
            <a:ext cx="5543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E4A73-20FE-4582-BE58-9C6467FD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540"/>
                </a:solidFill>
              </a:defRPr>
            </a:pPr>
            <a:r>
              <a:rPr sz="1350" b="1">
                <a:solidFill>
                  <a:srgbClr val="0A2540"/>
                </a:solidFill>
              </a:rPr>
              <a:t>形成比較基準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6976A-A05D-423A-B568-F9DC821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24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後續複雜模型必須證明真正增益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92968-7E56-490E-B491-C71D80D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572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34F45-E68C-4CE2-BC8B-D056749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誠實呈現限制，本身就是可重複研究與可靠法律科技的起點。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4950B-3208-4601-9A85-56EB7858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899B"/>
                </a:solidFill>
              </a:defRPr>
            </a:pPr>
            <a:r>
              <a:rPr sz="750" b="0">
                <a:solidFill>
                  <a:srgbClr val="77899B"/>
                </a:solidFill>
              </a:rPr>
              <a:t>資料來源：本研究整理；模型結果採移除明顯裁判結果詞彙後之測試集結果。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52DE8-A040-4963-9186-DDBAF7F3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崇越論文大賞｜13</a:t>
            </a:r>
          </a:p>
        </p:txBody>
      </p:sp>
    </p:spTree>
    <p:extLst>
      <p:ext uri="{BB962C8B-B14F-4D97-AF65-F5344CB8AC3E}">
        <p14:creationId xmlns:p14="http://schemas.microsoft.com/office/powerpoint/2010/main" val="1838321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22F47-D122-4D9E-AD94-82C386C3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7B1"/>
                </a:solidFill>
              </a:defRPr>
            </a:pPr>
            <a:r>
              <a:rPr sz="975" b="1">
                <a:solidFill>
                  <a:srgbClr val="1167B1"/>
                </a:solidFill>
              </a:rPr>
              <a:t>Q&amp;A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C9154-F639-4AD4-82F5-317E830B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下一步不是只換更複雜的模型，而是改善最弱的環節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EB31C-7D1B-4430-AA9D-D8473972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7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45D35-9132-4BE4-B8FA-1184ABF2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D1AAD-5179-44B9-8E67-2F94AF1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7B1"/>
                </a:solidFill>
              </a:defRPr>
            </a:pPr>
            <a:r>
              <a:rPr sz="1125" b="1">
                <a:solidFill>
                  <a:srgbClr val="1167B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5085E-52CA-4ADF-BDB5-AF6DF652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少數類別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4989C-B382-4F7F-A9EF-40DF64F2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28925"/>
            <a:ext cx="366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class weighting、resampling、代價敏感學習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98F69-7DC3-4675-91EB-6F6AEC1A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8E85A-651F-4A2F-AC68-2A6C83A0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7B1"/>
                </a:solidFill>
              </a:defRPr>
            </a:pPr>
            <a:r>
              <a:rPr sz="1125" b="1">
                <a:solidFill>
                  <a:srgbClr val="1167B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36177-7CD2-4D12-A9C8-0A64854A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479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文本結構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BEA6D-C911-4F08-B50A-8319F4C6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366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分離事實、主張與理由，進行段落級建模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AEA6E-3538-4558-8399-79D0919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12E2D-F25C-4CD2-88C3-D57768BC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7B1"/>
                </a:solidFill>
              </a:defRPr>
            </a:pPr>
            <a:r>
              <a:rPr sz="1125" b="1">
                <a:solidFill>
                  <a:srgbClr val="1167B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4271F-9FC6-4B87-8284-EF6A094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00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模型比較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4ABC4-D8D4-466A-8A2C-C18ABB8C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366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以預訓練語言模型對照 Direct SVM 強基準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C3DF6-D792-409C-B037-73750195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E8F16-3A80-4272-BBA7-1F5BEA92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7B1"/>
                </a:solidFill>
              </a:defRPr>
            </a:pPr>
            <a:r>
              <a:rPr sz="1125" b="1">
                <a:solidFill>
                  <a:srgbClr val="1167B1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BCB15-8378-4913-865B-B10CC4C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002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540"/>
                </a:solidFill>
              </a:defRPr>
            </a:pPr>
            <a:r>
              <a:rPr sz="1650" b="1">
                <a:solidFill>
                  <a:srgbClr val="0A2540"/>
                </a:solidFill>
              </a:rPr>
              <a:t>外部驗證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07A45-900F-44E0-B8CC-91C2058D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91025"/>
            <a:ext cx="366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</a:defRPr>
            </a:pPr>
            <a:r>
              <a:rPr sz="1275" b="0">
                <a:solidFill>
                  <a:srgbClr val="536579"/>
                </a:solidFill>
              </a:rPr>
              <a:t>跨年度或時間外測試，檢驗模型穩定性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F14DE-D3DE-4AB7-B541-84F67A81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判斷標準始終一致：是否提升 Macro F1、少數類別辨識與可解釋性。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52384-76D6-4E11-9448-83B27E19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99B"/>
                </a:solidFill>
              </a:defRPr>
            </a:pPr>
            <a:r>
              <a:rPr sz="825" b="0">
                <a:solidFill>
                  <a:srgbClr val="77899B"/>
                </a:solidFill>
              </a:rPr>
              <a:t>崇越論文大賞｜14</a:t>
            </a:r>
          </a:p>
        </p:txBody>
      </p:sp>
    </p:spTree>
    <p:extLst>
      <p:ext uri="{BB962C8B-B14F-4D97-AF65-F5344CB8AC3E}">
        <p14:creationId xmlns:p14="http://schemas.microsoft.com/office/powerpoint/2010/main" val="265023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2026-08-21T07:00:06.8160000Z</dcterms:created>
  <dcterms:modified xsi:type="dcterms:W3CDTF">2026-08-21T07:00:06.8160000Z</dcterms:modified>
</coreProperties>
</file>