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Calibri (MS) Bold" charset="1" panose="020F0702030404030204"/>
      <p:regular r:id="rId7"/>
    </p:embeddedFont>
    <p:embeddedFont>
      <p:font typeface="Arimo Bold" charset="1" panose="020B0704020202020204"/>
      <p:regular r:id="rId8"/>
    </p:embeddedFont>
    <p:embeddedFont>
      <p:font typeface="Arimo" charset="1" panose="020B0604020202020204"/>
      <p:regular r:id="rId9"/>
    </p:embeddedFont>
    <p:embeddedFont>
      <p:font typeface="Calibri (MS)" charset="1" panose="020F050202020403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78291" cy="2878293"/>
            <a:chOff x="0" y="0"/>
            <a:chExt cx="28504388" cy="3837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4387" cy="3837724"/>
            </a:xfrm>
            <a:custGeom>
              <a:avLst/>
              <a:gdLst/>
              <a:ahLst/>
              <a:cxnLst/>
              <a:rect r="r" b="b" t="t" l="l"/>
              <a:pathLst>
                <a:path h="3837724" w="28504387">
                  <a:moveTo>
                    <a:pt x="0" y="0"/>
                  </a:moveTo>
                  <a:lnTo>
                    <a:pt x="28504387" y="0"/>
                  </a:lnTo>
                  <a:lnTo>
                    <a:pt x="28504387" y="3837724"/>
                  </a:lnTo>
                  <a:lnTo>
                    <a:pt x="0" y="3837724"/>
                  </a:lnTo>
                  <a:close/>
                </a:path>
              </a:pathLst>
            </a:custGeom>
            <a:solidFill>
              <a:srgbClr val="0F3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5721" y="3726018"/>
            <a:ext cx="63217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作品簡介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8289" y="4250065"/>
            <a:ext cx="2924775" cy="36557"/>
            <a:chOff x="0" y="0"/>
            <a:chExt cx="3899700" cy="487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5118" y="4411408"/>
            <a:ext cx="6382969" cy="2547242"/>
            <a:chOff x="0" y="0"/>
            <a:chExt cx="8510626" cy="3396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10651" cy="3396361"/>
            </a:xfrm>
            <a:custGeom>
              <a:avLst/>
              <a:gdLst/>
              <a:ahLst/>
              <a:cxnLst/>
              <a:rect r="r" b="b" t="t" l="l"/>
              <a:pathLst>
                <a:path h="3396361" w="8510651">
                  <a:moveTo>
                    <a:pt x="0" y="566039"/>
                  </a:moveTo>
                  <a:cubicBezTo>
                    <a:pt x="0" y="253492"/>
                    <a:pt x="253492" y="0"/>
                    <a:pt x="566039" y="0"/>
                  </a:cubicBezTo>
                  <a:lnTo>
                    <a:pt x="7944612" y="0"/>
                  </a:lnTo>
                  <a:cubicBezTo>
                    <a:pt x="8257286" y="0"/>
                    <a:pt x="8510651" y="253492"/>
                    <a:pt x="8510651" y="566039"/>
                  </a:cubicBezTo>
                  <a:lnTo>
                    <a:pt x="8510651" y="2830322"/>
                  </a:lnTo>
                  <a:cubicBezTo>
                    <a:pt x="8510651" y="3142996"/>
                    <a:pt x="8257159" y="3396361"/>
                    <a:pt x="7944612" y="3396361"/>
                  </a:cubicBezTo>
                  <a:lnTo>
                    <a:pt x="566039" y="3396361"/>
                  </a:lnTo>
                  <a:cubicBezTo>
                    <a:pt x="253492" y="3396361"/>
                    <a:pt x="0" y="3142869"/>
                    <a:pt x="0" y="283032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6794" y="5785571"/>
            <a:ext cx="100536" cy="100536"/>
            <a:chOff x="0" y="0"/>
            <a:chExt cx="134048" cy="1340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6794" y="6249543"/>
            <a:ext cx="100536" cy="100536"/>
            <a:chOff x="0" y="0"/>
            <a:chExt cx="134048" cy="134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528265" y="3726018"/>
            <a:ext cx="63217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學習目標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00833" y="4250065"/>
            <a:ext cx="2924775" cy="36557"/>
            <a:chOff x="0" y="0"/>
            <a:chExt cx="3899700" cy="48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97661" y="4411408"/>
            <a:ext cx="6382969" cy="2547242"/>
            <a:chOff x="0" y="0"/>
            <a:chExt cx="8510626" cy="33963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10651" cy="3396361"/>
            </a:xfrm>
            <a:custGeom>
              <a:avLst/>
              <a:gdLst/>
              <a:ahLst/>
              <a:cxnLst/>
              <a:rect r="r" b="b" t="t" l="l"/>
              <a:pathLst>
                <a:path h="3396361" w="8510651">
                  <a:moveTo>
                    <a:pt x="0" y="566039"/>
                  </a:moveTo>
                  <a:cubicBezTo>
                    <a:pt x="0" y="253492"/>
                    <a:pt x="253492" y="0"/>
                    <a:pt x="566039" y="0"/>
                  </a:cubicBezTo>
                  <a:lnTo>
                    <a:pt x="7944612" y="0"/>
                  </a:lnTo>
                  <a:cubicBezTo>
                    <a:pt x="8257286" y="0"/>
                    <a:pt x="8510651" y="253492"/>
                    <a:pt x="8510651" y="566039"/>
                  </a:cubicBezTo>
                  <a:lnTo>
                    <a:pt x="8510651" y="2830322"/>
                  </a:lnTo>
                  <a:cubicBezTo>
                    <a:pt x="8510651" y="3142996"/>
                    <a:pt x="8257159" y="3396361"/>
                    <a:pt x="7944612" y="3396361"/>
                  </a:cubicBezTo>
                  <a:lnTo>
                    <a:pt x="566039" y="3396361"/>
                  </a:lnTo>
                  <a:cubicBezTo>
                    <a:pt x="253492" y="3396361"/>
                    <a:pt x="0" y="3142869"/>
                    <a:pt x="0" y="283032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729328" y="5785571"/>
            <a:ext cx="100536" cy="100536"/>
            <a:chOff x="0" y="0"/>
            <a:chExt cx="134048" cy="1340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729328" y="6352251"/>
            <a:ext cx="100536" cy="100536"/>
            <a:chOff x="0" y="0"/>
            <a:chExt cx="134048" cy="1340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160808" y="3726018"/>
            <a:ext cx="63217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理論基礎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133376" y="4250065"/>
            <a:ext cx="2924775" cy="36557"/>
            <a:chOff x="0" y="0"/>
            <a:chExt cx="3899700" cy="487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130204" y="4411408"/>
            <a:ext cx="6382969" cy="2547242"/>
            <a:chOff x="0" y="0"/>
            <a:chExt cx="8510626" cy="33963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10651" cy="3396361"/>
            </a:xfrm>
            <a:custGeom>
              <a:avLst/>
              <a:gdLst/>
              <a:ahLst/>
              <a:cxnLst/>
              <a:rect r="r" b="b" t="t" l="l"/>
              <a:pathLst>
                <a:path h="3396361" w="8510651">
                  <a:moveTo>
                    <a:pt x="0" y="566039"/>
                  </a:moveTo>
                  <a:cubicBezTo>
                    <a:pt x="0" y="253492"/>
                    <a:pt x="253492" y="0"/>
                    <a:pt x="566039" y="0"/>
                  </a:cubicBezTo>
                  <a:lnTo>
                    <a:pt x="7944612" y="0"/>
                  </a:lnTo>
                  <a:cubicBezTo>
                    <a:pt x="8257286" y="0"/>
                    <a:pt x="8510651" y="253492"/>
                    <a:pt x="8510651" y="566039"/>
                  </a:cubicBezTo>
                  <a:lnTo>
                    <a:pt x="8510651" y="2830322"/>
                  </a:lnTo>
                  <a:cubicBezTo>
                    <a:pt x="8510651" y="3142996"/>
                    <a:pt x="8257159" y="3396361"/>
                    <a:pt x="7944612" y="3396361"/>
                  </a:cubicBezTo>
                  <a:lnTo>
                    <a:pt x="566039" y="3396361"/>
                  </a:lnTo>
                  <a:cubicBezTo>
                    <a:pt x="253492" y="3396361"/>
                    <a:pt x="0" y="3142869"/>
                    <a:pt x="0" y="283032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361871" y="5785571"/>
            <a:ext cx="100536" cy="100536"/>
            <a:chOff x="0" y="0"/>
            <a:chExt cx="134048" cy="1340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361871" y="6352251"/>
            <a:ext cx="100536" cy="100536"/>
            <a:chOff x="0" y="0"/>
            <a:chExt cx="134048" cy="1340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95721" y="7201110"/>
            <a:ext cx="90850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3199" spc="4">
                <a:solidFill>
                  <a:srgbClr val="1F6F5B"/>
                </a:solidFill>
                <a:latin typeface="Arimo Bold"/>
                <a:ea typeface="Arimo Bold"/>
                <a:cs typeface="Arimo Bold"/>
                <a:sym typeface="Arimo Bold"/>
              </a:rPr>
              <a:t>AI 協作歷程與原始學習單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289" y="7677541"/>
            <a:ext cx="2924775" cy="36557"/>
            <a:chOff x="0" y="0"/>
            <a:chExt cx="3899700" cy="487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65118" y="7765761"/>
            <a:ext cx="19657190" cy="9968865"/>
            <a:chOff x="0" y="0"/>
            <a:chExt cx="26209587" cy="132918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209625" cy="13291820"/>
            </a:xfrm>
            <a:custGeom>
              <a:avLst/>
              <a:gdLst/>
              <a:ahLst/>
              <a:cxnLst/>
              <a:rect r="r" b="b" t="t" l="l"/>
              <a:pathLst>
                <a:path h="13291820" w="26209625">
                  <a:moveTo>
                    <a:pt x="0" y="2215388"/>
                  </a:moveTo>
                  <a:cubicBezTo>
                    <a:pt x="0" y="991870"/>
                    <a:pt x="991870" y="0"/>
                    <a:pt x="2215388" y="0"/>
                  </a:cubicBezTo>
                  <a:lnTo>
                    <a:pt x="23994238" y="0"/>
                  </a:lnTo>
                  <a:cubicBezTo>
                    <a:pt x="25217755" y="0"/>
                    <a:pt x="26209625" y="991870"/>
                    <a:pt x="26209625" y="2215388"/>
                  </a:cubicBezTo>
                  <a:lnTo>
                    <a:pt x="26209625" y="11076432"/>
                  </a:lnTo>
                  <a:cubicBezTo>
                    <a:pt x="26209625" y="12299950"/>
                    <a:pt x="25217755" y="13291820"/>
                    <a:pt x="23994238" y="13291820"/>
                  </a:cubicBezTo>
                  <a:lnTo>
                    <a:pt x="2215388" y="13291820"/>
                  </a:lnTo>
                  <a:cubicBezTo>
                    <a:pt x="991870" y="13291820"/>
                    <a:pt x="0" y="12299950"/>
                    <a:pt x="0" y="1107643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212586" y="8637232"/>
            <a:ext cx="1835514" cy="367162"/>
            <a:chOff x="0" y="0"/>
            <a:chExt cx="2339823" cy="468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212586" y="9509236"/>
            <a:ext cx="1835514" cy="367162"/>
            <a:chOff x="0" y="0"/>
            <a:chExt cx="2339823" cy="468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212586" y="10381249"/>
            <a:ext cx="1835514" cy="367162"/>
            <a:chOff x="0" y="0"/>
            <a:chExt cx="2339823" cy="468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212586" y="11253252"/>
            <a:ext cx="1835514" cy="367162"/>
            <a:chOff x="0" y="0"/>
            <a:chExt cx="2339823" cy="468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212586" y="12795895"/>
            <a:ext cx="100536" cy="100536"/>
            <a:chOff x="0" y="0"/>
            <a:chExt cx="134048" cy="1340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212586" y="13326018"/>
            <a:ext cx="100536" cy="100536"/>
            <a:chOff x="0" y="0"/>
            <a:chExt cx="134048" cy="1340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212586" y="13856132"/>
            <a:ext cx="100536" cy="100536"/>
            <a:chOff x="0" y="0"/>
            <a:chExt cx="134048" cy="1340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209414" y="14483610"/>
            <a:ext cx="5992997" cy="2702624"/>
            <a:chOff x="0" y="0"/>
            <a:chExt cx="7990662" cy="36034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90713" cy="3603498"/>
            </a:xfrm>
            <a:custGeom>
              <a:avLst/>
              <a:gdLst/>
              <a:ahLst/>
              <a:cxnLst/>
              <a:rect r="r" b="b" t="t" l="l"/>
              <a:pathLst>
                <a:path h="3603498" w="7990713">
                  <a:moveTo>
                    <a:pt x="0" y="600583"/>
                  </a:moveTo>
                  <a:cubicBezTo>
                    <a:pt x="0" y="268859"/>
                    <a:pt x="268859" y="0"/>
                    <a:pt x="600583" y="0"/>
                  </a:cubicBezTo>
                  <a:lnTo>
                    <a:pt x="7390130" y="0"/>
                  </a:lnTo>
                  <a:cubicBezTo>
                    <a:pt x="7721854" y="0"/>
                    <a:pt x="7990713" y="268859"/>
                    <a:pt x="7990713" y="600583"/>
                  </a:cubicBezTo>
                  <a:lnTo>
                    <a:pt x="7990713" y="3002915"/>
                  </a:lnTo>
                  <a:cubicBezTo>
                    <a:pt x="7990713" y="3334639"/>
                    <a:pt x="7721854" y="3603498"/>
                    <a:pt x="7390130" y="3603498"/>
                  </a:cubicBezTo>
                  <a:lnTo>
                    <a:pt x="600583" y="3603498"/>
                  </a:lnTo>
                  <a:cubicBezTo>
                    <a:pt x="268859" y="3603498"/>
                    <a:pt x="0" y="3334639"/>
                    <a:pt x="0" y="3002915"/>
                  </a:cubicBezTo>
                  <a:close/>
                </a:path>
              </a:pathLst>
            </a:custGeom>
            <a:solidFill>
              <a:srgbClr val="E6F1ED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441081" y="15382494"/>
            <a:ext cx="100536" cy="100536"/>
            <a:chOff x="0" y="0"/>
            <a:chExt cx="134048" cy="1340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441081" y="15949174"/>
            <a:ext cx="100536" cy="100536"/>
            <a:chOff x="0" y="0"/>
            <a:chExt cx="134048" cy="1340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895721" y="18029996"/>
            <a:ext cx="360110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研究成果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868289" y="18554052"/>
            <a:ext cx="2924775" cy="36557"/>
            <a:chOff x="0" y="0"/>
            <a:chExt cx="3899700" cy="4874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65118" y="18660561"/>
            <a:ext cx="9420473" cy="3799418"/>
            <a:chOff x="0" y="0"/>
            <a:chExt cx="12560630" cy="50658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560553" cy="5065903"/>
            </a:xfrm>
            <a:custGeom>
              <a:avLst/>
              <a:gdLst/>
              <a:ahLst/>
              <a:cxnLst/>
              <a:rect r="r" b="b" t="t" l="l"/>
              <a:pathLst>
                <a:path h="5065903" w="12560553">
                  <a:moveTo>
                    <a:pt x="0" y="844296"/>
                  </a:moveTo>
                  <a:cubicBezTo>
                    <a:pt x="0" y="378079"/>
                    <a:pt x="378079" y="0"/>
                    <a:pt x="844296" y="0"/>
                  </a:cubicBezTo>
                  <a:lnTo>
                    <a:pt x="11716258" y="0"/>
                  </a:lnTo>
                  <a:cubicBezTo>
                    <a:pt x="12182602" y="0"/>
                    <a:pt x="12560553" y="378079"/>
                    <a:pt x="12560553" y="844296"/>
                  </a:cubicBezTo>
                  <a:lnTo>
                    <a:pt x="12560553" y="4221607"/>
                  </a:lnTo>
                  <a:cubicBezTo>
                    <a:pt x="12560553" y="4687951"/>
                    <a:pt x="12182475" y="5065903"/>
                    <a:pt x="11716258" y="5065903"/>
                  </a:cubicBezTo>
                  <a:lnTo>
                    <a:pt x="844296" y="5065903"/>
                  </a:lnTo>
                  <a:cubicBezTo>
                    <a:pt x="378079" y="5065903"/>
                    <a:pt x="0" y="4687824"/>
                    <a:pt x="0" y="4221607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aphicFrame>
        <p:nvGraphicFramePr>
          <p:cNvPr name="Table 65" id="65"/>
          <p:cNvGraphicFramePr>
            <a:graphicFrameLocks noGrp="true"/>
          </p:cNvGraphicFramePr>
          <p:nvPr/>
        </p:nvGraphicFramePr>
        <p:xfrm>
          <a:off x="1142491" y="19029328"/>
          <a:ext cx="7108832" cy="2490788"/>
        </p:xfrm>
        <a:graphic>
          <a:graphicData uri="http://schemas.openxmlformats.org/drawingml/2006/table">
            <a:tbl>
              <a:tblPr/>
              <a:tblGrid>
                <a:gridCol w="2415180"/>
                <a:gridCol w="2369611"/>
                <a:gridCol w="2324041"/>
              </a:tblGrid>
              <a:tr h="639398"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指標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B"/>
                    </a:solidFill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學生紀錄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B"/>
                    </a:solidFill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專業解讀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B"/>
                    </a:solidFill>
                  </a:tcPr>
                </a:tc>
              </a:tr>
              <a:tr h="620311"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IV 值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34.8942%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市場價格反推出的波動率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311"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收斂次數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二分法 20 次／牛頓法 4 次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牛頓法效率較高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768"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求解精確度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二分法 10^-6／牛頓法約 0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wrap="square"/>
                    <a:lstStyle/>
                    <a:p>
                      <a:r>
                        <a:rPr sz="1350">
                          <a:latin typeface="Microsoft JhengHei"/>
                        </a:rPr>
                        <a:t>兩方法可交叉驗證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6" id="66"/>
          <p:cNvSpPr txBox="true"/>
          <p:nvPr/>
        </p:nvSpPr>
        <p:spPr>
          <a:xfrm rot="0">
            <a:off x="10492645" y="18029996"/>
            <a:ext cx="451509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反思與學習收穫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0465213" y="18554052"/>
            <a:ext cx="2924775" cy="36557"/>
            <a:chOff x="0" y="0"/>
            <a:chExt cx="3899700" cy="4874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462041" y="18660561"/>
            <a:ext cx="6358595" cy="3799418"/>
            <a:chOff x="0" y="0"/>
            <a:chExt cx="8478126" cy="506589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78012" cy="5065903"/>
            </a:xfrm>
            <a:custGeom>
              <a:avLst/>
              <a:gdLst/>
              <a:ahLst/>
              <a:cxnLst/>
              <a:rect r="r" b="b" t="t" l="l"/>
              <a:pathLst>
                <a:path h="5065903" w="8478012">
                  <a:moveTo>
                    <a:pt x="0" y="844296"/>
                  </a:moveTo>
                  <a:cubicBezTo>
                    <a:pt x="0" y="378079"/>
                    <a:pt x="378079" y="0"/>
                    <a:pt x="844296" y="0"/>
                  </a:cubicBezTo>
                  <a:lnTo>
                    <a:pt x="7633715" y="0"/>
                  </a:lnTo>
                  <a:cubicBezTo>
                    <a:pt x="8100060" y="0"/>
                    <a:pt x="8478012" y="378079"/>
                    <a:pt x="8478012" y="844296"/>
                  </a:cubicBezTo>
                  <a:lnTo>
                    <a:pt x="8478012" y="4221607"/>
                  </a:lnTo>
                  <a:cubicBezTo>
                    <a:pt x="8478012" y="4687951"/>
                    <a:pt x="8099933" y="5065903"/>
                    <a:pt x="7633715" y="5065903"/>
                  </a:cubicBezTo>
                  <a:lnTo>
                    <a:pt x="844296" y="5065903"/>
                  </a:lnTo>
                  <a:cubicBezTo>
                    <a:pt x="378079" y="5065903"/>
                    <a:pt x="0" y="4687824"/>
                    <a:pt x="0" y="4221607"/>
                  </a:cubicBezTo>
                  <a:close/>
                </a:path>
              </a:pathLst>
            </a:custGeom>
            <a:solidFill>
              <a:srgbClr val="E6F1ED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739418" y="19157290"/>
            <a:ext cx="100536" cy="100536"/>
            <a:chOff x="0" y="0"/>
            <a:chExt cx="134048" cy="1340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739418" y="19851919"/>
            <a:ext cx="100536" cy="100536"/>
            <a:chOff x="0" y="0"/>
            <a:chExt cx="134048" cy="1340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739418" y="20546558"/>
            <a:ext cx="100536" cy="100536"/>
            <a:chOff x="0" y="0"/>
            <a:chExt cx="134048" cy="1340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739418" y="21241188"/>
            <a:ext cx="100536" cy="100536"/>
            <a:chOff x="0" y="0"/>
            <a:chExt cx="134048" cy="1340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7119092" y="18029996"/>
            <a:ext cx="350970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資訊延伸 QR Code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7091660" y="18554052"/>
            <a:ext cx="2924775" cy="36557"/>
            <a:chOff x="0" y="0"/>
            <a:chExt cx="3899700" cy="487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65118" y="22831454"/>
            <a:ext cx="19657190" cy="5753254"/>
            <a:chOff x="0" y="0"/>
            <a:chExt cx="26209587" cy="767100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209498" cy="7670923"/>
            </a:xfrm>
            <a:custGeom>
              <a:avLst/>
              <a:gdLst/>
              <a:ahLst/>
              <a:cxnLst/>
              <a:rect r="r" b="b" t="t" l="l"/>
              <a:pathLst>
                <a:path h="7670923" w="26209498">
                  <a:moveTo>
                    <a:pt x="0" y="1278510"/>
                  </a:moveTo>
                  <a:cubicBezTo>
                    <a:pt x="0" y="572443"/>
                    <a:pt x="532638" y="0"/>
                    <a:pt x="1189609" y="0"/>
                  </a:cubicBezTo>
                  <a:lnTo>
                    <a:pt x="25019890" y="0"/>
                  </a:lnTo>
                  <a:cubicBezTo>
                    <a:pt x="25676861" y="0"/>
                    <a:pt x="26209498" y="572443"/>
                    <a:pt x="26209498" y="1278510"/>
                  </a:cubicBezTo>
                  <a:lnTo>
                    <a:pt x="26209498" y="6392413"/>
                  </a:lnTo>
                  <a:cubicBezTo>
                    <a:pt x="26209498" y="7098481"/>
                    <a:pt x="25676861" y="7670923"/>
                    <a:pt x="25019890" y="7670923"/>
                  </a:cubicBezTo>
                  <a:lnTo>
                    <a:pt x="1189609" y="7670923"/>
                  </a:lnTo>
                  <a:cubicBezTo>
                    <a:pt x="532638" y="7671056"/>
                    <a:pt x="0" y="7098617"/>
                    <a:pt x="0" y="6392413"/>
                  </a:cubicBezTo>
                  <a:close/>
                </a:path>
              </a:pathLst>
            </a:custGeom>
            <a:solidFill>
              <a:srgbClr val="0F3D34"/>
            </a:solidFill>
            <a:ln w="6347" cap="sq">
              <a:solidFill>
                <a:srgbClr val="0F3D34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42495" y="25518675"/>
            <a:ext cx="100536" cy="100536"/>
            <a:chOff x="0" y="0"/>
            <a:chExt cx="134048" cy="1340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42495" y="26021376"/>
            <a:ext cx="100536" cy="100536"/>
            <a:chOff x="0" y="0"/>
            <a:chExt cx="134048" cy="1340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42495" y="26524067"/>
            <a:ext cx="100536" cy="100536"/>
            <a:chOff x="0" y="0"/>
            <a:chExt cx="134048" cy="1340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68289" y="29247770"/>
            <a:ext cx="19650847" cy="18278"/>
            <a:chOff x="0" y="0"/>
            <a:chExt cx="26201129" cy="243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201117" cy="24384"/>
            </a:xfrm>
            <a:custGeom>
              <a:avLst/>
              <a:gdLst/>
              <a:ahLst/>
              <a:cxnLst/>
              <a:rect r="r" b="b" t="t" l="l"/>
              <a:pathLst>
                <a:path h="24384" w="26201117">
                  <a:moveTo>
                    <a:pt x="0" y="0"/>
                  </a:moveTo>
                  <a:lnTo>
                    <a:pt x="26201117" y="0"/>
                  </a:lnTo>
                  <a:lnTo>
                    <a:pt x="26201117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D9DFD8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17581740" y="18719653"/>
            <a:ext cx="2264532" cy="2264532"/>
          </a:xfrm>
          <a:custGeom>
            <a:avLst/>
            <a:gdLst/>
            <a:ahLst/>
            <a:cxnLst/>
            <a:rect r="r" b="b" t="t" l="l"/>
            <a:pathLst>
              <a:path h="2264532" w="2264532">
                <a:moveTo>
                  <a:pt x="0" y="0"/>
                </a:moveTo>
                <a:lnTo>
                  <a:pt x="2264532" y="0"/>
                </a:lnTo>
                <a:lnTo>
                  <a:pt x="2264532" y="2264532"/>
                </a:lnTo>
                <a:lnTo>
                  <a:pt x="0" y="2264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3" id="93"/>
          <p:cNvSpPr txBox="true"/>
          <p:nvPr/>
        </p:nvSpPr>
        <p:spPr>
          <a:xfrm rot="0">
            <a:off x="895721" y="410918"/>
            <a:ext cx="7714078" cy="49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b="true" sz="2398" spc="3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114-2 生成式 AI 融入專業課程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95721" y="910533"/>
            <a:ext cx="9085059" cy="81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39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學生優秀作品成果海報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95721" y="1649235"/>
            <a:ext cx="13198030" cy="61275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998" b="1">
                <a:solidFill>
                  <a:srgbClr val="FFFFFF"/>
                </a:solidFill>
                <a:latin typeface="Arimo Bold"/>
              </a:rPr>
              <a:t>AI 輔助金融資料探勘：隱含波動率之計算與優化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68289" y="2230593"/>
            <a:ext cx="186451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課程/作品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95721" y="2944968"/>
            <a:ext cx="581200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F2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金融資料探勘與 AI Prompt 優化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989944" y="2373468"/>
            <a:ext cx="186451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學生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989944" y="2944968"/>
            <a:ext cx="3235509" cy="5048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999" b="1">
                <a:solidFill>
                  <a:srgbClr val="1F2933"/>
                </a:solidFill>
                <a:latin typeface="Calibri (MS) Bold"/>
              </a:rPr>
              <a:t>黃柏崴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554523" y="2373468"/>
            <a:ext cx="186451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指導教授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554523" y="2944968"/>
            <a:ext cx="32355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F2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蕭義龍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24226" y="4595460"/>
            <a:ext cx="6123861" cy="7334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99">
                <a:solidFill>
                  <a:srgbClr val="4B5563"/>
                </a:solidFill>
                <a:latin typeface="Calibri (MS)"/>
              </a:rPr>
              <a:t>學生以 Black-Scholes 模型建立買權定價情境，透過 AI 產生 Python 程式，反推隱含波動率並比較數值方法。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52721" y="5673976"/>
            <a:ext cx="5895365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49">
                <a:solidFill>
                  <a:srgbClr val="1F2933"/>
                </a:solidFill>
                <a:latin typeface="Calibri (MS)"/>
              </a:rPr>
              <a:t>核心任務：買權價格、BS 模型、隱含波動率。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52721" y="6137939"/>
            <a:ext cx="5636266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49">
                <a:solidFill>
                  <a:srgbClr val="1F2933"/>
                </a:solidFill>
                <a:latin typeface="Calibri (MS)"/>
              </a:rPr>
              <a:t>成果重點：比較二分法與牛頓法的收斂效率。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756760" y="4595460"/>
            <a:ext cx="5864762" cy="7334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99">
                <a:solidFill>
                  <a:srgbClr val="4B5563"/>
                </a:solidFill>
                <a:latin typeface="Calibri (MS)"/>
              </a:rPr>
              <a:t>將模糊的 IV 計算需求，改寫成包含角色、任務、參數、方法與輸出格式的可執行 Prompt。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985265" y="5673976"/>
            <a:ext cx="5636266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49">
                <a:solidFill>
                  <a:srgbClr val="1F2933"/>
                </a:solidFill>
                <a:latin typeface="Calibri (MS)"/>
              </a:rPr>
              <a:t>掌握 S、K、r、T、C 等選擇權定價參數。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7985265" y="6240647"/>
            <a:ext cx="5636266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49">
                <a:solidFill>
                  <a:srgbClr val="1F2933"/>
                </a:solidFill>
                <a:latin typeface="Calibri (MS)"/>
              </a:rPr>
              <a:t>理解二分法與牛頓法在收斂速度與穩定性上的差異。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4389303" y="4595460"/>
            <a:ext cx="5864762" cy="7334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99">
                <a:solidFill>
                  <a:srgbClr val="4B5563"/>
                </a:solidFill>
                <a:latin typeface="Calibri (MS)"/>
              </a:rPr>
              <a:t>隱含波動率是使 Black-Scholes 理論價格等於市場價格的波動率，可反映市場對風險的預期。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4617798" y="5673976"/>
            <a:ext cx="5636266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49">
                <a:solidFill>
                  <a:srgbClr val="1F2933"/>
                </a:solidFill>
                <a:latin typeface="Calibri (MS)"/>
              </a:rPr>
              <a:t>公式重點：BS 模型、f(sigma)=C-BS(sigma)、Vega。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4617798" y="6240647"/>
            <a:ext cx="5636266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49">
                <a:solidFill>
                  <a:srgbClr val="1F2933"/>
                </a:solidFill>
                <a:latin typeface="Calibri (MS)"/>
              </a:rPr>
              <a:t>查核重點：初始值、誤差門檻、迭代次數與收斂條件。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791443" y="16916086"/>
            <a:ext cx="5703294" cy="3429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999" b="1">
                <a:solidFill>
                  <a:srgbClr val="4B5563"/>
                </a:solidFill>
                <a:latin typeface="Calibri (MS) Bold"/>
              </a:rPr>
              <a:t>圖 1：任務設定、Prompt 迭代與方法要求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8070556" y="16916086"/>
            <a:ext cx="5703294" cy="3429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999" b="1">
                <a:solidFill>
                  <a:srgbClr val="4B5563"/>
                </a:solidFill>
                <a:latin typeface="Calibri (MS) Bold"/>
              </a:rPr>
              <a:t>圖 2：IV 結果、方法比較與學習反思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4240018" y="8014945"/>
            <a:ext cx="59317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b="true" sz="3099" spc="4">
                <a:solidFill>
                  <a:srgbClr val="1F6F5B"/>
                </a:solidFill>
                <a:latin typeface="Arimo Bold"/>
                <a:ea typeface="Arimo Bold"/>
                <a:cs typeface="Arimo Bold"/>
                <a:sym typeface="Arimo Bold"/>
              </a:rPr>
              <a:t>AI 協作路徑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4313141" y="8682161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 任務定義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6177679" y="8580472"/>
            <a:ext cx="3994118" cy="6762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建立買權定價情境，指定 S=100、K=110、r=0.03、T=0.25、C=3。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4313141" y="9550460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 Prompt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6177679" y="9448762"/>
            <a:ext cx="3994118" cy="6762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加入量化研究員角色，要求使用 BS 模型反推 IV。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4313141" y="10418750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 方法細化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6177679" y="10317061"/>
            <a:ext cx="3994118" cy="6762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指定二分法與牛頓法，並比較收斂次數與誤差。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4313141" y="11287039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 結果解讀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6177679" y="11185350"/>
            <a:ext cx="3994118" cy="6762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將 IV、迭代次數與精確度整理為方法比較。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4240018" y="12201420"/>
            <a:ext cx="593178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3">
                <a:solidFill>
                  <a:srgbClr val="1F6F5B"/>
                </a:solidFill>
                <a:latin typeface="Arimo Bold"/>
                <a:ea typeface="Arimo Bold"/>
                <a:cs typeface="Arimo Bold"/>
                <a:sym typeface="Arimo Bold"/>
              </a:rPr>
              <a:t>Prompt 最佳化重點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4468513" y="12684300"/>
            <a:ext cx="5703294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指定 AI 為量化研究員。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4468513" y="13214413"/>
            <a:ext cx="5703294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明確列出 S、K、r、T、C 與買權價格。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4468513" y="13744527"/>
            <a:ext cx="5703294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要求輸出二分法、牛頓法、誤差與迭代次數。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468513" y="14695084"/>
            <a:ext cx="547478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可展示的學習證據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4697018" y="15270899"/>
            <a:ext cx="5246294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99">
                <a:solidFill>
                  <a:srgbClr val="1F2933"/>
                </a:solidFill>
                <a:latin typeface="Calibri (MS)"/>
              </a:rPr>
              <a:t>手寫內容呈現從簡單提問到完整模型條件的修正。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697018" y="15837570"/>
            <a:ext cx="5246294" cy="381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99">
                <a:solidFill>
                  <a:srgbClr val="1F2933"/>
                </a:solidFill>
                <a:latin typeface="Calibri (MS)"/>
              </a:rPr>
              <a:t>成果能說明不同數值方法的效率差異。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169927" y="21604862"/>
            <a:ext cx="8628069" cy="6762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4B5563"/>
                </a:solidFill>
                <a:latin typeface="Calibri (MS)"/>
              </a:rPr>
              <a:t>專業觀察：學生能從同一個 IV 反推任務中比較數值方法；牛頓法收斂較快，二分法較穩定，兩者可互相驗證結果。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995346" y="19083785"/>
            <a:ext cx="5474789" cy="3238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Arimo"/>
              </a:rPr>
              <a:t>AI 能快速產生 BS 模型與 IV 反推程式。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995346" y="19778424"/>
            <a:ext cx="6062805" cy="3238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Arimo"/>
              </a:rPr>
              <a:t>牛頓法約 4 次收斂，明顯快於二分法。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0995346" y="20434954"/>
            <a:ext cx="5825290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二分法較穩定，適合先確認解的合理範圍。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0995346" y="21129593"/>
            <a:ext cx="5474789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19">
                <a:solidFill>
                  <a:srgbClr val="1F2933"/>
                </a:solidFill>
                <a:latin typeface="Calibri (MS)"/>
              </a:rPr>
              <a:t>Prompt 必須指定模型、參數、方法與輸出格式。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7393298" y="21029047"/>
            <a:ext cx="250431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完整作品資訊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7393298" y="21394645"/>
            <a:ext cx="2641416" cy="6191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919" b="1">
                <a:solidFill>
                  <a:srgbClr val="1F2933"/>
                </a:solidFill>
                <a:latin typeface="Calibri (MS) Bold"/>
              </a:rPr>
              <a:t>學習單、AI 協作紀錄與成果資料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169927" y="23374379"/>
            <a:ext cx="296131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展場導讀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169927" y="23977997"/>
            <a:ext cx="17859394" cy="7524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319">
                <a:solidFill>
                  <a:srgbClr val="FFFFFF"/>
                </a:solidFill>
                <a:latin typeface="Calibri (MS)"/>
              </a:rPr>
              <a:t>這份作品呈現學生如何把「買權價格 3 元時 IV 是多少」轉化為可執行的金融工程任務：設定 BS 模型參數，要求 AI 產生 Python 程式，並比較二分法與牛頓法的收斂效率。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169927" y="24913523"/>
            <a:ext cx="25043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C58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海報亮點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98422" y="25407080"/>
            <a:ext cx="17356693" cy="3714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79">
                <a:solidFill>
                  <a:srgbClr val="FFFFFF"/>
                </a:solidFill>
                <a:latin typeface="Calibri (MS)"/>
              </a:rPr>
              <a:t>學生手寫內容完整，能看出從簡單提問到精準 Prompt 的修正過程。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98422" y="25909772"/>
            <a:ext cx="17356693" cy="3714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79">
                <a:solidFill>
                  <a:srgbClr val="FFFFFF"/>
                </a:solidFill>
                <a:latin typeface="Calibri (MS)"/>
              </a:rPr>
              <a:t>成果包含 IV 數值、迭代次數與誤差，可直接轉化為方法比較。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398422" y="26412463"/>
            <a:ext cx="17356693" cy="3714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79">
                <a:solidFill>
                  <a:srgbClr val="FFFFFF"/>
                </a:solidFill>
                <a:latin typeface="Calibri (MS)"/>
              </a:rPr>
              <a:t>明確指出 BS 模型、二分法、牛頓法與收斂條件等技術細節。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169927" y="26851185"/>
            <a:ext cx="25043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C58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展出價值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169927" y="27289897"/>
            <a:ext cx="17859394" cy="3714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179">
                <a:solidFill>
                  <a:srgbClr val="FFFFFF"/>
                </a:solidFill>
                <a:latin typeface="Calibri (MS)"/>
              </a:rPr>
              <a:t>海報能清楚呈現學生從任務描述、Prompt 修正、數值方法、結果比較到 AI 限制反思的完整歷程，符合成果海報對 AI 協作與研究方法說明的要求。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169927" y="27701196"/>
            <a:ext cx="17859394" cy="3905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2279" b="1">
                <a:solidFill>
                  <a:srgbClr val="C58B2B"/>
                </a:solidFill>
                <a:latin typeface="Calibri (MS) Bold"/>
              </a:rPr>
              <a:t>關鍵能力：Prompt 設計｜金融工程建模｜IV 反推｜數值方法比較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895721" y="29529186"/>
            <a:ext cx="15026011" cy="3429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r>
              <a:rPr sz="1949">
                <a:solidFill>
                  <a:srgbClr val="4B5563"/>
                </a:solidFill>
                <a:latin typeface="Calibri (MS)"/>
              </a:rPr>
              <a:t>AI 輔助金融資料探勘：隱含波動率之計算與優化</a:t>
            </a:r>
          </a:p>
        </p:txBody>
      </p:sp>
      <p:pic>
        <p:nvPicPr>
          <p:cNvPr id="146" name="Picture 145" descr="sheet_3_p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8065008"/>
            <a:ext cx="6309360" cy="8732520"/>
          </a:xfrm>
          <a:prstGeom prst="rect">
            <a:avLst/>
          </a:prstGeom>
        </p:spPr>
      </p:pic>
      <p:pic>
        <p:nvPicPr>
          <p:cNvPr id="147" name="Picture 146" descr="sheet_3_p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8065008"/>
            <a:ext cx="6309360" cy="8732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DAHME8p9kqQ</dc:identifier>
  <dcterms:modified xsi:type="dcterms:W3CDTF">2011-08-01T06:04:30Z</dcterms:modified>
  <cp:revision>1</cp:revision>
  <dc:title>AI輔助金融數據分析-鄭竣宸</dc:title>
</cp:coreProperties>
</file>