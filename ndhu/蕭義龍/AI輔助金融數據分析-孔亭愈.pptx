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sldSz cx="21388388" cy="3027521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>
        <p:scale>
          <a:sx n="75" d="100"/>
          <a:sy n="75" d="100"/>
        </p:scale>
        <p:origin x="-252" y="-205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6/4/2026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6/4/2026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6/4/2026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6/4/2026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21387816" cy="30275784"/>
          </a:xfrm>
          <a:prstGeom prst="rect">
            <a:avLst/>
          </a:prstGeom>
          <a:solidFill>
            <a:srgbClr val="F6F7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1387816" cy="3200400"/>
          </a:xfrm>
          <a:prstGeom prst="rect">
            <a:avLst/>
          </a:prstGeom>
          <a:solidFill>
            <a:srgbClr val="0F3D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2871216"/>
            <a:ext cx="21387816" cy="329184"/>
          </a:xfrm>
          <a:prstGeom prst="rect">
            <a:avLst/>
          </a:prstGeom>
          <a:solidFill>
            <a:srgbClr val="C58B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868680" y="411480"/>
            <a:ext cx="7772400" cy="411480"/>
          </a:xfrm>
          <a:prstGeom prst="rect">
            <a:avLst/>
          </a:prstGeom>
          <a:noFill/>
        </p:spPr>
        <p:txBody>
          <a:bodyPr wrap="square" lIns="27432" tIns="9144" rIns="27432" bIns="9144" anchor="t">
            <a:spAutoFit/>
          </a:bodyPr>
          <a:lstStyle/>
          <a:p>
            <a:r>
              <a:rPr sz="1900" b="1">
                <a:solidFill>
                  <a:srgbClr val="FFFFFF"/>
                </a:solidFill>
                <a:latin typeface="Microsoft JhengHei"/>
              </a:rPr>
              <a:t>114-2 生成式 AI 融入專業課程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987552"/>
            <a:ext cx="8412480" cy="658368"/>
          </a:xfrm>
          <a:prstGeom prst="rect">
            <a:avLst/>
          </a:prstGeom>
          <a:noFill/>
        </p:spPr>
        <p:txBody>
          <a:bodyPr wrap="square" lIns="27432" tIns="9144" rIns="27432" bIns="9144" anchor="t">
            <a:spAutoFit/>
          </a:bodyPr>
          <a:lstStyle/>
          <a:p>
            <a:r>
              <a:rPr sz="3100" b="1" dirty="0" err="1">
                <a:solidFill>
                  <a:srgbClr val="FFFFFF"/>
                </a:solidFill>
                <a:latin typeface="Microsoft JhengHei"/>
              </a:rPr>
              <a:t>學生優秀作品成果海報</a:t>
            </a:r>
            <a:endParaRPr sz="3100" b="1" dirty="0">
              <a:solidFill>
                <a:srgbClr val="FFFFFF"/>
              </a:solidFill>
              <a:latin typeface="Microsoft JhengHei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868680" y="1636776"/>
            <a:ext cx="11887200" cy="530352"/>
          </a:xfrm>
          <a:prstGeom prst="rect">
            <a:avLst/>
          </a:prstGeom>
          <a:noFill/>
        </p:spPr>
        <p:txBody>
          <a:bodyPr wrap="square" lIns="27432" tIns="9144" rIns="27432" bIns="9144" anchor="t">
            <a:spAutoFit/>
          </a:bodyPr>
          <a:lstStyle/>
          <a:p>
            <a:r>
              <a:rPr sz="2400" b="1" dirty="0">
                <a:solidFill>
                  <a:srgbClr val="FFFFFF"/>
                </a:solidFill>
                <a:latin typeface="Microsoft JhengHei"/>
              </a:rPr>
              <a:t>AI </a:t>
            </a:r>
            <a:r>
              <a:rPr sz="2400" b="1" dirty="0" err="1">
                <a:solidFill>
                  <a:srgbClr val="FFFFFF"/>
                </a:solidFill>
                <a:latin typeface="Microsoft JhengHei"/>
              </a:rPr>
              <a:t>輔助金融數據分析：隱含波動率之計算與優化</a:t>
            </a:r>
            <a:endParaRPr sz="2400" b="1" dirty="0">
              <a:solidFill>
                <a:srgbClr val="FFFFFF"/>
              </a:solidFill>
              <a:latin typeface="Microsoft JhengHei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868680" y="2415486"/>
            <a:ext cx="1920240" cy="326243"/>
          </a:xfrm>
          <a:prstGeom prst="rect">
            <a:avLst/>
          </a:prstGeom>
          <a:noFill/>
        </p:spPr>
        <p:txBody>
          <a:bodyPr wrap="square" lIns="27432" tIns="9144" rIns="27432" bIns="9144" anchor="t">
            <a:spAutoFit/>
          </a:bodyPr>
          <a:lstStyle/>
          <a:p>
            <a:r>
              <a:rPr sz="2000" b="1" dirty="0" err="1">
                <a:solidFill>
                  <a:srgbClr val="FFFFFF"/>
                </a:solidFill>
                <a:latin typeface="Microsoft JhengHei"/>
              </a:rPr>
              <a:t>課程</a:t>
            </a:r>
            <a:r>
              <a:rPr sz="2000" b="1" dirty="0">
                <a:solidFill>
                  <a:srgbClr val="FFFFFF"/>
                </a:solidFill>
                <a:latin typeface="Microsoft JhengHei"/>
              </a:rPr>
              <a:t>/</a:t>
            </a:r>
            <a:r>
              <a:rPr sz="2000" b="1" dirty="0" err="1">
                <a:solidFill>
                  <a:srgbClr val="FFFFFF"/>
                </a:solidFill>
                <a:latin typeface="Microsoft JhengHei"/>
              </a:rPr>
              <a:t>作品</a:t>
            </a:r>
            <a:endParaRPr sz="2000" b="1" dirty="0">
              <a:solidFill>
                <a:srgbClr val="FFFFFF"/>
              </a:solidFill>
              <a:latin typeface="Microsoft JhengHei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868680" y="2864718"/>
            <a:ext cx="2926080" cy="326243"/>
          </a:xfrm>
          <a:prstGeom prst="rect">
            <a:avLst/>
          </a:prstGeom>
          <a:noFill/>
        </p:spPr>
        <p:txBody>
          <a:bodyPr wrap="square" lIns="27432" tIns="9144" rIns="27432" bIns="9144" anchor="t">
            <a:spAutoFit/>
          </a:bodyPr>
          <a:lstStyle/>
          <a:p>
            <a:r>
              <a:rPr sz="2000" b="1" dirty="0">
                <a:solidFill>
                  <a:srgbClr val="FFFFFF"/>
                </a:solidFill>
                <a:latin typeface="Microsoft JhengHei"/>
              </a:rPr>
              <a:t>AI </a:t>
            </a:r>
            <a:r>
              <a:rPr sz="2000" b="1" dirty="0" err="1">
                <a:solidFill>
                  <a:srgbClr val="FFFFFF"/>
                </a:solidFill>
                <a:latin typeface="Microsoft JhengHei"/>
              </a:rPr>
              <a:t>輔助金融數據分析</a:t>
            </a:r>
            <a:endParaRPr sz="2000" b="1" dirty="0">
              <a:solidFill>
                <a:srgbClr val="FFFFFF"/>
              </a:solidFill>
              <a:latin typeface="Microsoft JhengHei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6533388" y="2415486"/>
            <a:ext cx="1920240" cy="326243"/>
          </a:xfrm>
          <a:prstGeom prst="rect">
            <a:avLst/>
          </a:prstGeom>
          <a:noFill/>
        </p:spPr>
        <p:txBody>
          <a:bodyPr wrap="square" lIns="27432" tIns="9144" rIns="27432" bIns="9144" anchor="t">
            <a:spAutoFit/>
          </a:bodyPr>
          <a:lstStyle/>
          <a:p>
            <a:r>
              <a:rPr sz="2000" b="1" dirty="0" err="1">
                <a:solidFill>
                  <a:srgbClr val="FFFFFF"/>
                </a:solidFill>
                <a:latin typeface="Microsoft JhengHei"/>
              </a:rPr>
              <a:t>學生</a:t>
            </a:r>
            <a:endParaRPr sz="2000" b="1" dirty="0">
              <a:solidFill>
                <a:srgbClr val="FFFFFF"/>
              </a:solidFill>
              <a:latin typeface="Microsoft JhengHei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6492240" y="2864718"/>
            <a:ext cx="2926080" cy="326243"/>
          </a:xfrm>
          <a:prstGeom prst="rect">
            <a:avLst/>
          </a:prstGeom>
          <a:noFill/>
        </p:spPr>
        <p:txBody>
          <a:bodyPr wrap="square" lIns="27432" tIns="9144" rIns="27432" bIns="9144" anchor="t">
            <a:spAutoFit/>
          </a:bodyPr>
          <a:lstStyle/>
          <a:p>
            <a:r>
              <a:rPr sz="2000" b="1" dirty="0" err="1">
                <a:solidFill>
                  <a:srgbClr val="FFFFFF"/>
                </a:solidFill>
                <a:latin typeface="Microsoft JhengHei"/>
              </a:rPr>
              <a:t>孔亭諭</a:t>
            </a:r>
            <a:endParaRPr sz="2000" b="1" dirty="0">
              <a:solidFill>
                <a:srgbClr val="FFFFFF"/>
              </a:solidFill>
              <a:latin typeface="Microsoft JhengHei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10058400" y="2430673"/>
            <a:ext cx="1920240" cy="326243"/>
          </a:xfrm>
          <a:prstGeom prst="rect">
            <a:avLst/>
          </a:prstGeom>
          <a:noFill/>
        </p:spPr>
        <p:txBody>
          <a:bodyPr wrap="square" lIns="27432" tIns="9144" rIns="27432" bIns="9144" anchor="t">
            <a:spAutoFit/>
          </a:bodyPr>
          <a:lstStyle/>
          <a:p>
            <a:r>
              <a:rPr sz="2000" b="1" dirty="0" err="1">
                <a:solidFill>
                  <a:srgbClr val="FFFFFF"/>
                </a:solidFill>
                <a:latin typeface="Microsoft JhengHei"/>
              </a:rPr>
              <a:t>指導教授</a:t>
            </a:r>
            <a:endParaRPr sz="2000" b="1" dirty="0">
              <a:solidFill>
                <a:srgbClr val="FFFFFF"/>
              </a:solidFill>
              <a:latin typeface="Microsoft JhengHei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10064496" y="2848917"/>
            <a:ext cx="2926080" cy="326243"/>
          </a:xfrm>
          <a:prstGeom prst="rect">
            <a:avLst/>
          </a:prstGeom>
          <a:noFill/>
        </p:spPr>
        <p:txBody>
          <a:bodyPr wrap="square" lIns="27432" tIns="9144" rIns="27432" bIns="9144" anchor="t">
            <a:spAutoFit/>
          </a:bodyPr>
          <a:lstStyle/>
          <a:p>
            <a:r>
              <a:rPr sz="2000" b="1" dirty="0" err="1">
                <a:solidFill>
                  <a:srgbClr val="FFFFFF"/>
                </a:solidFill>
                <a:latin typeface="Microsoft JhengHei"/>
              </a:rPr>
              <a:t>蕭義龍</a:t>
            </a:r>
            <a:endParaRPr sz="2000" b="1" dirty="0">
              <a:solidFill>
                <a:srgbClr val="FFFFFF"/>
              </a:solidFill>
              <a:latin typeface="Microsoft JhengHei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868680" y="3794760"/>
            <a:ext cx="6379464" cy="320040"/>
          </a:xfrm>
          <a:prstGeom prst="rect">
            <a:avLst/>
          </a:prstGeom>
          <a:noFill/>
        </p:spPr>
        <p:txBody>
          <a:bodyPr wrap="square" lIns="27432" tIns="9144" rIns="27432" bIns="9144" anchor="t">
            <a:spAutoFit/>
          </a:bodyPr>
          <a:lstStyle/>
          <a:p>
            <a:r>
              <a:rPr sz="1500" b="1">
                <a:solidFill>
                  <a:srgbClr val="1F6F5B"/>
                </a:solidFill>
                <a:latin typeface="Microsoft JhengHei"/>
              </a:rPr>
              <a:t>作品簡介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68680" y="4178808"/>
            <a:ext cx="2560320" cy="32004"/>
          </a:xfrm>
          <a:prstGeom prst="rect">
            <a:avLst/>
          </a:prstGeom>
          <a:solidFill>
            <a:srgbClr val="C58B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ounded Rectangle 15"/>
          <p:cNvSpPr/>
          <p:nvPr/>
        </p:nvSpPr>
        <p:spPr>
          <a:xfrm>
            <a:off x="868680" y="4325112"/>
            <a:ext cx="6379464" cy="2057400"/>
          </a:xfrm>
          <a:prstGeom prst="roundRect">
            <a:avLst/>
          </a:prstGeom>
          <a:solidFill>
            <a:srgbClr val="FFFDF8"/>
          </a:solidFill>
          <a:ln w="6350">
            <a:solidFill>
              <a:srgbClr val="D9DF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986028" y="4489704"/>
            <a:ext cx="6144768" cy="625171"/>
          </a:xfrm>
          <a:prstGeom prst="rect">
            <a:avLst/>
          </a:prstGeom>
          <a:noFill/>
        </p:spPr>
        <p:txBody>
          <a:bodyPr wrap="square" lIns="27432" tIns="9144" rIns="27432" bIns="9144" anchor="t">
            <a:spAutoFit/>
          </a:bodyPr>
          <a:lstStyle/>
          <a:p>
            <a:pPr>
              <a:lnSpc>
                <a:spcPct val="150000"/>
              </a:lnSpc>
            </a:pPr>
            <a:r>
              <a:rPr sz="1400" b="0" dirty="0" err="1">
                <a:solidFill>
                  <a:srgbClr val="4B5563"/>
                </a:solidFill>
                <a:latin typeface="Microsoft JhengHei"/>
              </a:rPr>
              <a:t>本作品以選擇權隱含波動率（IV）計算為核心，學生運用生成式</a:t>
            </a:r>
            <a:r>
              <a:rPr sz="1400" b="0" dirty="0">
                <a:solidFill>
                  <a:srgbClr val="4B5563"/>
                </a:solidFill>
                <a:latin typeface="Microsoft JhengHei"/>
              </a:rPr>
              <a:t> AI </a:t>
            </a:r>
            <a:r>
              <a:rPr sz="1400" b="0" dirty="0" err="1">
                <a:solidFill>
                  <a:srgbClr val="4B5563"/>
                </a:solidFill>
                <a:latin typeface="Microsoft JhengHei"/>
              </a:rPr>
              <a:t>協助撰寫</a:t>
            </a:r>
            <a:r>
              <a:rPr sz="1400" b="0" dirty="0">
                <a:solidFill>
                  <a:srgbClr val="4B5563"/>
                </a:solidFill>
                <a:latin typeface="Microsoft JhengHei"/>
              </a:rPr>
              <a:t> Python </a:t>
            </a:r>
            <a:r>
              <a:rPr sz="1400" b="0" dirty="0" err="1">
                <a:solidFill>
                  <a:srgbClr val="4B5563"/>
                </a:solidFill>
                <a:latin typeface="Microsoft JhengHei"/>
              </a:rPr>
              <a:t>程式，將金融參數、數值方法與結果檢核整合為可驗證的分析流程</a:t>
            </a:r>
            <a:r>
              <a:rPr sz="1400" b="0" dirty="0">
                <a:solidFill>
                  <a:srgbClr val="4B5563"/>
                </a:solidFill>
                <a:latin typeface="Microsoft JhengHei"/>
              </a:rPr>
              <a:t>。</a:t>
            </a:r>
          </a:p>
        </p:txBody>
      </p:sp>
      <p:sp>
        <p:nvSpPr>
          <p:cNvPr id="18" name="Rectangle 17"/>
          <p:cNvSpPr/>
          <p:nvPr/>
        </p:nvSpPr>
        <p:spPr>
          <a:xfrm>
            <a:off x="1280160" y="5357610"/>
            <a:ext cx="100584" cy="100584"/>
          </a:xfrm>
          <a:prstGeom prst="rect">
            <a:avLst/>
          </a:prstGeom>
          <a:solidFill>
            <a:srgbClr val="C58B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1417320" y="5294376"/>
            <a:ext cx="5757672" cy="233910"/>
          </a:xfrm>
          <a:prstGeom prst="rect">
            <a:avLst/>
          </a:prstGeom>
          <a:noFill/>
        </p:spPr>
        <p:txBody>
          <a:bodyPr wrap="square" lIns="27432" tIns="9144" rIns="27432" bIns="9144" anchor="t">
            <a:spAutoFit/>
          </a:bodyPr>
          <a:lstStyle/>
          <a:p>
            <a:r>
              <a:rPr sz="1400" b="0" dirty="0" err="1">
                <a:solidFill>
                  <a:srgbClr val="1F2933"/>
                </a:solidFill>
                <a:latin typeface="Microsoft JhengHei"/>
              </a:rPr>
              <a:t>任務：依給定</a:t>
            </a:r>
            <a:r>
              <a:rPr sz="1400" b="0" dirty="0">
                <a:solidFill>
                  <a:srgbClr val="1F2933"/>
                </a:solidFill>
                <a:latin typeface="Microsoft JhengHei"/>
              </a:rPr>
              <a:t> </a:t>
            </a:r>
            <a:r>
              <a:rPr sz="1400" b="0" dirty="0" err="1">
                <a:solidFill>
                  <a:srgbClr val="1F2933"/>
                </a:solidFill>
                <a:latin typeface="Microsoft JhengHei"/>
              </a:rPr>
              <a:t>S、K、r、T、C</a:t>
            </a:r>
            <a:r>
              <a:rPr sz="1400" b="0" dirty="0">
                <a:solidFill>
                  <a:srgbClr val="1F2933"/>
                </a:solidFill>
                <a:latin typeface="Microsoft JhengHei"/>
              </a:rPr>
              <a:t> </a:t>
            </a:r>
            <a:r>
              <a:rPr sz="1400" b="0" dirty="0" err="1">
                <a:solidFill>
                  <a:srgbClr val="1F2933"/>
                </a:solidFill>
                <a:latin typeface="Microsoft JhengHei"/>
              </a:rPr>
              <a:t>反推</a:t>
            </a:r>
            <a:r>
              <a:rPr sz="1400" b="0" dirty="0">
                <a:solidFill>
                  <a:srgbClr val="1F2933"/>
                </a:solidFill>
                <a:latin typeface="Microsoft JhengHei"/>
              </a:rPr>
              <a:t> IV。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280160" y="5595354"/>
            <a:ext cx="100584" cy="100584"/>
          </a:xfrm>
          <a:prstGeom prst="rect">
            <a:avLst/>
          </a:prstGeom>
          <a:solidFill>
            <a:srgbClr val="C58B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1417320" y="5532120"/>
            <a:ext cx="5757672" cy="233910"/>
          </a:xfrm>
          <a:prstGeom prst="rect">
            <a:avLst/>
          </a:prstGeom>
          <a:noFill/>
        </p:spPr>
        <p:txBody>
          <a:bodyPr wrap="square" lIns="27432" tIns="9144" rIns="27432" bIns="9144" anchor="t">
            <a:spAutoFit/>
          </a:bodyPr>
          <a:lstStyle/>
          <a:p>
            <a:r>
              <a:rPr sz="1400" b="0" dirty="0" err="1">
                <a:solidFill>
                  <a:srgbClr val="1F2933"/>
                </a:solidFill>
                <a:latin typeface="Microsoft JhengHei"/>
              </a:rPr>
              <a:t>方法：比較二分法與牛頓法</a:t>
            </a:r>
            <a:r>
              <a:rPr sz="1400" b="0" dirty="0">
                <a:solidFill>
                  <a:srgbClr val="1F2933"/>
                </a:solidFill>
                <a:latin typeface="Microsoft JhengHei"/>
              </a:rPr>
              <a:t>。</a:t>
            </a:r>
          </a:p>
        </p:txBody>
      </p:sp>
      <p:sp>
        <p:nvSpPr>
          <p:cNvPr id="22" name="Rectangle 21"/>
          <p:cNvSpPr/>
          <p:nvPr/>
        </p:nvSpPr>
        <p:spPr>
          <a:xfrm>
            <a:off x="1280160" y="5833098"/>
            <a:ext cx="100584" cy="100584"/>
          </a:xfrm>
          <a:prstGeom prst="rect">
            <a:avLst/>
          </a:prstGeom>
          <a:solidFill>
            <a:srgbClr val="C58B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1417320" y="5769864"/>
            <a:ext cx="5757672" cy="233910"/>
          </a:xfrm>
          <a:prstGeom prst="rect">
            <a:avLst/>
          </a:prstGeom>
          <a:noFill/>
        </p:spPr>
        <p:txBody>
          <a:bodyPr wrap="square" lIns="27432" tIns="9144" rIns="27432" bIns="9144" anchor="t">
            <a:spAutoFit/>
          </a:bodyPr>
          <a:lstStyle/>
          <a:p>
            <a:r>
              <a:rPr sz="1400" b="0" dirty="0" err="1">
                <a:solidFill>
                  <a:srgbClr val="1F2933"/>
                </a:solidFill>
                <a:latin typeface="Microsoft JhengHei"/>
              </a:rPr>
              <a:t>成果：用收斂次數、耗時與誤差判讀方法差異</a:t>
            </a:r>
            <a:r>
              <a:rPr sz="1400" b="0" dirty="0">
                <a:solidFill>
                  <a:srgbClr val="1F2933"/>
                </a:solidFill>
                <a:latin typeface="Microsoft JhengHei"/>
              </a:rPr>
              <a:t>。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504176" y="3794760"/>
            <a:ext cx="6379464" cy="320040"/>
          </a:xfrm>
          <a:prstGeom prst="rect">
            <a:avLst/>
          </a:prstGeom>
          <a:noFill/>
        </p:spPr>
        <p:txBody>
          <a:bodyPr wrap="square" lIns="27432" tIns="9144" rIns="27432" bIns="9144" anchor="t">
            <a:spAutoFit/>
          </a:bodyPr>
          <a:lstStyle/>
          <a:p>
            <a:r>
              <a:rPr sz="1500" b="1">
                <a:solidFill>
                  <a:srgbClr val="1F6F5B"/>
                </a:solidFill>
                <a:latin typeface="Microsoft JhengHei"/>
              </a:rPr>
              <a:t>學習目標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504176" y="4178808"/>
            <a:ext cx="2560320" cy="32004"/>
          </a:xfrm>
          <a:prstGeom prst="rect">
            <a:avLst/>
          </a:prstGeom>
          <a:solidFill>
            <a:srgbClr val="C58B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ounded Rectangle 25"/>
          <p:cNvSpPr/>
          <p:nvPr/>
        </p:nvSpPr>
        <p:spPr>
          <a:xfrm>
            <a:off x="7504176" y="4325112"/>
            <a:ext cx="6379464" cy="2057400"/>
          </a:xfrm>
          <a:prstGeom prst="roundRect">
            <a:avLst/>
          </a:prstGeom>
          <a:solidFill>
            <a:srgbClr val="FFFDF8"/>
          </a:solidFill>
          <a:ln w="6350">
            <a:solidFill>
              <a:srgbClr val="D9DF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7714488" y="4489704"/>
            <a:ext cx="5958840" cy="713232"/>
          </a:xfrm>
          <a:prstGeom prst="rect">
            <a:avLst/>
          </a:prstGeom>
          <a:noFill/>
        </p:spPr>
        <p:txBody>
          <a:bodyPr wrap="square" lIns="27432" tIns="9144" rIns="27432" bIns="9144" anchor="t">
            <a:spAutoFit/>
          </a:bodyPr>
          <a:lstStyle>
            <a:defPPr>
              <a:defRPr lang="en-US"/>
            </a:defPPr>
            <a:lvl1pPr>
              <a:lnSpc>
                <a:spcPct val="150000"/>
              </a:lnSpc>
              <a:defRPr sz="1400" b="0">
                <a:solidFill>
                  <a:srgbClr val="4B5563"/>
                </a:solidFill>
                <a:latin typeface="Microsoft JhengHei"/>
              </a:defRPr>
            </a:lvl1pPr>
          </a:lstStyle>
          <a:p>
            <a:r>
              <a:rPr dirty="0" err="1"/>
              <a:t>學習重點不只在得到答案，而是讓學生練習把金融問題轉成精準</a:t>
            </a:r>
            <a:r>
              <a:rPr dirty="0"/>
              <a:t> </a:t>
            </a:r>
            <a:r>
              <a:rPr dirty="0" err="1"/>
              <a:t>Prompt，並用專業知識檢查</a:t>
            </a:r>
            <a:r>
              <a:rPr dirty="0"/>
              <a:t> AI </a:t>
            </a:r>
            <a:r>
              <a:rPr dirty="0" err="1"/>
              <a:t>產生的模型與程式</a:t>
            </a:r>
            <a:r>
              <a:rPr dirty="0"/>
              <a:t>。</a:t>
            </a:r>
          </a:p>
        </p:txBody>
      </p:sp>
      <p:sp>
        <p:nvSpPr>
          <p:cNvPr id="28" name="Rectangle 27"/>
          <p:cNvSpPr/>
          <p:nvPr/>
        </p:nvSpPr>
        <p:spPr>
          <a:xfrm>
            <a:off x="8046720" y="5439337"/>
            <a:ext cx="100584" cy="100584"/>
          </a:xfrm>
          <a:prstGeom prst="rect">
            <a:avLst/>
          </a:prstGeom>
          <a:solidFill>
            <a:srgbClr val="C58B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8197596" y="5362218"/>
            <a:ext cx="5757672" cy="233910"/>
          </a:xfrm>
          <a:prstGeom prst="rect">
            <a:avLst/>
          </a:prstGeom>
          <a:noFill/>
        </p:spPr>
        <p:txBody>
          <a:bodyPr wrap="square" lIns="27432" tIns="9144" rIns="27432" bIns="9144" anchor="t">
            <a:spAutoFit/>
          </a:bodyPr>
          <a:lstStyle>
            <a:defPPr>
              <a:defRPr lang="en-US"/>
            </a:defPPr>
            <a:lvl1pPr>
              <a:defRPr sz="1400" b="0">
                <a:solidFill>
                  <a:srgbClr val="1F2933"/>
                </a:solidFill>
                <a:latin typeface="Microsoft JhengHei"/>
              </a:defRPr>
            </a:lvl1pPr>
          </a:lstStyle>
          <a:p>
            <a:r>
              <a:rPr dirty="0" err="1"/>
              <a:t>理解</a:t>
            </a:r>
            <a:r>
              <a:rPr dirty="0"/>
              <a:t> Black-Scholes 與 IV </a:t>
            </a:r>
            <a:r>
              <a:rPr dirty="0" err="1"/>
              <a:t>的金融意義</a:t>
            </a:r>
            <a:r>
              <a:rPr dirty="0"/>
              <a:t>。</a:t>
            </a:r>
          </a:p>
        </p:txBody>
      </p:sp>
      <p:sp>
        <p:nvSpPr>
          <p:cNvPr id="30" name="Rectangle 29"/>
          <p:cNvSpPr/>
          <p:nvPr/>
        </p:nvSpPr>
        <p:spPr>
          <a:xfrm>
            <a:off x="8046720" y="5677081"/>
            <a:ext cx="100584" cy="100584"/>
          </a:xfrm>
          <a:prstGeom prst="rect">
            <a:avLst/>
          </a:prstGeom>
          <a:solidFill>
            <a:srgbClr val="C58B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8197596" y="5599962"/>
            <a:ext cx="5757672" cy="233910"/>
          </a:xfrm>
          <a:prstGeom prst="rect">
            <a:avLst/>
          </a:prstGeom>
          <a:noFill/>
        </p:spPr>
        <p:txBody>
          <a:bodyPr wrap="square" lIns="27432" tIns="9144" rIns="27432" bIns="9144" anchor="t">
            <a:spAutoFit/>
          </a:bodyPr>
          <a:lstStyle>
            <a:defPPr>
              <a:defRPr lang="en-US"/>
            </a:defPPr>
            <a:lvl1pPr>
              <a:defRPr sz="1400" b="0">
                <a:solidFill>
                  <a:srgbClr val="1F2933"/>
                </a:solidFill>
                <a:latin typeface="Microsoft JhengHei"/>
              </a:defRPr>
            </a:lvl1pPr>
          </a:lstStyle>
          <a:p>
            <a:r>
              <a:rPr dirty="0" err="1"/>
              <a:t>建立可重算、可檢核的</a:t>
            </a:r>
            <a:r>
              <a:rPr dirty="0"/>
              <a:t> AI </a:t>
            </a:r>
            <a:r>
              <a:rPr dirty="0" err="1"/>
              <a:t>協作流程</a:t>
            </a:r>
            <a:r>
              <a:rPr dirty="0"/>
              <a:t>。</a:t>
            </a:r>
          </a:p>
        </p:txBody>
      </p:sp>
      <p:sp>
        <p:nvSpPr>
          <p:cNvPr id="32" name="Rectangle 31"/>
          <p:cNvSpPr/>
          <p:nvPr/>
        </p:nvSpPr>
        <p:spPr>
          <a:xfrm>
            <a:off x="8046720" y="5891965"/>
            <a:ext cx="100584" cy="100584"/>
          </a:xfrm>
          <a:prstGeom prst="rect">
            <a:avLst/>
          </a:prstGeom>
          <a:solidFill>
            <a:srgbClr val="C58B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8197596" y="5837706"/>
            <a:ext cx="5757672" cy="233910"/>
          </a:xfrm>
          <a:prstGeom prst="rect">
            <a:avLst/>
          </a:prstGeom>
          <a:noFill/>
        </p:spPr>
        <p:txBody>
          <a:bodyPr wrap="square" lIns="27432" tIns="9144" rIns="27432" bIns="9144" anchor="t">
            <a:spAutoFit/>
          </a:bodyPr>
          <a:lstStyle>
            <a:defPPr>
              <a:defRPr lang="en-US"/>
            </a:defPPr>
            <a:lvl1pPr>
              <a:defRPr sz="1400" b="0">
                <a:solidFill>
                  <a:srgbClr val="1F2933"/>
                </a:solidFill>
                <a:latin typeface="Microsoft JhengHei"/>
              </a:defRPr>
            </a:lvl1pPr>
          </a:lstStyle>
          <a:p>
            <a:r>
              <a:rPr dirty="0" err="1"/>
              <a:t>辨識</a:t>
            </a:r>
            <a:r>
              <a:rPr dirty="0"/>
              <a:t> AI </a:t>
            </a:r>
            <a:r>
              <a:rPr dirty="0" err="1"/>
              <a:t>可能忽略參數或收斂條件的風險</a:t>
            </a:r>
            <a:r>
              <a:rPr dirty="0"/>
              <a:t>。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4139672" y="3794760"/>
            <a:ext cx="6379464" cy="320040"/>
          </a:xfrm>
          <a:prstGeom prst="rect">
            <a:avLst/>
          </a:prstGeom>
          <a:noFill/>
        </p:spPr>
        <p:txBody>
          <a:bodyPr wrap="square" lIns="27432" tIns="9144" rIns="27432" bIns="9144" anchor="t">
            <a:spAutoFit/>
          </a:bodyPr>
          <a:lstStyle/>
          <a:p>
            <a:r>
              <a:rPr sz="1500" b="1">
                <a:solidFill>
                  <a:srgbClr val="1F6F5B"/>
                </a:solidFill>
                <a:latin typeface="Microsoft JhengHei"/>
              </a:rPr>
              <a:t>理論基礎</a:t>
            </a:r>
          </a:p>
        </p:txBody>
      </p:sp>
      <p:sp>
        <p:nvSpPr>
          <p:cNvPr id="35" name="Rectangle 34"/>
          <p:cNvSpPr/>
          <p:nvPr/>
        </p:nvSpPr>
        <p:spPr>
          <a:xfrm>
            <a:off x="14139672" y="4178808"/>
            <a:ext cx="2560320" cy="32004"/>
          </a:xfrm>
          <a:prstGeom prst="rect">
            <a:avLst/>
          </a:prstGeom>
          <a:solidFill>
            <a:srgbClr val="C58B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Rounded Rectangle 35"/>
          <p:cNvSpPr/>
          <p:nvPr/>
        </p:nvSpPr>
        <p:spPr>
          <a:xfrm>
            <a:off x="14139672" y="4325112"/>
            <a:ext cx="6379464" cy="2057400"/>
          </a:xfrm>
          <a:prstGeom prst="roundRect">
            <a:avLst/>
          </a:prstGeom>
          <a:solidFill>
            <a:srgbClr val="FFFDF8"/>
          </a:solidFill>
          <a:ln w="6350">
            <a:solidFill>
              <a:srgbClr val="D9DF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14349984" y="4489704"/>
            <a:ext cx="5958840" cy="713232"/>
          </a:xfrm>
          <a:prstGeom prst="rect">
            <a:avLst/>
          </a:prstGeom>
          <a:noFill/>
        </p:spPr>
        <p:txBody>
          <a:bodyPr wrap="square" lIns="27432" tIns="9144" rIns="27432" bIns="9144" anchor="t">
            <a:spAutoFit/>
          </a:bodyPr>
          <a:lstStyle>
            <a:defPPr>
              <a:defRPr lang="en-US"/>
            </a:defPPr>
            <a:lvl1pPr>
              <a:lnSpc>
                <a:spcPct val="150000"/>
              </a:lnSpc>
              <a:defRPr sz="1400" b="0">
                <a:solidFill>
                  <a:srgbClr val="4B5563"/>
                </a:solidFill>
                <a:latin typeface="Microsoft JhengHei"/>
              </a:defRPr>
            </a:lvl1pPr>
          </a:lstStyle>
          <a:p>
            <a:r>
              <a:rPr dirty="0" err="1"/>
              <a:t>隱含波動率並非市場直接觀察值，而是透過選擇權價格反推的模型參數，因此需依賴數值求解與反覆檢核</a:t>
            </a:r>
            <a:r>
              <a:rPr dirty="0"/>
              <a:t>。</a:t>
            </a:r>
          </a:p>
        </p:txBody>
      </p:sp>
      <p:sp>
        <p:nvSpPr>
          <p:cNvPr id="38" name="Rectangle 37"/>
          <p:cNvSpPr/>
          <p:nvPr/>
        </p:nvSpPr>
        <p:spPr>
          <a:xfrm>
            <a:off x="14349984" y="5431536"/>
            <a:ext cx="100584" cy="100584"/>
          </a:xfrm>
          <a:prstGeom prst="rect">
            <a:avLst/>
          </a:prstGeom>
          <a:solidFill>
            <a:srgbClr val="C58B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14551152" y="5358384"/>
            <a:ext cx="5757672" cy="292608"/>
          </a:xfrm>
          <a:prstGeom prst="rect">
            <a:avLst/>
          </a:prstGeom>
          <a:noFill/>
        </p:spPr>
        <p:txBody>
          <a:bodyPr wrap="square" lIns="27432" tIns="9144" rIns="27432" bIns="9144" anchor="t">
            <a:spAutoFit/>
          </a:bodyPr>
          <a:lstStyle>
            <a:defPPr>
              <a:defRPr lang="en-US"/>
            </a:defPPr>
            <a:lvl1pPr>
              <a:defRPr sz="1400" b="0">
                <a:solidFill>
                  <a:srgbClr val="1F2933"/>
                </a:solidFill>
                <a:latin typeface="Microsoft JhengHei"/>
              </a:defRPr>
            </a:lvl1pPr>
          </a:lstStyle>
          <a:p>
            <a:r>
              <a:rPr dirty="0" err="1"/>
              <a:t>模型：Black-Scholes</a:t>
            </a:r>
            <a:r>
              <a:rPr dirty="0"/>
              <a:t> </a:t>
            </a:r>
            <a:r>
              <a:rPr dirty="0" err="1"/>
              <a:t>選擇權定價</a:t>
            </a:r>
            <a:r>
              <a:rPr dirty="0"/>
              <a:t>。</a:t>
            </a:r>
          </a:p>
        </p:txBody>
      </p:sp>
      <p:sp>
        <p:nvSpPr>
          <p:cNvPr id="40" name="Rectangle 39"/>
          <p:cNvSpPr/>
          <p:nvPr/>
        </p:nvSpPr>
        <p:spPr>
          <a:xfrm>
            <a:off x="14349984" y="5669280"/>
            <a:ext cx="100584" cy="100584"/>
          </a:xfrm>
          <a:prstGeom prst="rect">
            <a:avLst/>
          </a:prstGeom>
          <a:solidFill>
            <a:srgbClr val="C58B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14551152" y="5596128"/>
            <a:ext cx="5757672" cy="292608"/>
          </a:xfrm>
          <a:prstGeom prst="rect">
            <a:avLst/>
          </a:prstGeom>
          <a:noFill/>
        </p:spPr>
        <p:txBody>
          <a:bodyPr wrap="square" lIns="27432" tIns="9144" rIns="27432" bIns="9144" anchor="t">
            <a:spAutoFit/>
          </a:bodyPr>
          <a:lstStyle>
            <a:defPPr>
              <a:defRPr lang="en-US"/>
            </a:defPPr>
            <a:lvl1pPr>
              <a:defRPr sz="1400" b="0">
                <a:solidFill>
                  <a:srgbClr val="1F2933"/>
                </a:solidFill>
                <a:latin typeface="Microsoft JhengHei"/>
              </a:defRPr>
            </a:lvl1pPr>
          </a:lstStyle>
          <a:p>
            <a:r>
              <a:rPr dirty="0" err="1"/>
              <a:t>參數：S、K、r、T、C</a:t>
            </a:r>
            <a:r>
              <a:rPr dirty="0"/>
              <a:t> 與 sigma。</a:t>
            </a:r>
          </a:p>
        </p:txBody>
      </p:sp>
      <p:sp>
        <p:nvSpPr>
          <p:cNvPr id="42" name="Rectangle 41"/>
          <p:cNvSpPr/>
          <p:nvPr/>
        </p:nvSpPr>
        <p:spPr>
          <a:xfrm>
            <a:off x="14349984" y="5907024"/>
            <a:ext cx="100584" cy="100584"/>
          </a:xfrm>
          <a:prstGeom prst="rect">
            <a:avLst/>
          </a:prstGeom>
          <a:solidFill>
            <a:srgbClr val="C58B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14551152" y="5833872"/>
            <a:ext cx="5757672" cy="292608"/>
          </a:xfrm>
          <a:prstGeom prst="rect">
            <a:avLst/>
          </a:prstGeom>
          <a:noFill/>
        </p:spPr>
        <p:txBody>
          <a:bodyPr wrap="square" lIns="27432" tIns="9144" rIns="27432" bIns="9144" anchor="t">
            <a:spAutoFit/>
          </a:bodyPr>
          <a:lstStyle>
            <a:defPPr>
              <a:defRPr lang="en-US"/>
            </a:defPPr>
            <a:lvl1pPr>
              <a:defRPr sz="1400" b="0">
                <a:solidFill>
                  <a:srgbClr val="1F2933"/>
                </a:solidFill>
                <a:latin typeface="Microsoft JhengHei"/>
              </a:defRPr>
            </a:lvl1pPr>
          </a:lstStyle>
          <a:p>
            <a:r>
              <a:rPr dirty="0" err="1"/>
              <a:t>核心：以程式迭代求解符合市場價格的</a:t>
            </a:r>
            <a:r>
              <a:rPr dirty="0"/>
              <a:t> sigma。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68680" y="6447990"/>
            <a:ext cx="9144000" cy="326243"/>
          </a:xfrm>
          <a:prstGeom prst="rect">
            <a:avLst/>
          </a:prstGeom>
          <a:noFill/>
        </p:spPr>
        <p:txBody>
          <a:bodyPr wrap="square" lIns="27432" tIns="9144" rIns="27432" bIns="9144" anchor="t">
            <a:spAutoFit/>
          </a:bodyPr>
          <a:lstStyle/>
          <a:p>
            <a:r>
              <a:rPr sz="1500" b="1" dirty="0">
                <a:solidFill>
                  <a:srgbClr val="1F6F5B"/>
                </a:solidFill>
                <a:latin typeface="Microsoft JhengHei"/>
              </a:rPr>
              <a:t>AI </a:t>
            </a:r>
            <a:r>
              <a:rPr sz="2000" b="1" dirty="0" err="1">
                <a:solidFill>
                  <a:srgbClr val="1F6F5B"/>
                </a:solidFill>
                <a:latin typeface="Microsoft JhengHei"/>
              </a:rPr>
              <a:t>協作歷程與原始學習單</a:t>
            </a:r>
            <a:endParaRPr sz="1500" b="1" dirty="0">
              <a:solidFill>
                <a:srgbClr val="1F6F5B"/>
              </a:solidFill>
              <a:latin typeface="Microsoft JhengHei"/>
            </a:endParaRPr>
          </a:p>
        </p:txBody>
      </p:sp>
      <p:sp>
        <p:nvSpPr>
          <p:cNvPr id="45" name="Rectangle 44"/>
          <p:cNvSpPr/>
          <p:nvPr/>
        </p:nvSpPr>
        <p:spPr>
          <a:xfrm>
            <a:off x="868680" y="6766560"/>
            <a:ext cx="2560320" cy="32004"/>
          </a:xfrm>
          <a:prstGeom prst="rect">
            <a:avLst/>
          </a:prstGeom>
          <a:solidFill>
            <a:srgbClr val="C58B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Rounded Rectangle 45"/>
          <p:cNvSpPr/>
          <p:nvPr/>
        </p:nvSpPr>
        <p:spPr>
          <a:xfrm>
            <a:off x="868680" y="6858000"/>
            <a:ext cx="19659600" cy="10607040"/>
          </a:xfrm>
          <a:prstGeom prst="roundRect">
            <a:avLst/>
          </a:prstGeom>
          <a:solidFill>
            <a:srgbClr val="FFFDF8"/>
          </a:solidFill>
          <a:ln w="6350">
            <a:solidFill>
              <a:srgbClr val="D9DF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7" name="Picture 46" descr="sheet_3_p0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0160" y="7695372"/>
            <a:ext cx="6126480" cy="8732520"/>
          </a:xfrm>
          <a:prstGeom prst="rect">
            <a:avLst/>
          </a:prstGeom>
        </p:spPr>
      </p:pic>
      <p:pic>
        <p:nvPicPr>
          <p:cNvPr id="48" name="Picture 47" descr="sheet_3_p0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22174" y="7722079"/>
            <a:ext cx="6126480" cy="8732520"/>
          </a:xfrm>
          <a:prstGeom prst="rect">
            <a:avLst/>
          </a:prstGeom>
        </p:spPr>
      </p:pic>
      <p:sp>
        <p:nvSpPr>
          <p:cNvPr id="49" name="TextBox 48"/>
          <p:cNvSpPr txBox="1"/>
          <p:nvPr/>
        </p:nvSpPr>
        <p:spPr>
          <a:xfrm>
            <a:off x="1827276" y="16528024"/>
            <a:ext cx="5303520" cy="264688"/>
          </a:xfrm>
          <a:prstGeom prst="rect">
            <a:avLst/>
          </a:prstGeom>
          <a:noFill/>
        </p:spPr>
        <p:txBody>
          <a:bodyPr wrap="square" lIns="27432" tIns="9144" rIns="27432" bIns="9144" anchor="t">
            <a:spAutoFit/>
          </a:bodyPr>
          <a:lstStyle/>
          <a:p>
            <a:r>
              <a:rPr sz="1600" b="1" dirty="0">
                <a:solidFill>
                  <a:srgbClr val="4B5563"/>
                </a:solidFill>
                <a:latin typeface="Microsoft JhengHei"/>
              </a:rPr>
              <a:t>圖 1：Prompt </a:t>
            </a:r>
            <a:r>
              <a:rPr sz="1600" b="1" dirty="0" err="1">
                <a:solidFill>
                  <a:srgbClr val="4B5563"/>
                </a:solidFill>
                <a:latin typeface="Microsoft JhengHei"/>
              </a:rPr>
              <a:t>迭代與任務參數設定</a:t>
            </a:r>
            <a:endParaRPr sz="1600" b="1" dirty="0">
              <a:solidFill>
                <a:srgbClr val="4B5563"/>
              </a:solidFill>
              <a:latin typeface="Microsoft JhengHei"/>
            </a:endParaRPr>
          </a:p>
        </p:txBody>
      </p:sp>
      <p:sp>
        <p:nvSpPr>
          <p:cNvPr id="50" name="TextBox 49"/>
          <p:cNvSpPr txBox="1"/>
          <p:nvPr/>
        </p:nvSpPr>
        <p:spPr>
          <a:xfrm>
            <a:off x="7726680" y="16528024"/>
            <a:ext cx="5303520" cy="264688"/>
          </a:xfrm>
          <a:prstGeom prst="rect">
            <a:avLst/>
          </a:prstGeom>
          <a:noFill/>
        </p:spPr>
        <p:txBody>
          <a:bodyPr wrap="square" lIns="27432" tIns="9144" rIns="27432" bIns="9144" anchor="t">
            <a:spAutoFit/>
          </a:bodyPr>
          <a:lstStyle>
            <a:defPPr>
              <a:defRPr lang="en-US"/>
            </a:defPPr>
            <a:lvl1pPr>
              <a:defRPr sz="1600" b="1">
                <a:solidFill>
                  <a:srgbClr val="4B5563"/>
                </a:solidFill>
                <a:latin typeface="Microsoft JhengHei"/>
              </a:defRPr>
            </a:lvl1pPr>
          </a:lstStyle>
          <a:p>
            <a:r>
              <a:rPr dirty="0"/>
              <a:t>圖 2：方法比較、專業觀察與反思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14218920" y="7315200"/>
            <a:ext cx="5989320" cy="326243"/>
          </a:xfrm>
          <a:prstGeom prst="rect">
            <a:avLst/>
          </a:prstGeom>
          <a:noFill/>
        </p:spPr>
        <p:txBody>
          <a:bodyPr wrap="square" lIns="27432" tIns="9144" rIns="27432" bIns="9144" anchor="t">
            <a:spAutoFit/>
          </a:bodyPr>
          <a:lstStyle/>
          <a:p>
            <a:r>
              <a:rPr sz="2000" b="1" dirty="0" err="1">
                <a:solidFill>
                  <a:srgbClr val="1F6F5B"/>
                </a:solidFill>
                <a:latin typeface="Microsoft JhengHei"/>
              </a:rPr>
              <a:t>從學習單提煉出的</a:t>
            </a:r>
            <a:r>
              <a:rPr sz="2000" b="1" dirty="0">
                <a:solidFill>
                  <a:srgbClr val="1F6F5B"/>
                </a:solidFill>
                <a:latin typeface="Microsoft JhengHei"/>
              </a:rPr>
              <a:t> AI </a:t>
            </a:r>
            <a:r>
              <a:rPr sz="2000" b="1" dirty="0" err="1">
                <a:solidFill>
                  <a:srgbClr val="1F6F5B"/>
                </a:solidFill>
                <a:latin typeface="Microsoft JhengHei"/>
              </a:rPr>
              <a:t>協作路徑</a:t>
            </a:r>
            <a:endParaRPr sz="2000" b="1" dirty="0">
              <a:solidFill>
                <a:srgbClr val="1F6F5B"/>
              </a:solidFill>
              <a:latin typeface="Microsoft JhengHei"/>
            </a:endParaRPr>
          </a:p>
        </p:txBody>
      </p:sp>
      <p:sp>
        <p:nvSpPr>
          <p:cNvPr id="52" name="Rounded Rectangle 51"/>
          <p:cNvSpPr/>
          <p:nvPr/>
        </p:nvSpPr>
        <p:spPr>
          <a:xfrm>
            <a:off x="14218920" y="7845552"/>
            <a:ext cx="1417320" cy="310896"/>
          </a:xfrm>
          <a:prstGeom prst="roundRect">
            <a:avLst/>
          </a:prstGeom>
          <a:solidFill>
            <a:srgbClr val="1F6F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4400"/>
          </a:p>
        </p:txBody>
      </p:sp>
      <p:sp>
        <p:nvSpPr>
          <p:cNvPr id="53" name="TextBox 52"/>
          <p:cNvSpPr txBox="1"/>
          <p:nvPr/>
        </p:nvSpPr>
        <p:spPr>
          <a:xfrm>
            <a:off x="14310360" y="7895844"/>
            <a:ext cx="1234440" cy="233910"/>
          </a:xfrm>
          <a:prstGeom prst="rect">
            <a:avLst/>
          </a:prstGeom>
          <a:noFill/>
        </p:spPr>
        <p:txBody>
          <a:bodyPr wrap="square" lIns="27432" tIns="9144" rIns="27432" bIns="9144" anchor="t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Microsoft JhengHei"/>
              </a:rPr>
              <a:t>1 任務定義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15791688" y="7836408"/>
            <a:ext cx="4416552" cy="449354"/>
          </a:xfrm>
          <a:prstGeom prst="rect">
            <a:avLst/>
          </a:prstGeom>
          <a:noFill/>
        </p:spPr>
        <p:txBody>
          <a:bodyPr wrap="square" lIns="27432" tIns="9144" rIns="27432" bIns="9144" anchor="t">
            <a:spAutoFit/>
          </a:bodyPr>
          <a:lstStyle/>
          <a:p>
            <a:r>
              <a:rPr sz="1400" b="0">
                <a:solidFill>
                  <a:srgbClr val="1F2933"/>
                </a:solidFill>
                <a:latin typeface="Microsoft JhengHei"/>
              </a:rPr>
              <a:t>學生先將課堂任務轉成可計算問題：以選擇權買權價格 450 元為目標，要求 AI 反推隱含波動率。</a:t>
            </a:r>
          </a:p>
        </p:txBody>
      </p:sp>
      <p:sp>
        <p:nvSpPr>
          <p:cNvPr id="55" name="Rounded Rectangle 54"/>
          <p:cNvSpPr/>
          <p:nvPr/>
        </p:nvSpPr>
        <p:spPr>
          <a:xfrm>
            <a:off x="14218920" y="8412480"/>
            <a:ext cx="1417320" cy="310896"/>
          </a:xfrm>
          <a:prstGeom prst="roundRect">
            <a:avLst/>
          </a:prstGeom>
          <a:solidFill>
            <a:srgbClr val="1F6F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4400"/>
          </a:p>
        </p:txBody>
      </p:sp>
      <p:sp>
        <p:nvSpPr>
          <p:cNvPr id="56" name="TextBox 55"/>
          <p:cNvSpPr txBox="1"/>
          <p:nvPr/>
        </p:nvSpPr>
        <p:spPr>
          <a:xfrm>
            <a:off x="14310360" y="8462772"/>
            <a:ext cx="1234440" cy="449354"/>
          </a:xfrm>
          <a:prstGeom prst="rect">
            <a:avLst/>
          </a:prstGeom>
          <a:noFill/>
        </p:spPr>
        <p:txBody>
          <a:bodyPr wrap="square" lIns="27432" tIns="9144" rIns="27432" bIns="9144" anchor="t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Microsoft JhengHei"/>
              </a:rPr>
              <a:t>2 Prompt 修正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15791688" y="8403336"/>
            <a:ext cx="4416552" cy="449354"/>
          </a:xfrm>
          <a:prstGeom prst="rect">
            <a:avLst/>
          </a:prstGeom>
          <a:noFill/>
        </p:spPr>
        <p:txBody>
          <a:bodyPr wrap="square" lIns="27432" tIns="9144" rIns="27432" bIns="9144" anchor="t">
            <a:spAutoFit/>
          </a:bodyPr>
          <a:lstStyle/>
          <a:p>
            <a:r>
              <a:rPr sz="1400" b="0">
                <a:solidFill>
                  <a:srgbClr val="1F2933"/>
                </a:solidFill>
                <a:latin typeface="Microsoft JhengHei"/>
              </a:rPr>
              <a:t>初始提問後，學生補上量化研究員角色、Black-Scholes 模型、S/K/r/T/C 等參數與收斂條件。</a:t>
            </a:r>
          </a:p>
        </p:txBody>
      </p:sp>
      <p:sp>
        <p:nvSpPr>
          <p:cNvPr id="58" name="Rounded Rectangle 57"/>
          <p:cNvSpPr/>
          <p:nvPr/>
        </p:nvSpPr>
        <p:spPr>
          <a:xfrm>
            <a:off x="14218920" y="8979408"/>
            <a:ext cx="1417320" cy="310896"/>
          </a:xfrm>
          <a:prstGeom prst="roundRect">
            <a:avLst/>
          </a:prstGeom>
          <a:solidFill>
            <a:srgbClr val="1F6F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4400"/>
          </a:p>
        </p:txBody>
      </p:sp>
      <p:sp>
        <p:nvSpPr>
          <p:cNvPr id="59" name="TextBox 58"/>
          <p:cNvSpPr txBox="1"/>
          <p:nvPr/>
        </p:nvSpPr>
        <p:spPr>
          <a:xfrm>
            <a:off x="14310360" y="9029700"/>
            <a:ext cx="1234440" cy="233910"/>
          </a:xfrm>
          <a:prstGeom prst="rect">
            <a:avLst/>
          </a:prstGeom>
          <a:noFill/>
        </p:spPr>
        <p:txBody>
          <a:bodyPr wrap="square" lIns="27432" tIns="9144" rIns="27432" bIns="9144" anchor="t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Microsoft JhengHei"/>
              </a:rPr>
              <a:t>3 方法比較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15791688" y="8970264"/>
            <a:ext cx="4416552" cy="449354"/>
          </a:xfrm>
          <a:prstGeom prst="rect">
            <a:avLst/>
          </a:prstGeom>
          <a:noFill/>
        </p:spPr>
        <p:txBody>
          <a:bodyPr wrap="square" lIns="27432" tIns="9144" rIns="27432" bIns="9144" anchor="t">
            <a:spAutoFit/>
          </a:bodyPr>
          <a:lstStyle/>
          <a:p>
            <a:r>
              <a:rPr sz="1400" b="0">
                <a:solidFill>
                  <a:srgbClr val="1F2933"/>
                </a:solidFill>
                <a:latin typeface="Microsoft JhengHei"/>
              </a:rPr>
              <a:t>要求 AI 同時使用二分法與牛頓法，輸出 IV 值、迭代次數、耗時與誤差，形成可比較的結果表。</a:t>
            </a:r>
          </a:p>
        </p:txBody>
      </p:sp>
      <p:sp>
        <p:nvSpPr>
          <p:cNvPr id="61" name="Rounded Rectangle 60"/>
          <p:cNvSpPr/>
          <p:nvPr/>
        </p:nvSpPr>
        <p:spPr>
          <a:xfrm>
            <a:off x="14218920" y="9546336"/>
            <a:ext cx="1417320" cy="310896"/>
          </a:xfrm>
          <a:prstGeom prst="roundRect">
            <a:avLst/>
          </a:prstGeom>
          <a:solidFill>
            <a:srgbClr val="1F6F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4400"/>
          </a:p>
        </p:txBody>
      </p:sp>
      <p:sp>
        <p:nvSpPr>
          <p:cNvPr id="62" name="TextBox 61"/>
          <p:cNvSpPr txBox="1"/>
          <p:nvPr/>
        </p:nvSpPr>
        <p:spPr>
          <a:xfrm>
            <a:off x="14310360" y="9596628"/>
            <a:ext cx="1234440" cy="233910"/>
          </a:xfrm>
          <a:prstGeom prst="rect">
            <a:avLst/>
          </a:prstGeom>
          <a:noFill/>
        </p:spPr>
        <p:txBody>
          <a:bodyPr wrap="square" lIns="27432" tIns="9144" rIns="27432" bIns="9144" anchor="t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Microsoft JhengHei"/>
              </a:rPr>
              <a:t>4 反思修正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15791688" y="9537192"/>
            <a:ext cx="4416552" cy="449354"/>
          </a:xfrm>
          <a:prstGeom prst="rect">
            <a:avLst/>
          </a:prstGeom>
          <a:noFill/>
        </p:spPr>
        <p:txBody>
          <a:bodyPr wrap="square" lIns="27432" tIns="9144" rIns="27432" bIns="9144" anchor="t">
            <a:spAutoFit/>
          </a:bodyPr>
          <a:lstStyle/>
          <a:p>
            <a:r>
              <a:rPr sz="1400" b="0">
                <a:solidFill>
                  <a:srgbClr val="1F2933"/>
                </a:solidFill>
                <a:latin typeface="Microsoft JhengHei"/>
              </a:rPr>
              <a:t>學生指出 AI 可能隨機調用工具，未來應以人工重算、講義公式與明確條件補強答案可信度。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14218920" y="10222992"/>
            <a:ext cx="5989320" cy="387798"/>
          </a:xfrm>
          <a:prstGeom prst="rect">
            <a:avLst/>
          </a:prstGeom>
          <a:noFill/>
        </p:spPr>
        <p:txBody>
          <a:bodyPr wrap="square" lIns="27432" tIns="9144" rIns="27432" bIns="9144" anchor="t">
            <a:spAutoFit/>
          </a:bodyPr>
          <a:lstStyle/>
          <a:p>
            <a:r>
              <a:rPr sz="2400" b="1">
                <a:solidFill>
                  <a:srgbClr val="1F6F5B"/>
                </a:solidFill>
                <a:latin typeface="Microsoft JhengHei"/>
              </a:rPr>
              <a:t>Prompt 最佳化重點</a:t>
            </a:r>
          </a:p>
        </p:txBody>
      </p:sp>
      <p:sp>
        <p:nvSpPr>
          <p:cNvPr id="65" name="Rectangle 64"/>
          <p:cNvSpPr/>
          <p:nvPr/>
        </p:nvSpPr>
        <p:spPr>
          <a:xfrm>
            <a:off x="14218920" y="10793755"/>
            <a:ext cx="100584" cy="100584"/>
          </a:xfrm>
          <a:prstGeom prst="rect">
            <a:avLst/>
          </a:prstGeom>
          <a:solidFill>
            <a:srgbClr val="C58B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4400"/>
          </a:p>
        </p:txBody>
      </p:sp>
      <p:sp>
        <p:nvSpPr>
          <p:cNvPr id="66" name="TextBox 65"/>
          <p:cNvSpPr txBox="1"/>
          <p:nvPr/>
        </p:nvSpPr>
        <p:spPr>
          <a:xfrm>
            <a:off x="14420088" y="10720603"/>
            <a:ext cx="5788152" cy="233910"/>
          </a:xfrm>
          <a:prstGeom prst="rect">
            <a:avLst/>
          </a:prstGeom>
          <a:noFill/>
        </p:spPr>
        <p:txBody>
          <a:bodyPr wrap="square" lIns="27432" tIns="9144" rIns="27432" bIns="9144" anchor="t">
            <a:spAutoFit/>
          </a:bodyPr>
          <a:lstStyle/>
          <a:p>
            <a:r>
              <a:rPr sz="1400" b="0">
                <a:solidFill>
                  <a:srgbClr val="1F2933"/>
                </a:solidFill>
                <a:latin typeface="Microsoft JhengHei"/>
              </a:rPr>
              <a:t>指定 AI 的專業角色，降低泛泛而談的回應。</a:t>
            </a:r>
          </a:p>
        </p:txBody>
      </p:sp>
      <p:sp>
        <p:nvSpPr>
          <p:cNvPr id="67" name="Rectangle 66"/>
          <p:cNvSpPr/>
          <p:nvPr/>
        </p:nvSpPr>
        <p:spPr>
          <a:xfrm>
            <a:off x="14218920" y="11049787"/>
            <a:ext cx="100584" cy="100584"/>
          </a:xfrm>
          <a:prstGeom prst="rect">
            <a:avLst/>
          </a:prstGeom>
          <a:solidFill>
            <a:srgbClr val="C58B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4400"/>
          </a:p>
        </p:txBody>
      </p:sp>
      <p:sp>
        <p:nvSpPr>
          <p:cNvPr id="68" name="TextBox 67"/>
          <p:cNvSpPr txBox="1"/>
          <p:nvPr/>
        </p:nvSpPr>
        <p:spPr>
          <a:xfrm>
            <a:off x="14420088" y="10976635"/>
            <a:ext cx="5788152" cy="233910"/>
          </a:xfrm>
          <a:prstGeom prst="rect">
            <a:avLst/>
          </a:prstGeom>
          <a:noFill/>
        </p:spPr>
        <p:txBody>
          <a:bodyPr wrap="square" lIns="27432" tIns="9144" rIns="27432" bIns="9144" anchor="t">
            <a:spAutoFit/>
          </a:bodyPr>
          <a:lstStyle/>
          <a:p>
            <a:r>
              <a:rPr sz="1400" b="0">
                <a:solidFill>
                  <a:srgbClr val="1F2933"/>
                </a:solidFill>
                <a:latin typeface="Microsoft JhengHei"/>
              </a:rPr>
              <a:t>明列參數與公式，避免模型假設不清。</a:t>
            </a:r>
          </a:p>
        </p:txBody>
      </p:sp>
      <p:sp>
        <p:nvSpPr>
          <p:cNvPr id="69" name="Rectangle 68"/>
          <p:cNvSpPr/>
          <p:nvPr/>
        </p:nvSpPr>
        <p:spPr>
          <a:xfrm>
            <a:off x="14218920" y="11305818"/>
            <a:ext cx="100584" cy="100584"/>
          </a:xfrm>
          <a:prstGeom prst="rect">
            <a:avLst/>
          </a:prstGeom>
          <a:solidFill>
            <a:srgbClr val="C58B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4400"/>
          </a:p>
        </p:txBody>
      </p:sp>
      <p:sp>
        <p:nvSpPr>
          <p:cNvPr id="70" name="TextBox 69"/>
          <p:cNvSpPr txBox="1"/>
          <p:nvPr/>
        </p:nvSpPr>
        <p:spPr>
          <a:xfrm>
            <a:off x="14420088" y="11232666"/>
            <a:ext cx="5788152" cy="233910"/>
          </a:xfrm>
          <a:prstGeom prst="rect">
            <a:avLst/>
          </a:prstGeom>
          <a:noFill/>
        </p:spPr>
        <p:txBody>
          <a:bodyPr wrap="square" lIns="27432" tIns="9144" rIns="27432" bIns="9144" anchor="t">
            <a:spAutoFit/>
          </a:bodyPr>
          <a:lstStyle/>
          <a:p>
            <a:r>
              <a:rPr sz="1400" b="0">
                <a:solidFill>
                  <a:srgbClr val="1F2933"/>
                </a:solidFill>
                <a:latin typeface="Microsoft JhengHei"/>
              </a:rPr>
              <a:t>要求輸出迭代表格，讓結果可以檢查。</a:t>
            </a:r>
          </a:p>
        </p:txBody>
      </p:sp>
      <p:sp>
        <p:nvSpPr>
          <p:cNvPr id="71" name="Rectangle 70"/>
          <p:cNvSpPr/>
          <p:nvPr/>
        </p:nvSpPr>
        <p:spPr>
          <a:xfrm>
            <a:off x="14218920" y="11561850"/>
            <a:ext cx="100584" cy="100584"/>
          </a:xfrm>
          <a:prstGeom prst="rect">
            <a:avLst/>
          </a:prstGeom>
          <a:solidFill>
            <a:srgbClr val="C58B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4400"/>
          </a:p>
        </p:txBody>
      </p:sp>
      <p:sp>
        <p:nvSpPr>
          <p:cNvPr id="72" name="TextBox 71"/>
          <p:cNvSpPr txBox="1"/>
          <p:nvPr/>
        </p:nvSpPr>
        <p:spPr>
          <a:xfrm>
            <a:off x="14420088" y="11488698"/>
            <a:ext cx="5788152" cy="233910"/>
          </a:xfrm>
          <a:prstGeom prst="rect">
            <a:avLst/>
          </a:prstGeom>
          <a:noFill/>
        </p:spPr>
        <p:txBody>
          <a:bodyPr wrap="square" lIns="27432" tIns="9144" rIns="27432" bIns="9144" anchor="t">
            <a:spAutoFit/>
          </a:bodyPr>
          <a:lstStyle/>
          <a:p>
            <a:r>
              <a:rPr sz="1400" b="0">
                <a:solidFill>
                  <a:srgbClr val="1F2933"/>
                </a:solidFill>
                <a:latin typeface="Microsoft JhengHei"/>
              </a:rPr>
              <a:t>將 AI 回答轉為學生可解釋的金融判斷。</a:t>
            </a:r>
          </a:p>
        </p:txBody>
      </p:sp>
      <p:sp>
        <p:nvSpPr>
          <p:cNvPr id="73" name="Rounded Rectangle 72"/>
          <p:cNvSpPr/>
          <p:nvPr/>
        </p:nvSpPr>
        <p:spPr>
          <a:xfrm>
            <a:off x="14218920" y="11932920"/>
            <a:ext cx="5989320" cy="4160520"/>
          </a:xfrm>
          <a:prstGeom prst="roundRect">
            <a:avLst/>
          </a:prstGeom>
          <a:solidFill>
            <a:srgbClr val="E6F1ED"/>
          </a:solidFill>
          <a:ln w="6350">
            <a:solidFill>
              <a:srgbClr val="D9DF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4400"/>
          </a:p>
        </p:txBody>
      </p:sp>
      <p:sp>
        <p:nvSpPr>
          <p:cNvPr id="74" name="TextBox 73"/>
          <p:cNvSpPr txBox="1"/>
          <p:nvPr/>
        </p:nvSpPr>
        <p:spPr>
          <a:xfrm>
            <a:off x="14420087" y="12489398"/>
            <a:ext cx="5586983" cy="326243"/>
          </a:xfrm>
          <a:prstGeom prst="rect">
            <a:avLst/>
          </a:prstGeom>
          <a:noFill/>
        </p:spPr>
        <p:txBody>
          <a:bodyPr wrap="square" lIns="27432" tIns="9144" rIns="27432" bIns="9144" anchor="t">
            <a:spAutoFit/>
          </a:bodyPr>
          <a:lstStyle/>
          <a:p>
            <a:r>
              <a:rPr sz="2000" b="1">
                <a:solidFill>
                  <a:srgbClr val="1F6F5B"/>
                </a:solidFill>
                <a:latin typeface="Microsoft JhengHei"/>
              </a:rPr>
              <a:t>可展示的學習證據</a:t>
            </a:r>
          </a:p>
        </p:txBody>
      </p:sp>
      <p:sp>
        <p:nvSpPr>
          <p:cNvPr id="75" name="Rectangle 74"/>
          <p:cNvSpPr/>
          <p:nvPr/>
        </p:nvSpPr>
        <p:spPr>
          <a:xfrm>
            <a:off x="14420087" y="12974030"/>
            <a:ext cx="100584" cy="100584"/>
          </a:xfrm>
          <a:prstGeom prst="rect">
            <a:avLst/>
          </a:prstGeom>
          <a:solidFill>
            <a:srgbClr val="C58B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4400"/>
          </a:p>
        </p:txBody>
      </p:sp>
      <p:sp>
        <p:nvSpPr>
          <p:cNvPr id="76" name="TextBox 75"/>
          <p:cNvSpPr txBox="1"/>
          <p:nvPr/>
        </p:nvSpPr>
        <p:spPr>
          <a:xfrm>
            <a:off x="14621255" y="12900878"/>
            <a:ext cx="5385816" cy="233910"/>
          </a:xfrm>
          <a:prstGeom prst="rect">
            <a:avLst/>
          </a:prstGeom>
          <a:noFill/>
        </p:spPr>
        <p:txBody>
          <a:bodyPr wrap="square" lIns="27432" tIns="9144" rIns="27432" bIns="9144" anchor="t">
            <a:spAutoFit/>
          </a:bodyPr>
          <a:lstStyle/>
          <a:p>
            <a:r>
              <a:rPr sz="1400" b="0">
                <a:solidFill>
                  <a:srgbClr val="1F2933"/>
                </a:solidFill>
                <a:latin typeface="Microsoft JhengHei"/>
              </a:rPr>
              <a:t>手寫 Prompt 迭代記錄可呈現學生如何逐步修正 AI 指令。</a:t>
            </a:r>
          </a:p>
        </p:txBody>
      </p:sp>
      <p:sp>
        <p:nvSpPr>
          <p:cNvPr id="77" name="Rectangle 76"/>
          <p:cNvSpPr/>
          <p:nvPr/>
        </p:nvSpPr>
        <p:spPr>
          <a:xfrm>
            <a:off x="14420087" y="13230062"/>
            <a:ext cx="100584" cy="100584"/>
          </a:xfrm>
          <a:prstGeom prst="rect">
            <a:avLst/>
          </a:prstGeom>
          <a:solidFill>
            <a:srgbClr val="C58B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4400"/>
          </a:p>
        </p:txBody>
      </p:sp>
      <p:sp>
        <p:nvSpPr>
          <p:cNvPr id="78" name="TextBox 77"/>
          <p:cNvSpPr txBox="1"/>
          <p:nvPr/>
        </p:nvSpPr>
        <p:spPr>
          <a:xfrm>
            <a:off x="14621255" y="13156910"/>
            <a:ext cx="5385816" cy="233910"/>
          </a:xfrm>
          <a:prstGeom prst="rect">
            <a:avLst/>
          </a:prstGeom>
          <a:noFill/>
        </p:spPr>
        <p:txBody>
          <a:bodyPr wrap="square" lIns="27432" tIns="9144" rIns="27432" bIns="9144" anchor="t">
            <a:spAutoFit/>
          </a:bodyPr>
          <a:lstStyle/>
          <a:p>
            <a:r>
              <a:rPr sz="1400" b="0">
                <a:solidFill>
                  <a:srgbClr val="1F2933"/>
                </a:solidFill>
                <a:latin typeface="Microsoft JhengHei"/>
              </a:rPr>
              <a:t>方法比較表可呈現 AI 協作後的數值結果與專業判讀。</a:t>
            </a:r>
          </a:p>
        </p:txBody>
      </p:sp>
      <p:sp>
        <p:nvSpPr>
          <p:cNvPr id="79" name="Rectangle 78"/>
          <p:cNvSpPr/>
          <p:nvPr/>
        </p:nvSpPr>
        <p:spPr>
          <a:xfrm>
            <a:off x="14420087" y="13486094"/>
            <a:ext cx="100584" cy="100584"/>
          </a:xfrm>
          <a:prstGeom prst="rect">
            <a:avLst/>
          </a:prstGeom>
          <a:solidFill>
            <a:srgbClr val="C58B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4400"/>
          </a:p>
        </p:txBody>
      </p:sp>
      <p:sp>
        <p:nvSpPr>
          <p:cNvPr id="80" name="TextBox 79"/>
          <p:cNvSpPr txBox="1"/>
          <p:nvPr/>
        </p:nvSpPr>
        <p:spPr>
          <a:xfrm>
            <a:off x="14621255" y="13412942"/>
            <a:ext cx="5385816" cy="233910"/>
          </a:xfrm>
          <a:prstGeom prst="rect">
            <a:avLst/>
          </a:prstGeom>
          <a:noFill/>
        </p:spPr>
        <p:txBody>
          <a:bodyPr wrap="square" lIns="27432" tIns="9144" rIns="27432" bIns="9144" anchor="t">
            <a:spAutoFit/>
          </a:bodyPr>
          <a:lstStyle/>
          <a:p>
            <a:r>
              <a:rPr sz="1400" b="0">
                <a:solidFill>
                  <a:srgbClr val="1F2933"/>
                </a:solidFill>
                <a:latin typeface="Microsoft JhengHei"/>
              </a:rPr>
              <a:t>反思欄位可呈現學生沒有盲信 AI，而是回到模型與條件檢核。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14420088" y="14025539"/>
            <a:ext cx="5586983" cy="326243"/>
          </a:xfrm>
          <a:prstGeom prst="rect">
            <a:avLst/>
          </a:prstGeom>
          <a:noFill/>
        </p:spPr>
        <p:txBody>
          <a:bodyPr wrap="square" lIns="27432" tIns="9144" rIns="27432" bIns="9144" anchor="t">
            <a:spAutoFit/>
          </a:bodyPr>
          <a:lstStyle/>
          <a:p>
            <a:r>
              <a:rPr sz="2000" b="1">
                <a:solidFill>
                  <a:srgbClr val="1F6F5B"/>
                </a:solidFill>
                <a:latin typeface="Microsoft JhengHei"/>
              </a:rPr>
              <a:t>對應官方海報欄位</a:t>
            </a:r>
          </a:p>
        </p:txBody>
      </p:sp>
      <p:sp>
        <p:nvSpPr>
          <p:cNvPr id="82" name="Rectangle 81"/>
          <p:cNvSpPr/>
          <p:nvPr/>
        </p:nvSpPr>
        <p:spPr>
          <a:xfrm>
            <a:off x="14420088" y="14510170"/>
            <a:ext cx="100584" cy="100584"/>
          </a:xfrm>
          <a:prstGeom prst="rect">
            <a:avLst/>
          </a:prstGeom>
          <a:solidFill>
            <a:srgbClr val="C58B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4400"/>
          </a:p>
        </p:txBody>
      </p:sp>
      <p:sp>
        <p:nvSpPr>
          <p:cNvPr id="83" name="TextBox 82"/>
          <p:cNvSpPr txBox="1"/>
          <p:nvPr/>
        </p:nvSpPr>
        <p:spPr>
          <a:xfrm>
            <a:off x="14621256" y="14437019"/>
            <a:ext cx="5385816" cy="233910"/>
          </a:xfrm>
          <a:prstGeom prst="rect">
            <a:avLst/>
          </a:prstGeom>
          <a:noFill/>
        </p:spPr>
        <p:txBody>
          <a:bodyPr wrap="square" lIns="27432" tIns="9144" rIns="27432" bIns="9144" anchor="t">
            <a:spAutoFit/>
          </a:bodyPr>
          <a:lstStyle/>
          <a:p>
            <a:r>
              <a:rPr sz="1400" b="0">
                <a:solidFill>
                  <a:srgbClr val="1F2933"/>
                </a:solidFill>
                <a:latin typeface="Microsoft JhengHei"/>
              </a:rPr>
              <a:t>學習目標：把金融任務轉化為可驗證的 AI Prompt。</a:t>
            </a:r>
          </a:p>
        </p:txBody>
      </p:sp>
      <p:sp>
        <p:nvSpPr>
          <p:cNvPr id="84" name="Rectangle 83"/>
          <p:cNvSpPr/>
          <p:nvPr/>
        </p:nvSpPr>
        <p:spPr>
          <a:xfrm>
            <a:off x="14420088" y="14738770"/>
            <a:ext cx="100584" cy="100584"/>
          </a:xfrm>
          <a:prstGeom prst="rect">
            <a:avLst/>
          </a:prstGeom>
          <a:solidFill>
            <a:srgbClr val="C58B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4400"/>
          </a:p>
        </p:txBody>
      </p:sp>
      <p:sp>
        <p:nvSpPr>
          <p:cNvPr id="85" name="TextBox 84"/>
          <p:cNvSpPr txBox="1"/>
          <p:nvPr/>
        </p:nvSpPr>
        <p:spPr>
          <a:xfrm>
            <a:off x="14621256" y="14665619"/>
            <a:ext cx="5385816" cy="233910"/>
          </a:xfrm>
          <a:prstGeom prst="rect">
            <a:avLst/>
          </a:prstGeom>
          <a:noFill/>
        </p:spPr>
        <p:txBody>
          <a:bodyPr wrap="square" lIns="27432" tIns="9144" rIns="27432" bIns="9144" anchor="t">
            <a:spAutoFit/>
          </a:bodyPr>
          <a:lstStyle/>
          <a:p>
            <a:r>
              <a:rPr sz="1400" b="0">
                <a:solidFill>
                  <a:srgbClr val="1F2933"/>
                </a:solidFill>
                <a:latin typeface="Microsoft JhengHei"/>
              </a:rPr>
              <a:t>研究方法：以 Black-Scholes 模型搭配二分法與牛頓法求解。</a:t>
            </a:r>
          </a:p>
        </p:txBody>
      </p:sp>
      <p:sp>
        <p:nvSpPr>
          <p:cNvPr id="86" name="Rectangle 85"/>
          <p:cNvSpPr/>
          <p:nvPr/>
        </p:nvSpPr>
        <p:spPr>
          <a:xfrm>
            <a:off x="14420088" y="14967370"/>
            <a:ext cx="100584" cy="100584"/>
          </a:xfrm>
          <a:prstGeom prst="rect">
            <a:avLst/>
          </a:prstGeom>
          <a:solidFill>
            <a:srgbClr val="C58B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4400"/>
          </a:p>
        </p:txBody>
      </p:sp>
      <p:sp>
        <p:nvSpPr>
          <p:cNvPr id="87" name="TextBox 86"/>
          <p:cNvSpPr txBox="1"/>
          <p:nvPr/>
        </p:nvSpPr>
        <p:spPr>
          <a:xfrm>
            <a:off x="14621256" y="14894219"/>
            <a:ext cx="5385816" cy="233910"/>
          </a:xfrm>
          <a:prstGeom prst="rect">
            <a:avLst/>
          </a:prstGeom>
          <a:noFill/>
        </p:spPr>
        <p:txBody>
          <a:bodyPr wrap="square" lIns="27432" tIns="9144" rIns="27432" bIns="9144" anchor="t">
            <a:spAutoFit/>
          </a:bodyPr>
          <a:lstStyle/>
          <a:p>
            <a:r>
              <a:rPr sz="1400" b="0">
                <a:solidFill>
                  <a:srgbClr val="1F2933"/>
                </a:solidFill>
                <a:latin typeface="Microsoft JhengHei"/>
              </a:rPr>
              <a:t>研究成果：比較 IV、收斂次數、耗時與誤差。</a:t>
            </a:r>
          </a:p>
        </p:txBody>
      </p:sp>
      <p:sp>
        <p:nvSpPr>
          <p:cNvPr id="88" name="Rectangle 87"/>
          <p:cNvSpPr/>
          <p:nvPr/>
        </p:nvSpPr>
        <p:spPr>
          <a:xfrm>
            <a:off x="14420088" y="15195970"/>
            <a:ext cx="100584" cy="100584"/>
          </a:xfrm>
          <a:prstGeom prst="rect">
            <a:avLst/>
          </a:prstGeom>
          <a:solidFill>
            <a:srgbClr val="C58B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4400"/>
          </a:p>
        </p:txBody>
      </p:sp>
      <p:sp>
        <p:nvSpPr>
          <p:cNvPr id="89" name="TextBox 88"/>
          <p:cNvSpPr txBox="1"/>
          <p:nvPr/>
        </p:nvSpPr>
        <p:spPr>
          <a:xfrm>
            <a:off x="14621256" y="15122819"/>
            <a:ext cx="5385816" cy="233910"/>
          </a:xfrm>
          <a:prstGeom prst="rect">
            <a:avLst/>
          </a:prstGeom>
          <a:noFill/>
        </p:spPr>
        <p:txBody>
          <a:bodyPr wrap="square" lIns="27432" tIns="9144" rIns="27432" bIns="9144" anchor="t">
            <a:spAutoFit/>
          </a:bodyPr>
          <a:lstStyle/>
          <a:p>
            <a:r>
              <a:rPr sz="1400" b="0">
                <a:solidFill>
                  <a:srgbClr val="1F2933"/>
                </a:solidFill>
                <a:latin typeface="Microsoft JhengHei"/>
              </a:rPr>
              <a:t>AI 協作成果：展示 Prompt 修正、程式生成與人工檢核歷程。</a:t>
            </a:r>
          </a:p>
        </p:txBody>
      </p:sp>
      <p:sp>
        <p:nvSpPr>
          <p:cNvPr id="90" name="TextBox 89"/>
          <p:cNvSpPr txBox="1"/>
          <p:nvPr/>
        </p:nvSpPr>
        <p:spPr>
          <a:xfrm>
            <a:off x="868680" y="18031968"/>
            <a:ext cx="3657600" cy="326243"/>
          </a:xfrm>
          <a:prstGeom prst="rect">
            <a:avLst/>
          </a:prstGeom>
          <a:noFill/>
        </p:spPr>
        <p:txBody>
          <a:bodyPr wrap="square" lIns="27432" tIns="9144" rIns="27432" bIns="9144" anchor="t">
            <a:spAutoFit/>
          </a:bodyPr>
          <a:lstStyle/>
          <a:p>
            <a:r>
              <a:rPr sz="2000" b="1" dirty="0" err="1">
                <a:solidFill>
                  <a:srgbClr val="1F6F5B"/>
                </a:solidFill>
                <a:latin typeface="Microsoft JhengHei"/>
              </a:rPr>
              <a:t>研究成果</a:t>
            </a:r>
            <a:endParaRPr sz="2000" b="1" dirty="0">
              <a:solidFill>
                <a:srgbClr val="1F6F5B"/>
              </a:solidFill>
              <a:latin typeface="Microsoft JhengHei"/>
            </a:endParaRPr>
          </a:p>
        </p:txBody>
      </p:sp>
      <p:sp>
        <p:nvSpPr>
          <p:cNvPr id="91" name="Rectangle 90"/>
          <p:cNvSpPr/>
          <p:nvPr/>
        </p:nvSpPr>
        <p:spPr>
          <a:xfrm>
            <a:off x="868680" y="18416016"/>
            <a:ext cx="2560320" cy="32004"/>
          </a:xfrm>
          <a:prstGeom prst="rect">
            <a:avLst/>
          </a:prstGeom>
          <a:solidFill>
            <a:srgbClr val="C58B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2" name="Rounded Rectangle 91"/>
          <p:cNvSpPr/>
          <p:nvPr/>
        </p:nvSpPr>
        <p:spPr>
          <a:xfrm>
            <a:off x="868680" y="18562320"/>
            <a:ext cx="9418320" cy="3520440"/>
          </a:xfrm>
          <a:prstGeom prst="roundRect">
            <a:avLst/>
          </a:prstGeom>
          <a:solidFill>
            <a:srgbClr val="FFFDF8"/>
          </a:solidFill>
          <a:ln w="6350">
            <a:solidFill>
              <a:srgbClr val="D9DF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aphicFrame>
        <p:nvGraphicFramePr>
          <p:cNvPr id="93" name="Table 9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03185522"/>
              </p:ext>
            </p:extLst>
          </p:nvPr>
        </p:nvGraphicFramePr>
        <p:xfrm>
          <a:off x="1623060" y="19019519"/>
          <a:ext cx="6903720" cy="2057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317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286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286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14350">
                <a:tc>
                  <a:txBody>
                    <a:bodyPr/>
                    <a:lstStyle/>
                    <a:p>
                      <a:pPr algn="ctr"/>
                      <a:r>
                        <a:rPr sz="1400" b="1" dirty="0" err="1">
                          <a:solidFill>
                            <a:srgbClr val="FFFFFF"/>
                          </a:solidFill>
                          <a:latin typeface="Microsoft JhengHei"/>
                        </a:rPr>
                        <a:t>比較項目</a:t>
                      </a:r>
                      <a:endParaRPr sz="1400" b="1" dirty="0">
                        <a:solidFill>
                          <a:srgbClr val="FFFFFF"/>
                        </a:solidFill>
                        <a:latin typeface="Microsoft JhengHei"/>
                      </a:endParaRPr>
                    </a:p>
                  </a:txBody>
                  <a:tcPr anchor="ctr">
                    <a:solidFill>
                      <a:srgbClr val="1F6F5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  <a:latin typeface="Microsoft JhengHei"/>
                        </a:rPr>
                        <a:t>二分法</a:t>
                      </a:r>
                    </a:p>
                  </a:txBody>
                  <a:tcPr anchor="ctr">
                    <a:solidFill>
                      <a:srgbClr val="1F6F5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  <a:latin typeface="Microsoft JhengHei"/>
                        </a:rPr>
                        <a:t>牛頓法</a:t>
                      </a:r>
                    </a:p>
                  </a:txBody>
                  <a:tcPr anchor="ctr">
                    <a:solidFill>
                      <a:srgbClr val="1F6F5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14350"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1F2933"/>
                          </a:solidFill>
                          <a:latin typeface="Microsoft JhengHei"/>
                        </a:rPr>
                        <a:t>求解之 IV 值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1F2933"/>
                          </a:solidFill>
                          <a:latin typeface="Microsoft JhengHei"/>
                        </a:rPr>
                        <a:t>18.9637%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1F2933"/>
                          </a:solidFill>
                          <a:latin typeface="Microsoft JhengHei"/>
                        </a:rPr>
                        <a:t>18.9637%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14350"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1F2933"/>
                          </a:solidFill>
                          <a:latin typeface="Microsoft JhengHei"/>
                        </a:rPr>
                        <a:t>收斂次數 / 耗時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1F2933"/>
                          </a:solidFill>
                          <a:latin typeface="Microsoft JhengHei"/>
                        </a:rPr>
                        <a:t>31 次 / 約 3.85 ms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1F2933"/>
                          </a:solidFill>
                          <a:latin typeface="Microsoft JhengHei"/>
                        </a:rPr>
                        <a:t>3 次 / 約 0.72 ms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14350"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1F2933"/>
                          </a:solidFill>
                          <a:latin typeface="Microsoft JhengHei"/>
                        </a:rPr>
                        <a:t>求解精確度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1F2933"/>
                          </a:solidFill>
                          <a:latin typeface="Microsoft JhengHei"/>
                        </a:rPr>
                        <a:t>6.70 x 10^-7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 dirty="0">
                          <a:solidFill>
                            <a:srgbClr val="1F2933"/>
                          </a:solidFill>
                          <a:latin typeface="Microsoft JhengHei"/>
                        </a:rPr>
                        <a:t>1.40 x 10^-7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94" name="TextBox 93"/>
          <p:cNvSpPr txBox="1"/>
          <p:nvPr/>
        </p:nvSpPr>
        <p:spPr>
          <a:xfrm>
            <a:off x="1143000" y="21214080"/>
            <a:ext cx="8686800" cy="572464"/>
          </a:xfrm>
          <a:prstGeom prst="rect">
            <a:avLst/>
          </a:prstGeom>
          <a:noFill/>
        </p:spPr>
        <p:txBody>
          <a:bodyPr wrap="square" lIns="27432" tIns="9144" rIns="27432" bIns="9144" anchor="t">
            <a:spAutoFit/>
          </a:bodyPr>
          <a:lstStyle/>
          <a:p>
            <a:r>
              <a:rPr b="0" dirty="0" err="1">
                <a:solidFill>
                  <a:srgbClr val="4B5563"/>
                </a:solidFill>
                <a:latin typeface="Microsoft JhengHei"/>
              </a:rPr>
              <a:t>觀察：牛頓法以</a:t>
            </a:r>
            <a:r>
              <a:rPr b="0" dirty="0">
                <a:solidFill>
                  <a:srgbClr val="4B5563"/>
                </a:solidFill>
                <a:latin typeface="Microsoft JhengHei"/>
              </a:rPr>
              <a:t> 3 </a:t>
            </a:r>
            <a:r>
              <a:rPr b="0" dirty="0" err="1">
                <a:solidFill>
                  <a:srgbClr val="4B5563"/>
                </a:solidFill>
                <a:latin typeface="Microsoft JhengHei"/>
              </a:rPr>
              <a:t>次迭代即收斂，效率優於二分法；但數值方法是否穩定，仍取決於</a:t>
            </a:r>
            <a:r>
              <a:rPr b="0" dirty="0">
                <a:solidFill>
                  <a:srgbClr val="4B5563"/>
                </a:solidFill>
                <a:latin typeface="Microsoft JhengHei"/>
              </a:rPr>
              <a:t> Prompt </a:t>
            </a:r>
            <a:r>
              <a:rPr b="0" dirty="0" err="1">
                <a:solidFill>
                  <a:srgbClr val="4B5563"/>
                </a:solidFill>
                <a:latin typeface="Microsoft JhengHei"/>
              </a:rPr>
              <a:t>是否明確指定參數、公式與收斂條件</a:t>
            </a:r>
            <a:r>
              <a:rPr b="0" dirty="0">
                <a:solidFill>
                  <a:srgbClr val="4B5563"/>
                </a:solidFill>
                <a:latin typeface="Microsoft JhengHei"/>
              </a:rPr>
              <a:t>。</a:t>
            </a:r>
          </a:p>
        </p:txBody>
      </p:sp>
      <p:sp>
        <p:nvSpPr>
          <p:cNvPr id="95" name="TextBox 94"/>
          <p:cNvSpPr txBox="1"/>
          <p:nvPr/>
        </p:nvSpPr>
        <p:spPr>
          <a:xfrm>
            <a:off x="10469880" y="18031968"/>
            <a:ext cx="4572000" cy="320040"/>
          </a:xfrm>
          <a:prstGeom prst="rect">
            <a:avLst/>
          </a:prstGeom>
          <a:noFill/>
        </p:spPr>
        <p:txBody>
          <a:bodyPr wrap="square" lIns="27432" tIns="9144" rIns="27432" bIns="9144" anchor="t">
            <a:spAutoFit/>
          </a:bodyPr>
          <a:lstStyle>
            <a:defPPr>
              <a:defRPr lang="en-US"/>
            </a:defPPr>
            <a:lvl1pPr>
              <a:defRPr sz="2000" b="1">
                <a:solidFill>
                  <a:srgbClr val="1F6F5B"/>
                </a:solidFill>
                <a:latin typeface="Microsoft JhengHei"/>
              </a:defRPr>
            </a:lvl1pPr>
          </a:lstStyle>
          <a:p>
            <a:r>
              <a:rPr dirty="0" err="1"/>
              <a:t>反思與學習收穫</a:t>
            </a:r>
            <a:endParaRPr dirty="0"/>
          </a:p>
        </p:txBody>
      </p:sp>
      <p:sp>
        <p:nvSpPr>
          <p:cNvPr id="96" name="Rectangle 95"/>
          <p:cNvSpPr/>
          <p:nvPr/>
        </p:nvSpPr>
        <p:spPr>
          <a:xfrm>
            <a:off x="10469880" y="18416016"/>
            <a:ext cx="2560320" cy="32004"/>
          </a:xfrm>
          <a:prstGeom prst="rect">
            <a:avLst/>
          </a:prstGeom>
          <a:solidFill>
            <a:srgbClr val="C58B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7" name="Rounded Rectangle 96"/>
          <p:cNvSpPr/>
          <p:nvPr/>
        </p:nvSpPr>
        <p:spPr>
          <a:xfrm>
            <a:off x="10469880" y="18562320"/>
            <a:ext cx="6355080" cy="3520440"/>
          </a:xfrm>
          <a:prstGeom prst="roundRect">
            <a:avLst/>
          </a:prstGeom>
          <a:solidFill>
            <a:srgbClr val="E6F1ED"/>
          </a:solidFill>
          <a:ln w="6350">
            <a:solidFill>
              <a:srgbClr val="D9DF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8" name="Rectangle 97"/>
          <p:cNvSpPr/>
          <p:nvPr/>
        </p:nvSpPr>
        <p:spPr>
          <a:xfrm>
            <a:off x="10744200" y="19352537"/>
            <a:ext cx="100584" cy="100584"/>
          </a:xfrm>
          <a:prstGeom prst="rect">
            <a:avLst/>
          </a:prstGeom>
          <a:solidFill>
            <a:srgbClr val="C58B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9" name="TextBox 98"/>
          <p:cNvSpPr txBox="1"/>
          <p:nvPr/>
        </p:nvSpPr>
        <p:spPr>
          <a:xfrm>
            <a:off x="10945368" y="19297674"/>
            <a:ext cx="5559552" cy="233910"/>
          </a:xfrm>
          <a:prstGeom prst="rect">
            <a:avLst/>
          </a:prstGeom>
          <a:noFill/>
        </p:spPr>
        <p:txBody>
          <a:bodyPr wrap="square" lIns="27432" tIns="9144" rIns="27432" bIns="9144" anchor="t">
            <a:spAutoFit/>
          </a:bodyPr>
          <a:lstStyle/>
          <a:p>
            <a:r>
              <a:rPr sz="1400" b="0" dirty="0">
                <a:solidFill>
                  <a:srgbClr val="1F2933"/>
                </a:solidFill>
                <a:latin typeface="Microsoft JhengHei"/>
              </a:rPr>
              <a:t>AI </a:t>
            </a:r>
            <a:r>
              <a:rPr sz="1400" b="0" dirty="0" err="1">
                <a:solidFill>
                  <a:srgbClr val="1F2933"/>
                </a:solidFill>
                <a:latin typeface="Microsoft JhengHei"/>
              </a:rPr>
              <a:t>可快速產生程式與公式，但不等於結果必然正確</a:t>
            </a:r>
            <a:r>
              <a:rPr sz="1400" b="0" dirty="0">
                <a:solidFill>
                  <a:srgbClr val="1F2933"/>
                </a:solidFill>
                <a:latin typeface="Microsoft JhengHei"/>
              </a:rPr>
              <a:t>。</a:t>
            </a:r>
          </a:p>
        </p:txBody>
      </p:sp>
      <p:sp>
        <p:nvSpPr>
          <p:cNvPr id="100" name="Rectangle 99"/>
          <p:cNvSpPr/>
          <p:nvPr/>
        </p:nvSpPr>
        <p:spPr>
          <a:xfrm>
            <a:off x="10744200" y="19789041"/>
            <a:ext cx="100584" cy="100584"/>
          </a:xfrm>
          <a:prstGeom prst="rect">
            <a:avLst/>
          </a:prstGeom>
          <a:solidFill>
            <a:srgbClr val="C58B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1" name="TextBox 100"/>
          <p:cNvSpPr txBox="1"/>
          <p:nvPr/>
        </p:nvSpPr>
        <p:spPr>
          <a:xfrm>
            <a:off x="10945368" y="19734178"/>
            <a:ext cx="5559552" cy="233910"/>
          </a:xfrm>
          <a:prstGeom prst="rect">
            <a:avLst/>
          </a:prstGeom>
          <a:noFill/>
        </p:spPr>
        <p:txBody>
          <a:bodyPr wrap="square" lIns="27432" tIns="9144" rIns="27432" bIns="9144" anchor="t">
            <a:spAutoFit/>
          </a:bodyPr>
          <a:lstStyle/>
          <a:p>
            <a:r>
              <a:rPr sz="1400" b="0" dirty="0" err="1">
                <a:solidFill>
                  <a:srgbClr val="1F2933"/>
                </a:solidFill>
                <a:latin typeface="Microsoft JhengHei"/>
              </a:rPr>
              <a:t>金融數據任務需要明確定義單位、期間、利率與收斂門檻</a:t>
            </a:r>
            <a:r>
              <a:rPr sz="1400" b="0" dirty="0">
                <a:solidFill>
                  <a:srgbClr val="1F2933"/>
                </a:solidFill>
                <a:latin typeface="Microsoft JhengHei"/>
              </a:rPr>
              <a:t>。</a:t>
            </a:r>
          </a:p>
        </p:txBody>
      </p:sp>
      <p:sp>
        <p:nvSpPr>
          <p:cNvPr id="102" name="Rectangle 101"/>
          <p:cNvSpPr/>
          <p:nvPr/>
        </p:nvSpPr>
        <p:spPr>
          <a:xfrm>
            <a:off x="10744200" y="20210657"/>
            <a:ext cx="100584" cy="100584"/>
          </a:xfrm>
          <a:prstGeom prst="rect">
            <a:avLst/>
          </a:prstGeom>
          <a:solidFill>
            <a:srgbClr val="C58B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3" name="TextBox 102"/>
          <p:cNvSpPr txBox="1"/>
          <p:nvPr/>
        </p:nvSpPr>
        <p:spPr>
          <a:xfrm>
            <a:off x="10945368" y="20155793"/>
            <a:ext cx="5559552" cy="233910"/>
          </a:xfrm>
          <a:prstGeom prst="rect">
            <a:avLst/>
          </a:prstGeom>
          <a:noFill/>
        </p:spPr>
        <p:txBody>
          <a:bodyPr wrap="square" lIns="27432" tIns="9144" rIns="27432" bIns="9144" anchor="t">
            <a:spAutoFit/>
          </a:bodyPr>
          <a:lstStyle/>
          <a:p>
            <a:r>
              <a:rPr sz="1400" b="0">
                <a:solidFill>
                  <a:srgbClr val="1F2933"/>
                </a:solidFill>
                <a:latin typeface="Microsoft JhengHei"/>
              </a:rPr>
              <a:t>學生能從 AI 的回答中回到講義與模型，進行人工查核。</a:t>
            </a:r>
          </a:p>
        </p:txBody>
      </p:sp>
      <p:sp>
        <p:nvSpPr>
          <p:cNvPr id="104" name="Rectangle 103"/>
          <p:cNvSpPr/>
          <p:nvPr/>
        </p:nvSpPr>
        <p:spPr>
          <a:xfrm>
            <a:off x="10744200" y="20685539"/>
            <a:ext cx="100584" cy="100584"/>
          </a:xfrm>
          <a:prstGeom prst="rect">
            <a:avLst/>
          </a:prstGeom>
          <a:solidFill>
            <a:srgbClr val="C58B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5" name="TextBox 104"/>
          <p:cNvSpPr txBox="1"/>
          <p:nvPr/>
        </p:nvSpPr>
        <p:spPr>
          <a:xfrm>
            <a:off x="10945368" y="20659703"/>
            <a:ext cx="5559552" cy="233910"/>
          </a:xfrm>
          <a:prstGeom prst="rect">
            <a:avLst/>
          </a:prstGeom>
          <a:noFill/>
        </p:spPr>
        <p:txBody>
          <a:bodyPr wrap="square" lIns="27432" tIns="9144" rIns="27432" bIns="9144" anchor="t">
            <a:spAutoFit/>
          </a:bodyPr>
          <a:lstStyle/>
          <a:p>
            <a:r>
              <a:rPr sz="1400" b="0" dirty="0" err="1">
                <a:solidFill>
                  <a:srgbClr val="1F2933"/>
                </a:solidFill>
                <a:latin typeface="Microsoft JhengHei"/>
              </a:rPr>
              <a:t>未來使用</a:t>
            </a:r>
            <a:r>
              <a:rPr sz="1400" b="0" dirty="0">
                <a:solidFill>
                  <a:srgbClr val="1F2933"/>
                </a:solidFill>
                <a:latin typeface="Microsoft JhengHei"/>
              </a:rPr>
              <a:t> AI </a:t>
            </a:r>
            <a:r>
              <a:rPr sz="1400" b="0" dirty="0" err="1">
                <a:solidFill>
                  <a:srgbClr val="1F2933"/>
                </a:solidFill>
                <a:latin typeface="Microsoft JhengHei"/>
              </a:rPr>
              <a:t>做金融運算，應以可重算、可追蹤、可解釋為原則</a:t>
            </a:r>
            <a:r>
              <a:rPr sz="1400" b="0" dirty="0">
                <a:solidFill>
                  <a:srgbClr val="1F2933"/>
                </a:solidFill>
                <a:latin typeface="Microsoft JhengHei"/>
              </a:rPr>
              <a:t>。</a:t>
            </a:r>
          </a:p>
        </p:txBody>
      </p:sp>
      <p:sp>
        <p:nvSpPr>
          <p:cNvPr id="106" name="TextBox 105"/>
          <p:cNvSpPr txBox="1"/>
          <p:nvPr/>
        </p:nvSpPr>
        <p:spPr>
          <a:xfrm>
            <a:off x="17099280" y="18031968"/>
            <a:ext cx="3566160" cy="320040"/>
          </a:xfrm>
          <a:prstGeom prst="rect">
            <a:avLst/>
          </a:prstGeom>
          <a:noFill/>
        </p:spPr>
        <p:txBody>
          <a:bodyPr wrap="square" lIns="27432" tIns="9144" rIns="27432" bIns="9144" anchor="t">
            <a:spAutoFit/>
          </a:bodyPr>
          <a:lstStyle>
            <a:defPPr>
              <a:defRPr lang="en-US"/>
            </a:defPPr>
            <a:lvl1pPr>
              <a:defRPr sz="2000" b="1">
                <a:solidFill>
                  <a:srgbClr val="1F6F5B"/>
                </a:solidFill>
                <a:latin typeface="Microsoft JhengHei"/>
              </a:defRPr>
            </a:lvl1pPr>
          </a:lstStyle>
          <a:p>
            <a:r>
              <a:rPr dirty="0" err="1"/>
              <a:t>資訊延伸</a:t>
            </a:r>
            <a:r>
              <a:rPr dirty="0"/>
              <a:t> QR Code</a:t>
            </a:r>
          </a:p>
        </p:txBody>
      </p:sp>
      <p:sp>
        <p:nvSpPr>
          <p:cNvPr id="107" name="Rectangle 106"/>
          <p:cNvSpPr/>
          <p:nvPr/>
        </p:nvSpPr>
        <p:spPr>
          <a:xfrm>
            <a:off x="17099280" y="18416016"/>
            <a:ext cx="2560320" cy="32004"/>
          </a:xfrm>
          <a:prstGeom prst="rect">
            <a:avLst/>
          </a:prstGeom>
          <a:solidFill>
            <a:srgbClr val="C58B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8" name="Rounded Rectangle 107"/>
          <p:cNvSpPr/>
          <p:nvPr/>
        </p:nvSpPr>
        <p:spPr>
          <a:xfrm>
            <a:off x="17099280" y="18562320"/>
            <a:ext cx="3291840" cy="3520440"/>
          </a:xfrm>
          <a:prstGeom prst="roundRect">
            <a:avLst/>
          </a:prstGeom>
          <a:solidFill>
            <a:srgbClr val="FFFDF8"/>
          </a:solidFill>
          <a:ln w="6350">
            <a:solidFill>
              <a:srgbClr val="D9DF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1" name="TextBox 110"/>
          <p:cNvSpPr txBox="1"/>
          <p:nvPr/>
        </p:nvSpPr>
        <p:spPr>
          <a:xfrm>
            <a:off x="17373600" y="20802600"/>
            <a:ext cx="2560320" cy="233910"/>
          </a:xfrm>
          <a:prstGeom prst="rect">
            <a:avLst/>
          </a:prstGeom>
          <a:noFill/>
        </p:spPr>
        <p:txBody>
          <a:bodyPr wrap="square" lIns="27432" tIns="9144" rIns="27432" bIns="9144" anchor="t">
            <a:spAutoFit/>
          </a:bodyPr>
          <a:lstStyle/>
          <a:p>
            <a:r>
              <a:rPr sz="1400" b="1" dirty="0" err="1">
                <a:solidFill>
                  <a:srgbClr val="1F6F5B"/>
                </a:solidFill>
                <a:latin typeface="Microsoft JhengHei"/>
              </a:rPr>
              <a:t>完整作品資訊</a:t>
            </a:r>
            <a:endParaRPr sz="1400" b="1" dirty="0">
              <a:solidFill>
                <a:srgbClr val="1F6F5B"/>
              </a:solidFill>
              <a:latin typeface="Microsoft JhengHei"/>
            </a:endParaRPr>
          </a:p>
        </p:txBody>
      </p:sp>
      <p:sp>
        <p:nvSpPr>
          <p:cNvPr id="112" name="TextBox 111"/>
          <p:cNvSpPr txBox="1"/>
          <p:nvPr/>
        </p:nvSpPr>
        <p:spPr>
          <a:xfrm>
            <a:off x="17373600" y="21104352"/>
            <a:ext cx="2651760" cy="187744"/>
          </a:xfrm>
          <a:prstGeom prst="rect">
            <a:avLst/>
          </a:prstGeom>
          <a:noFill/>
        </p:spPr>
        <p:txBody>
          <a:bodyPr wrap="square" lIns="27432" tIns="9144" rIns="27432" bIns="9144" anchor="t">
            <a:spAutoFit/>
          </a:bodyPr>
          <a:lstStyle/>
          <a:p>
            <a:r>
              <a:rPr sz="1100" b="1" dirty="0" err="1">
                <a:solidFill>
                  <a:srgbClr val="1F2933"/>
                </a:solidFill>
                <a:latin typeface="Microsoft JhengHei"/>
              </a:rPr>
              <a:t>學生學習單、AI</a:t>
            </a:r>
            <a:r>
              <a:rPr sz="1100" b="1" dirty="0">
                <a:solidFill>
                  <a:srgbClr val="1F2933"/>
                </a:solidFill>
                <a:latin typeface="Microsoft JhengHei"/>
              </a:rPr>
              <a:t> </a:t>
            </a:r>
            <a:r>
              <a:rPr sz="1100" b="1" dirty="0" err="1">
                <a:solidFill>
                  <a:srgbClr val="1F2933"/>
                </a:solidFill>
                <a:latin typeface="Microsoft JhengHei"/>
              </a:rPr>
              <a:t>協作紀錄與成果資料</a:t>
            </a:r>
            <a:endParaRPr sz="1100" b="1" dirty="0">
              <a:solidFill>
                <a:srgbClr val="1F2933"/>
              </a:solidFill>
              <a:latin typeface="Microsoft JhengHei"/>
            </a:endParaRPr>
          </a:p>
        </p:txBody>
      </p:sp>
      <p:sp>
        <p:nvSpPr>
          <p:cNvPr id="113" name="Rounded Rectangle 112"/>
          <p:cNvSpPr/>
          <p:nvPr/>
        </p:nvSpPr>
        <p:spPr>
          <a:xfrm>
            <a:off x="868680" y="23042880"/>
            <a:ext cx="19659600" cy="4800600"/>
          </a:xfrm>
          <a:prstGeom prst="roundRect">
            <a:avLst/>
          </a:prstGeom>
          <a:solidFill>
            <a:srgbClr val="0F3D34"/>
          </a:solidFill>
          <a:ln w="6350">
            <a:solidFill>
              <a:srgbClr val="0F3D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4" name="TextBox 113"/>
          <p:cNvSpPr txBox="1"/>
          <p:nvPr/>
        </p:nvSpPr>
        <p:spPr>
          <a:xfrm>
            <a:off x="1143000" y="23317200"/>
            <a:ext cx="2743200" cy="449354"/>
          </a:xfrm>
          <a:prstGeom prst="rect">
            <a:avLst/>
          </a:prstGeom>
          <a:noFill/>
        </p:spPr>
        <p:txBody>
          <a:bodyPr wrap="square" lIns="27432" tIns="9144" rIns="27432" bIns="9144" anchor="t">
            <a:spAutoFit/>
          </a:bodyPr>
          <a:lstStyle/>
          <a:p>
            <a:r>
              <a:rPr sz="2800" b="1">
                <a:solidFill>
                  <a:srgbClr val="FFFFFF"/>
                </a:solidFill>
                <a:latin typeface="Microsoft JhengHei"/>
              </a:rPr>
              <a:t>展場導讀</a:t>
            </a:r>
          </a:p>
        </p:txBody>
      </p:sp>
      <p:sp>
        <p:nvSpPr>
          <p:cNvPr id="115" name="TextBox 114"/>
          <p:cNvSpPr txBox="1"/>
          <p:nvPr/>
        </p:nvSpPr>
        <p:spPr>
          <a:xfrm>
            <a:off x="1143000" y="23865840"/>
            <a:ext cx="17922240" cy="264688"/>
          </a:xfrm>
          <a:prstGeom prst="rect">
            <a:avLst/>
          </a:prstGeom>
          <a:noFill/>
        </p:spPr>
        <p:txBody>
          <a:bodyPr wrap="square" lIns="27432" tIns="9144" rIns="27432" bIns="9144" anchor="t">
            <a:spAutoFit/>
          </a:bodyPr>
          <a:lstStyle/>
          <a:p>
            <a:r>
              <a:rPr sz="1600" b="0" dirty="0" err="1">
                <a:solidFill>
                  <a:srgbClr val="FFFFFF"/>
                </a:solidFill>
                <a:latin typeface="Microsoft JhengHei"/>
              </a:rPr>
              <a:t>這份作品呈現學生如何把「請</a:t>
            </a:r>
            <a:r>
              <a:rPr sz="1600" b="0" dirty="0">
                <a:solidFill>
                  <a:srgbClr val="FFFFFF"/>
                </a:solidFill>
                <a:latin typeface="Microsoft JhengHei"/>
              </a:rPr>
              <a:t> AI </a:t>
            </a:r>
            <a:r>
              <a:rPr sz="1600" b="0" dirty="0" err="1">
                <a:solidFill>
                  <a:srgbClr val="FFFFFF"/>
                </a:solidFill>
                <a:latin typeface="Microsoft JhengHei"/>
              </a:rPr>
              <a:t>幫我算」轉化為可驗證的專業分析：先給定金融參數與模型，再要求</a:t>
            </a:r>
            <a:r>
              <a:rPr sz="1600" b="0" dirty="0">
                <a:solidFill>
                  <a:srgbClr val="FFFFFF"/>
                </a:solidFill>
                <a:latin typeface="Microsoft JhengHei"/>
              </a:rPr>
              <a:t> AI </a:t>
            </a:r>
            <a:r>
              <a:rPr sz="1600" b="0" dirty="0" err="1">
                <a:solidFill>
                  <a:srgbClr val="FFFFFF"/>
                </a:solidFill>
                <a:latin typeface="Microsoft JhengHei"/>
              </a:rPr>
              <a:t>產生</a:t>
            </a:r>
            <a:r>
              <a:rPr sz="1600" b="0" dirty="0">
                <a:solidFill>
                  <a:srgbClr val="FFFFFF"/>
                </a:solidFill>
                <a:latin typeface="Microsoft JhengHei"/>
              </a:rPr>
              <a:t> Python </a:t>
            </a:r>
            <a:r>
              <a:rPr sz="1600" b="0" dirty="0" err="1">
                <a:solidFill>
                  <a:srgbClr val="FFFFFF"/>
                </a:solidFill>
                <a:latin typeface="Microsoft JhengHei"/>
              </a:rPr>
              <a:t>程式與數值方法，最後用表格比較二分法與牛頓法的收斂效率</a:t>
            </a:r>
            <a:r>
              <a:rPr sz="1600" b="0" dirty="0">
                <a:solidFill>
                  <a:srgbClr val="FFFFFF"/>
                </a:solidFill>
                <a:latin typeface="Microsoft JhengHei"/>
              </a:rPr>
              <a:t>。</a:t>
            </a:r>
          </a:p>
        </p:txBody>
      </p:sp>
      <p:sp>
        <p:nvSpPr>
          <p:cNvPr id="116" name="TextBox 115"/>
          <p:cNvSpPr txBox="1"/>
          <p:nvPr/>
        </p:nvSpPr>
        <p:spPr>
          <a:xfrm>
            <a:off x="1143000" y="24460730"/>
            <a:ext cx="2286000" cy="326243"/>
          </a:xfrm>
          <a:prstGeom prst="rect">
            <a:avLst/>
          </a:prstGeom>
          <a:noFill/>
        </p:spPr>
        <p:txBody>
          <a:bodyPr wrap="square" lIns="27432" tIns="9144" rIns="27432" bIns="9144" anchor="t">
            <a:spAutoFit/>
          </a:bodyPr>
          <a:lstStyle/>
          <a:p>
            <a:r>
              <a:rPr lang="zh-TW" altLang="en-US" sz="2000" b="1" dirty="0">
                <a:solidFill>
                  <a:srgbClr val="C58B2B"/>
                </a:solidFill>
                <a:latin typeface="Microsoft JhengHei"/>
              </a:rPr>
              <a:t>重點</a:t>
            </a:r>
            <a:endParaRPr sz="2000" b="1" dirty="0">
              <a:solidFill>
                <a:srgbClr val="C58B2B"/>
              </a:solidFill>
              <a:latin typeface="Microsoft JhengHei"/>
            </a:endParaRPr>
          </a:p>
        </p:txBody>
      </p:sp>
      <p:sp>
        <p:nvSpPr>
          <p:cNvPr id="117" name="Rectangle 116"/>
          <p:cNvSpPr/>
          <p:nvPr/>
        </p:nvSpPr>
        <p:spPr>
          <a:xfrm>
            <a:off x="1143000" y="25036802"/>
            <a:ext cx="100584" cy="100584"/>
          </a:xfrm>
          <a:prstGeom prst="rect">
            <a:avLst/>
          </a:prstGeom>
          <a:solidFill>
            <a:srgbClr val="C58B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3200"/>
          </a:p>
        </p:txBody>
      </p:sp>
      <p:sp>
        <p:nvSpPr>
          <p:cNvPr id="118" name="TextBox 117"/>
          <p:cNvSpPr txBox="1"/>
          <p:nvPr/>
        </p:nvSpPr>
        <p:spPr>
          <a:xfrm>
            <a:off x="1344168" y="24963650"/>
            <a:ext cx="17446752" cy="264688"/>
          </a:xfrm>
          <a:prstGeom prst="rect">
            <a:avLst/>
          </a:prstGeom>
          <a:noFill/>
        </p:spPr>
        <p:txBody>
          <a:bodyPr wrap="square" lIns="27432" tIns="9144" rIns="27432" bIns="9144" anchor="t">
            <a:spAutoFit/>
          </a:bodyPr>
          <a:lstStyle/>
          <a:p>
            <a:r>
              <a:rPr sz="1600" b="0" dirty="0" err="1">
                <a:solidFill>
                  <a:srgbClr val="FFFFFF"/>
                </a:solidFill>
                <a:latin typeface="Microsoft JhengHei"/>
              </a:rPr>
              <a:t>把生成式</a:t>
            </a:r>
            <a:r>
              <a:rPr sz="1600" b="0" dirty="0">
                <a:solidFill>
                  <a:srgbClr val="FFFFFF"/>
                </a:solidFill>
                <a:latin typeface="Microsoft JhengHei"/>
              </a:rPr>
              <a:t> AI </a:t>
            </a:r>
            <a:r>
              <a:rPr sz="1600" b="0" dirty="0" err="1">
                <a:solidFill>
                  <a:srgbClr val="FFFFFF"/>
                </a:solidFill>
                <a:latin typeface="Microsoft JhengHei"/>
              </a:rPr>
              <a:t>從答案產生器轉為金融計算與程式實作的協作工具</a:t>
            </a:r>
            <a:r>
              <a:rPr sz="1600" b="0" dirty="0">
                <a:solidFill>
                  <a:srgbClr val="FFFFFF"/>
                </a:solidFill>
                <a:latin typeface="Microsoft JhengHei"/>
              </a:rPr>
              <a:t>。</a:t>
            </a:r>
          </a:p>
        </p:txBody>
      </p:sp>
      <p:sp>
        <p:nvSpPr>
          <p:cNvPr id="119" name="Rectangle 118"/>
          <p:cNvSpPr/>
          <p:nvPr/>
        </p:nvSpPr>
        <p:spPr>
          <a:xfrm>
            <a:off x="1143000" y="25447856"/>
            <a:ext cx="100584" cy="100584"/>
          </a:xfrm>
          <a:prstGeom prst="rect">
            <a:avLst/>
          </a:prstGeom>
          <a:solidFill>
            <a:srgbClr val="C58B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3200"/>
          </a:p>
        </p:txBody>
      </p:sp>
      <p:sp>
        <p:nvSpPr>
          <p:cNvPr id="120" name="TextBox 119"/>
          <p:cNvSpPr txBox="1"/>
          <p:nvPr/>
        </p:nvSpPr>
        <p:spPr>
          <a:xfrm>
            <a:off x="1344168" y="25374704"/>
            <a:ext cx="17446752" cy="264688"/>
          </a:xfrm>
          <a:prstGeom prst="rect">
            <a:avLst/>
          </a:prstGeom>
          <a:noFill/>
        </p:spPr>
        <p:txBody>
          <a:bodyPr wrap="square" lIns="27432" tIns="9144" rIns="27432" bIns="9144" anchor="t">
            <a:spAutoFit/>
          </a:bodyPr>
          <a:lstStyle/>
          <a:p>
            <a:r>
              <a:rPr sz="1600" b="0" dirty="0" err="1">
                <a:solidFill>
                  <a:srgbClr val="FFFFFF"/>
                </a:solidFill>
                <a:latin typeface="Microsoft JhengHei"/>
              </a:rPr>
              <a:t>透過</a:t>
            </a:r>
            <a:r>
              <a:rPr sz="1600" b="0" dirty="0">
                <a:solidFill>
                  <a:srgbClr val="FFFFFF"/>
                </a:solidFill>
                <a:latin typeface="Microsoft JhengHei"/>
              </a:rPr>
              <a:t> Prompt </a:t>
            </a:r>
            <a:r>
              <a:rPr sz="1600" b="0" dirty="0" err="1">
                <a:solidFill>
                  <a:srgbClr val="FFFFFF"/>
                </a:solidFill>
                <a:latin typeface="Microsoft JhengHei"/>
              </a:rPr>
              <a:t>迭代要求</a:t>
            </a:r>
            <a:r>
              <a:rPr sz="1600" b="0" dirty="0">
                <a:solidFill>
                  <a:srgbClr val="FFFFFF"/>
                </a:solidFill>
                <a:latin typeface="Microsoft JhengHei"/>
              </a:rPr>
              <a:t> AI </a:t>
            </a:r>
            <a:r>
              <a:rPr sz="1600" b="0" dirty="0" err="1">
                <a:solidFill>
                  <a:srgbClr val="FFFFFF"/>
                </a:solidFill>
                <a:latin typeface="Microsoft JhengHei"/>
              </a:rPr>
              <a:t>明確輸出公式、參數、程式與結果表</a:t>
            </a:r>
            <a:r>
              <a:rPr sz="1600" b="0" dirty="0">
                <a:solidFill>
                  <a:srgbClr val="FFFFFF"/>
                </a:solidFill>
                <a:latin typeface="Microsoft JhengHei"/>
              </a:rPr>
              <a:t>。</a:t>
            </a:r>
          </a:p>
        </p:txBody>
      </p:sp>
      <p:sp>
        <p:nvSpPr>
          <p:cNvPr id="121" name="Rectangle 120"/>
          <p:cNvSpPr/>
          <p:nvPr/>
        </p:nvSpPr>
        <p:spPr>
          <a:xfrm>
            <a:off x="1143000" y="25871920"/>
            <a:ext cx="100584" cy="100584"/>
          </a:xfrm>
          <a:prstGeom prst="rect">
            <a:avLst/>
          </a:prstGeom>
          <a:solidFill>
            <a:srgbClr val="C58B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3200"/>
          </a:p>
        </p:txBody>
      </p:sp>
      <p:sp>
        <p:nvSpPr>
          <p:cNvPr id="122" name="TextBox 121"/>
          <p:cNvSpPr txBox="1"/>
          <p:nvPr/>
        </p:nvSpPr>
        <p:spPr>
          <a:xfrm>
            <a:off x="1344168" y="25798768"/>
            <a:ext cx="17446752" cy="264688"/>
          </a:xfrm>
          <a:prstGeom prst="rect">
            <a:avLst/>
          </a:prstGeom>
          <a:noFill/>
        </p:spPr>
        <p:txBody>
          <a:bodyPr wrap="square" lIns="27432" tIns="9144" rIns="27432" bIns="9144" anchor="t">
            <a:spAutoFit/>
          </a:bodyPr>
          <a:lstStyle/>
          <a:p>
            <a:r>
              <a:rPr sz="1600" b="0">
                <a:solidFill>
                  <a:srgbClr val="FFFFFF"/>
                </a:solidFill>
                <a:latin typeface="Microsoft JhengHei"/>
              </a:rPr>
              <a:t>以專業判斷檢核 AI 回應，展現學生在金融模型與數值方法上的理解。</a:t>
            </a:r>
          </a:p>
        </p:txBody>
      </p:sp>
      <p:sp>
        <p:nvSpPr>
          <p:cNvPr id="125" name="TextBox 124"/>
          <p:cNvSpPr txBox="1"/>
          <p:nvPr/>
        </p:nvSpPr>
        <p:spPr>
          <a:xfrm>
            <a:off x="1143000" y="27039338"/>
            <a:ext cx="17922240" cy="295466"/>
          </a:xfrm>
          <a:prstGeom prst="rect">
            <a:avLst/>
          </a:prstGeom>
          <a:noFill/>
        </p:spPr>
        <p:txBody>
          <a:bodyPr wrap="square" lIns="27432" tIns="9144" rIns="27432" bIns="9144" anchor="t">
            <a:spAutoFit/>
          </a:bodyPr>
          <a:lstStyle/>
          <a:p>
            <a:r>
              <a:rPr b="1">
                <a:solidFill>
                  <a:srgbClr val="C58B2B"/>
                </a:solidFill>
                <a:latin typeface="Microsoft JhengHei"/>
              </a:rPr>
              <a:t>關鍵能力：Prompt 設計｜程式生成｜數值方法比較｜AI 回應查核｜金融專業判斷</a:t>
            </a:r>
          </a:p>
        </p:txBody>
      </p:sp>
      <p:sp>
        <p:nvSpPr>
          <p:cNvPr id="126" name="Rectangle 125"/>
          <p:cNvSpPr/>
          <p:nvPr/>
        </p:nvSpPr>
        <p:spPr>
          <a:xfrm>
            <a:off x="868680" y="29260800"/>
            <a:ext cx="19659600" cy="18288"/>
          </a:xfrm>
          <a:prstGeom prst="rect">
            <a:avLst/>
          </a:prstGeom>
          <a:solidFill>
            <a:srgbClr val="D9DF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7" name="TextBox 126"/>
          <p:cNvSpPr txBox="1"/>
          <p:nvPr/>
        </p:nvSpPr>
        <p:spPr>
          <a:xfrm>
            <a:off x="868680" y="28638437"/>
            <a:ext cx="12344400" cy="326243"/>
          </a:xfrm>
          <a:prstGeom prst="rect">
            <a:avLst/>
          </a:prstGeom>
          <a:noFill/>
        </p:spPr>
        <p:txBody>
          <a:bodyPr wrap="square" lIns="27432" tIns="9144" rIns="27432" bIns="9144" anchor="t">
            <a:spAutoFit/>
          </a:bodyPr>
          <a:lstStyle/>
          <a:p>
            <a:r>
              <a:rPr sz="2000" b="0" dirty="0" err="1">
                <a:solidFill>
                  <a:srgbClr val="4B5563"/>
                </a:solidFill>
                <a:latin typeface="Microsoft JhengHei"/>
              </a:rPr>
              <a:t>生成式</a:t>
            </a:r>
            <a:r>
              <a:rPr sz="2000" b="0" dirty="0">
                <a:solidFill>
                  <a:srgbClr val="4B5563"/>
                </a:solidFill>
                <a:latin typeface="Microsoft JhengHei"/>
              </a:rPr>
              <a:t> AI 融入專業課程補助計畫｜A1 </a:t>
            </a:r>
            <a:r>
              <a:rPr sz="2000" b="0" dirty="0" err="1">
                <a:solidFill>
                  <a:srgbClr val="4B5563"/>
                </a:solidFill>
                <a:latin typeface="Microsoft JhengHei"/>
              </a:rPr>
              <a:t>直式成果海報｜AI</a:t>
            </a:r>
            <a:r>
              <a:rPr sz="2000" b="0" dirty="0">
                <a:solidFill>
                  <a:srgbClr val="4B5563"/>
                </a:solidFill>
                <a:latin typeface="Microsoft JhengHei"/>
              </a:rPr>
              <a:t> </a:t>
            </a:r>
            <a:r>
              <a:rPr sz="2000" b="0" dirty="0" err="1">
                <a:solidFill>
                  <a:srgbClr val="4B5563"/>
                </a:solidFill>
                <a:latin typeface="Microsoft JhengHei"/>
              </a:rPr>
              <a:t>輔助金融數據分析：隱含波動率之計算與優化</a:t>
            </a:r>
            <a:endParaRPr sz="2000" b="0" dirty="0">
              <a:solidFill>
                <a:srgbClr val="4B5563"/>
              </a:solidFill>
              <a:latin typeface="Microsoft JhengHei"/>
            </a:endParaRPr>
          </a:p>
        </p:txBody>
      </p:sp>
      <p:pic>
        <p:nvPicPr>
          <p:cNvPr id="129" name="圖片 128">
            <a:extLst>
              <a:ext uri="{FF2B5EF4-FFF2-40B4-BE49-F238E27FC236}">
                <a16:creationId xmlns:a16="http://schemas.microsoft.com/office/drawing/2014/main" id="{B7FCD4B6-03FC-5CE4-9BD3-110333DB701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7736892" y="18779187"/>
            <a:ext cx="1922708" cy="1922708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412</Words>
  <Application>Microsoft Office PowerPoint</Application>
  <PresentationFormat>自訂</PresentationFormat>
  <Paragraphs>80</Paragraphs>
  <Slides>1</Slides>
  <Notes>0</Notes>
  <HiddenSlides>0</HiddenSlides>
  <MMClips>0</MMClips>
  <ScaleCrop>false</ScaleCrop>
  <HeadingPairs>
    <vt:vector size="6" baseType="variant">
      <vt:variant>
        <vt:lpstr>使用字型</vt:lpstr>
      </vt:variant>
      <vt:variant>
        <vt:i4>3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1</vt:i4>
      </vt:variant>
    </vt:vector>
  </HeadingPairs>
  <TitlesOfParts>
    <vt:vector size="5" baseType="lpstr">
      <vt:lpstr>Microsoft JhengHei</vt:lpstr>
      <vt:lpstr>Arial</vt:lpstr>
      <vt:lpstr>Calibri</vt:lpstr>
      <vt:lpstr>Office Theme</vt:lpstr>
      <vt:lpstr>PowerPoint 簡報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陳信全</cp:lastModifiedBy>
  <cp:revision>3</cp:revision>
  <dcterms:created xsi:type="dcterms:W3CDTF">2013-01-27T09:14:16Z</dcterms:created>
  <dcterms:modified xsi:type="dcterms:W3CDTF">2026-06-04T13:36:03Z</dcterms:modified>
  <cp:category/>
</cp:coreProperties>
</file>