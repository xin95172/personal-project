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 Bold" charset="1" panose="020B0800040000020004"/>
      <p:regular r:id="rId17"/>
    </p:embeddedFont>
    <p:embeddedFont>
      <p:font typeface="Canva Sans" charset="1" panose="020B0503030501040103"/>
      <p:regular r:id="rId18"/>
    </p:embeddedFont>
    <p:embeddedFont>
      <p:font typeface="Helvetica World" charset="1" panose="020B0500040000020004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850185" y="1028700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3652820" y="0"/>
                </a:moveTo>
                <a:lnTo>
                  <a:pt x="0" y="0"/>
                </a:lnTo>
                <a:lnTo>
                  <a:pt x="0" y="9258300"/>
                </a:lnTo>
                <a:lnTo>
                  <a:pt x="3652820" y="9258300"/>
                </a:lnTo>
                <a:lnTo>
                  <a:pt x="365282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9730" y="1028700"/>
            <a:ext cx="14666437" cy="9258300"/>
            <a:chOff x="0" y="0"/>
            <a:chExt cx="3542301" cy="22361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236104"/>
            </a:xfrm>
            <a:custGeom>
              <a:avLst/>
              <a:gdLst/>
              <a:ahLst/>
              <a:cxnLst/>
              <a:rect r="r" b="b" t="t" l="l"/>
              <a:pathLst>
                <a:path h="2236104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83318"/>
                  </a:lnTo>
                  <a:cubicBezTo>
                    <a:pt x="3542301" y="2212471"/>
                    <a:pt x="3518667" y="2236104"/>
                    <a:pt x="3489514" y="2236104"/>
                  </a:cubicBezTo>
                  <a:lnTo>
                    <a:pt x="52787" y="2236104"/>
                  </a:lnTo>
                  <a:cubicBezTo>
                    <a:pt x="23633" y="2236104"/>
                    <a:pt x="0" y="2212471"/>
                    <a:pt x="0" y="2183318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9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89986" y="5128064"/>
            <a:ext cx="11681887" cy="378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86"/>
              </a:lnSpc>
            </a:pPr>
            <a:r>
              <a:rPr lang="en-US" b="true" sz="1567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金融資料探勘期中報告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5369766" y="4539237"/>
            <a:ext cx="11876935" cy="20773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7225928" y="1028700"/>
            <a:ext cx="0" cy="1051269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102231" y="2514338"/>
            <a:ext cx="1260945" cy="1260945"/>
          </a:xfrm>
          <a:custGeom>
            <a:avLst/>
            <a:gdLst/>
            <a:ahLst/>
            <a:cxnLst/>
            <a:rect r="r" b="b" t="t" l="l"/>
            <a:pathLst>
              <a:path h="1260945" w="1260945">
                <a:moveTo>
                  <a:pt x="0" y="0"/>
                </a:moveTo>
                <a:lnTo>
                  <a:pt x="1260945" y="0"/>
                </a:lnTo>
                <a:lnTo>
                  <a:pt x="1260945" y="1260944"/>
                </a:lnTo>
                <a:lnTo>
                  <a:pt x="0" y="126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5969" y="7002243"/>
            <a:ext cx="3581724" cy="318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應數四</a:t>
            </a:r>
            <a:r>
              <a:rPr lang="en-US" sz="30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411111211 洪凱倫 2022</a:t>
            </a:r>
          </a:p>
          <a:p>
            <a:pPr algn="l">
              <a:lnSpc>
                <a:spcPts val="4260"/>
              </a:lnSpc>
            </a:pPr>
            <a:r>
              <a:rPr lang="en-US" sz="30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財金四  411136028  陳俊佐 2023</a:t>
            </a:r>
          </a:p>
          <a:p>
            <a:pPr algn="l">
              <a:lnSpc>
                <a:spcPts val="4260"/>
              </a:lnSpc>
            </a:pPr>
            <a:r>
              <a:rPr lang="en-US" sz="30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經濟五  411042033  陳樸 2024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74180" y="8859777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研究主題與期間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21600"/>
            <a:ext cx="586321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研究期間:2022~2024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14307"/>
            <a:ext cx="7705871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研究問題：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看漲 vs 看跌 IV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 平均數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 標準差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PCR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14122" y="4139735"/>
            <a:ext cx="7351481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選擇權隱含波動率代表市場對未來風險的預期，本研究希望比較看漲與看跌投資人對市場波動的評價差異，並結合 PCR 判斷市場情緒變化。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資料來源與分工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04301"/>
            <a:ext cx="4488337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資料來源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19300"/>
            <a:ext cx="4488337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分工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68756"/>
            <a:ext cx="7705871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TXO逐筆交易資料(老師給)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指數價格(TEJ Pro)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無風險利率(臺灣銀行)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1211" y="3404301"/>
            <a:ext cx="5754094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最後如何整合為三年資料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6883" y="6331842"/>
            <a:ext cx="4563303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3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組員      負責年度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洪凱倫    2022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陳俊佐    2023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陳樸        2024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46073" y="4278281"/>
            <a:ext cx="10356529" cy="522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統一邏輯 (Consistency)：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計算模型： 全組統一使用 Black-Scholes模型與二分法迭代計算。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參數標準： 統一對接臺灣銀行 Rf、TEJ 指數收盤價，並確保 Maturity &gt;= 1。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資料清洗 (Cleaning)：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三位組員分別處理 2022、2023、2024 年原始資料，並刪除無解、異常值及成交量= &lt;30筆之樣本。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合併串接 (Merging)：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統一日期格式（YYYY-MM-DD）與欄位名稱（Date, Type, Mean_IV, Std_IV）。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修正跨年度接合處的重複值與到期日計算落差。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74180" y="8859777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資料處理流程與方法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464" y="3351010"/>
            <a:ext cx="5841387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資料處理流程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33932" y="5931691"/>
            <a:ext cx="6065398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 計算方式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33932" y="6875720"/>
            <a:ext cx="8011398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Black-Scholes 模型 + 二分法（Bisection Method）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33932" y="3351010"/>
            <a:ext cx="4488337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篩選條件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3932" y="4125240"/>
            <a:ext cx="7705871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Maturity&gt;=1天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計算IV 成交數量&gt;=30筆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464" y="4166819"/>
            <a:ext cx="7782247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逐筆交易資料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資料清理(刪缺值/異常值)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反推隱含波動率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每日IV平均數與標準差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三年整合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57251" y="3309901"/>
            <a:ext cx="3106460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無法求IV → 移除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交易量過低 → 篩除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缺值處理方式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52588" y="3130170"/>
            <a:ext cx="10003961" cy="6889520"/>
          </a:xfrm>
          <a:custGeom>
            <a:avLst/>
            <a:gdLst/>
            <a:ahLst/>
            <a:cxnLst/>
            <a:rect r="r" b="b" t="t" l="l"/>
            <a:pathLst>
              <a:path h="6889520" w="10003961">
                <a:moveTo>
                  <a:pt x="0" y="0"/>
                </a:moveTo>
                <a:lnTo>
                  <a:pt x="10003961" y="0"/>
                </a:lnTo>
                <a:lnTo>
                  <a:pt x="10003961" y="6889521"/>
                </a:lnTo>
                <a:lnTo>
                  <a:pt x="0" y="6889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01" t="-8374" r="-8790" b="-558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主要結果圖表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0646552" y="317924"/>
          <a:ext cx="3771900" cy="1885950"/>
        </p:xfrm>
        <a:graphic>
          <a:graphicData uri="http://schemas.openxmlformats.org/presentationml/2006/ole">
            <p:oleObj imgW="4521200" imgH="2628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709851" y="3020718"/>
            <a:ext cx="14279311" cy="7139656"/>
          </a:xfrm>
          <a:custGeom>
            <a:avLst/>
            <a:gdLst/>
            <a:ahLst/>
            <a:cxnLst/>
            <a:rect r="r" b="b" t="t" l="l"/>
            <a:pathLst>
              <a:path h="7139656" w="14279311">
                <a:moveTo>
                  <a:pt x="0" y="0"/>
                </a:moveTo>
                <a:lnTo>
                  <a:pt x="14279312" y="0"/>
                </a:lnTo>
                <a:lnTo>
                  <a:pt x="14279312" y="7139655"/>
                </a:lnTo>
                <a:lnTo>
                  <a:pt x="0" y="7139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主要結果圖表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98968" y="2791884"/>
            <a:ext cx="13008142" cy="7455347"/>
          </a:xfrm>
          <a:custGeom>
            <a:avLst/>
            <a:gdLst/>
            <a:ahLst/>
            <a:cxnLst/>
            <a:rect r="r" b="b" t="t" l="l"/>
            <a:pathLst>
              <a:path h="7455347" w="13008142">
                <a:moveTo>
                  <a:pt x="0" y="0"/>
                </a:moveTo>
                <a:lnTo>
                  <a:pt x="13008143" y="0"/>
                </a:lnTo>
                <a:lnTo>
                  <a:pt x="13008143" y="7455346"/>
                </a:lnTo>
                <a:lnTo>
                  <a:pt x="0" y="745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2" t="-1637" r="-244" b="-53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財務與統計意義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74180" y="8859777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問題、限制與修正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509164"/>
            <a:ext cx="975420" cy="71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  <a:spcBef>
                <a:spcPct val="0"/>
              </a:spcBef>
            </a:pPr>
            <a:r>
              <a:rPr lang="en-US" b="true" sz="384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問題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69531" y="3509164"/>
            <a:ext cx="1950839" cy="71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  <a:spcBef>
                <a:spcPct val="0"/>
              </a:spcBef>
            </a:pPr>
            <a:r>
              <a:rPr lang="en-US" b="true" sz="384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修正方式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4806" y="3509164"/>
            <a:ext cx="1950839" cy="71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  <a:spcBef>
                <a:spcPct val="0"/>
              </a:spcBef>
            </a:pPr>
            <a:r>
              <a:rPr lang="en-US" b="true" sz="384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發現情況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334226"/>
            <a:ext cx="4759713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日期欄位重複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Maturity 計算錯誤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程式執行過久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2023資料名稱不一樣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44806" y="4334226"/>
            <a:ext cx="5174358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生成多一列 Date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Maturity為 0 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執行超過30分鐘</a:t>
            </a:r>
          </a:p>
          <a:p>
            <a:pPr algn="just">
              <a:lnSpc>
                <a:spcPts val="50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769531" y="4334226"/>
            <a:ext cx="4759713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明確指定欄位順序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確保</a:t>
            </a: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Maturity ≥ 1 天 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篩選TXO 成交量&gt;=30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寫程式讓格式統一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協作紀錄摘要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6009" y="3877310"/>
            <a:ext cx="17587152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程式開發： 輔助撰寫 Python 迴圈計算 IV，提升處理逐筆資料的效率。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視覺化： 協助繪圖程式碼，呈現三年跨維度對比。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Prompt 修正歷程：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初版：「計算期權隱含波動率」-&gt; 結果包含過多極端值與 Maturity=0。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進階版：「使用二分法計算 IV，並加入異常值篩選與Maturity&gt;=邏輯」-&gt;計算穩定性提升。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反思： AI 能處理龐大運算，但資料品質監控（如重複日期、空值補入）。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5845" y="1289474"/>
            <a:ext cx="14721118" cy="14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114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結論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65305" y="317924"/>
            <a:ext cx="2600223" cy="2922651"/>
          </a:xfrm>
          <a:custGeom>
            <a:avLst/>
            <a:gdLst/>
            <a:ahLst/>
            <a:cxnLst/>
            <a:rect r="r" b="b" t="t" l="l"/>
            <a:pathLst>
              <a:path h="2922651" w="2600223">
                <a:moveTo>
                  <a:pt x="0" y="0"/>
                </a:moveTo>
                <a:lnTo>
                  <a:pt x="2600223" y="0"/>
                </a:lnTo>
                <a:lnTo>
                  <a:pt x="2600223" y="2922651"/>
                </a:lnTo>
                <a:lnTo>
                  <a:pt x="0" y="2922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5845" y="3173900"/>
            <a:ext cx="6393418" cy="316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市場風險預期（IV 分析）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Put 隱含波動率普遍高於 Call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顯示投資人對下跌風險較為敏感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市場存在明顯避險需求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👉 市場呈現 風險厭惡特性。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5845" y="6787782"/>
            <a:ext cx="7715608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2️⃣ 投資人情緒（PCR 分析）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PCR 大多數時間接近 1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市場整體維持多空平衡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當 PCR 上升時，出現短期悲觀情緒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👉 PCR 能有效反映投資人情緒變化。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9158" y="3173900"/>
            <a:ext cx="6316146" cy="316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3️⃣ 市場不確定性（IV 波動）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 在特定期間出現明顯波動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代表市場對未來走勢看法分歧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高 IV 時期通常伴隨市場壓力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👉 IV 為重要的市場風險指標。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9158" y="6561655"/>
            <a:ext cx="7018080" cy="316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22年碰上戰爭 再加上升息及通膨的影響 當時的市場是很悲觀的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23年升息預期進入尾聲 市場狹幅震盪IV下降</a:t>
            </a:r>
          </a:p>
          <a:p>
            <a:pPr algn="l">
              <a:lnSpc>
                <a:spcPts val="5034"/>
              </a:lnSpc>
              <a:spcBef>
                <a:spcPct val="0"/>
              </a:spcBef>
            </a:pPr>
            <a:r>
              <a:rPr lang="en-US" sz="3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24年重回多頭走勢於是又走向樂觀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220" y="916263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0" y="0"/>
                </a:moveTo>
                <a:lnTo>
                  <a:pt x="3652821" y="0"/>
                </a:lnTo>
                <a:lnTo>
                  <a:pt x="365282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768342" y="916263"/>
            <a:ext cx="14666437" cy="9258300"/>
            <a:chOff x="0" y="0"/>
            <a:chExt cx="3542301" cy="22361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236104"/>
            </a:xfrm>
            <a:custGeom>
              <a:avLst/>
              <a:gdLst/>
              <a:ahLst/>
              <a:cxnLst/>
              <a:rect r="r" b="b" t="t" l="l"/>
              <a:pathLst>
                <a:path h="2236104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83318"/>
                  </a:lnTo>
                  <a:cubicBezTo>
                    <a:pt x="3542301" y="2212471"/>
                    <a:pt x="3518667" y="2236104"/>
                    <a:pt x="3489514" y="2236104"/>
                  </a:cubicBezTo>
                  <a:lnTo>
                    <a:pt x="52787" y="2236104"/>
                  </a:lnTo>
                  <a:cubicBezTo>
                    <a:pt x="23633" y="2236104"/>
                    <a:pt x="0" y="2212471"/>
                    <a:pt x="0" y="2183318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066C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9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8694" y="3722252"/>
            <a:ext cx="8889400" cy="383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6"/>
              </a:lnSpc>
            </a:pPr>
            <a:r>
              <a:rPr lang="en-US" sz="1633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DAHG-TyGEOU</dc:identifier>
  <dcterms:modified xsi:type="dcterms:W3CDTF">2011-08-01T06:04:30Z</dcterms:modified>
  <cp:revision>1</cp:revision>
  <dc:title>金融資料探勘期中報告第7組</dc:title>
</cp:coreProperties>
</file>