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3B6275-1204-8AE4-AC37-672D6EE72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DBBA98F-3EF2-D9ED-0EA2-79E9D1466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A158C12-9780-A745-5064-D95306256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E469-2767-469B-91D9-732830ED0D6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AC7958-A9C3-F85C-7A90-FF1C22E95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8550148-5FDD-2166-A919-5A4ECB7C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6655-ED95-4E16-941F-CE2300FF4A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7255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441C00-735B-9092-A233-241061A58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88D8AE-DCB9-3EF8-CCD6-8B3B3C6B7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2DC2EC-D20B-6714-22C9-355E9035E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E469-2767-469B-91D9-732830ED0D6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B5337D-FADB-28FE-8C91-126D395DF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D89698-53E7-2821-A532-B99ECC41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6655-ED95-4E16-941F-CE2300FF4A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5917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1981B5-7346-7038-4588-AF86185E6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A07E2D-E600-14FA-AFEC-9EB7BF93E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2F175B-AE48-EFA0-A632-A0D514031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E469-2767-469B-91D9-732830ED0D6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1884F0-DA73-092C-A984-3DBDE3BCD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826966-04AE-5CA7-533E-D45F9F0B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6655-ED95-4E16-941F-CE2300FF4A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2950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3EE9AA-9A4D-A6F1-7093-5CC5A6DEC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A00CF3-F70E-52A3-C681-82573C98EA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1D63F35-6E30-D540-C0A6-8239DB083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083CE4A-4324-DBBC-6C14-1ECF333BF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E469-2767-469B-91D9-732830ED0D6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24F8918-B5E7-AE42-A0D4-F7FC5B529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7844F1B-8D6E-603B-0087-18E4B0E7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6655-ED95-4E16-941F-CE2300FF4A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4715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4F1988-4F5E-ED77-7C61-63291EE0A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04E118-E994-7442-2D91-AD8B78A56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B85C30A-0A31-B478-6445-DDDE99E72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F1559C9-07AE-5A9D-94F2-600D6E557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24E1BFF-2A05-D54C-5183-03E4180A2D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77FC481-C6EA-31C7-9C52-897F098E3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E469-2767-469B-91D9-732830ED0D6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BFA1241-7591-5510-8DB8-6A34A337F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2379D2E-4B18-EE97-CC0E-DC4A8C8C9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6655-ED95-4E16-941F-CE2300FF4A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815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1E39A2-4472-1B01-47EE-3FA2597D5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6F61F7E-1F96-94F0-13F4-75997E27C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E469-2767-469B-91D9-732830ED0D6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0EB8A23-9BC3-ED6D-814E-9DF09558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474F58-4030-5532-A143-32B911184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6655-ED95-4E16-941F-CE2300FF4A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718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33F4999-9DDA-FCE6-C7F0-710F7E59C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E469-2767-469B-91D9-732830ED0D6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5232B35-E6E6-1937-A304-9BB75A2A9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FF838F-038F-3A0E-F427-A9D44EB33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6655-ED95-4E16-941F-CE2300FF4A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5038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8CD6F4-5021-886A-8216-427B7D986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CF8063-1FE3-7011-A158-28340C944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0C6B64C-DE6D-3DE5-6B20-D92F9A460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5B46CA0-932E-37A6-4788-DF8019035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E469-2767-469B-91D9-732830ED0D6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7A21C4D-B094-2AA4-EE9B-9066AAF62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0DE3165-428B-6125-C6C5-B27F83708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6655-ED95-4E16-941F-CE2300FF4A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1820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262AEB-7B69-8D8F-7BDF-691167ED1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15EF95D-F054-7690-5037-97D4614359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64541FB-DAD1-4D0C-4B2D-7D81E6542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CF44182-6E27-AC87-5165-0F3B3A737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E469-2767-469B-91D9-732830ED0D6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8363D5-3495-9BFC-ED01-CA21FB1F2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663C178-AF4D-B3BB-0A86-8CB3860A4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6655-ED95-4E16-941F-CE2300FF4A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292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01D083-4F31-F0CD-5E5A-10CBF4DAD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3F02A40-022E-DDBD-224F-1667683F6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6B58FC-A975-8C3B-02D2-267D2EBB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E469-2767-469B-91D9-732830ED0D6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902D10-DE95-767D-5589-A6E172E75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3B74FD-04BB-38BA-D446-A62E6568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6655-ED95-4E16-941F-CE2300FF4A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35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6A4B028-132B-DAF1-851C-5343FCD7D1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78D3E3B-5B9C-88AC-0EEE-7F457D5BD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7BA9F0-D4F7-0D50-9BDF-ACD5015FD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E469-2767-469B-91D9-732830ED0D6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5A8A99-D5A7-CF50-4331-3C924D4DD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0CE5AC-BDDF-B40A-7C02-38BA3BDEC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6655-ED95-4E16-941F-CE2300FF4A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8492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30B421C-012C-28AD-0892-33FB94828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C0AC38-1434-5D40-E302-E5F1F2963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8BB0E3-5978-5812-FDDE-7840B43F4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87E469-2767-469B-91D9-732830ED0D6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772AF9-4B0F-44CA-D31C-BA43FC495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1300D5-45F7-C6AA-AEB3-A353B8186E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BC6655-ED95-4E16-941F-CE2300FF4A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918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38B7EDB6-478D-6C35-FA22-4516A7610B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2637" y="2529261"/>
            <a:ext cx="7644962" cy="3793547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48247601-79D9-4AFF-4A10-924EB393F4FF}"/>
              </a:ext>
            </a:extLst>
          </p:cNvPr>
          <p:cNvSpPr txBox="1"/>
          <p:nvPr/>
        </p:nvSpPr>
        <p:spPr>
          <a:xfrm>
            <a:off x="8737599" y="3502891"/>
            <a:ext cx="3149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這是投資組合有用到的策略跟資產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2F909395-7596-722E-8B66-B43663119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50648"/>
              </p:ext>
            </p:extLst>
          </p:nvPr>
        </p:nvGraphicFramePr>
        <p:xfrm>
          <a:off x="1092637" y="444179"/>
          <a:ext cx="10077046" cy="1976087"/>
        </p:xfrm>
        <a:graphic>
          <a:graphicData uri="http://schemas.openxmlformats.org/drawingml/2006/table">
            <a:tbl>
              <a:tblPr/>
              <a:tblGrid>
                <a:gridCol w="719789">
                  <a:extLst>
                    <a:ext uri="{9D8B030D-6E8A-4147-A177-3AD203B41FA5}">
                      <a16:colId xmlns:a16="http://schemas.microsoft.com/office/drawing/2014/main" val="1212501059"/>
                    </a:ext>
                  </a:extLst>
                </a:gridCol>
                <a:gridCol w="719789">
                  <a:extLst>
                    <a:ext uri="{9D8B030D-6E8A-4147-A177-3AD203B41FA5}">
                      <a16:colId xmlns:a16="http://schemas.microsoft.com/office/drawing/2014/main" val="1559396340"/>
                    </a:ext>
                  </a:extLst>
                </a:gridCol>
                <a:gridCol w="719789">
                  <a:extLst>
                    <a:ext uri="{9D8B030D-6E8A-4147-A177-3AD203B41FA5}">
                      <a16:colId xmlns:a16="http://schemas.microsoft.com/office/drawing/2014/main" val="2398418487"/>
                    </a:ext>
                  </a:extLst>
                </a:gridCol>
                <a:gridCol w="719789">
                  <a:extLst>
                    <a:ext uri="{9D8B030D-6E8A-4147-A177-3AD203B41FA5}">
                      <a16:colId xmlns:a16="http://schemas.microsoft.com/office/drawing/2014/main" val="2170310851"/>
                    </a:ext>
                  </a:extLst>
                </a:gridCol>
                <a:gridCol w="719789">
                  <a:extLst>
                    <a:ext uri="{9D8B030D-6E8A-4147-A177-3AD203B41FA5}">
                      <a16:colId xmlns:a16="http://schemas.microsoft.com/office/drawing/2014/main" val="3981170427"/>
                    </a:ext>
                  </a:extLst>
                </a:gridCol>
                <a:gridCol w="719789">
                  <a:extLst>
                    <a:ext uri="{9D8B030D-6E8A-4147-A177-3AD203B41FA5}">
                      <a16:colId xmlns:a16="http://schemas.microsoft.com/office/drawing/2014/main" val="1382143045"/>
                    </a:ext>
                  </a:extLst>
                </a:gridCol>
                <a:gridCol w="719789">
                  <a:extLst>
                    <a:ext uri="{9D8B030D-6E8A-4147-A177-3AD203B41FA5}">
                      <a16:colId xmlns:a16="http://schemas.microsoft.com/office/drawing/2014/main" val="597677617"/>
                    </a:ext>
                  </a:extLst>
                </a:gridCol>
                <a:gridCol w="719789">
                  <a:extLst>
                    <a:ext uri="{9D8B030D-6E8A-4147-A177-3AD203B41FA5}">
                      <a16:colId xmlns:a16="http://schemas.microsoft.com/office/drawing/2014/main" val="3212890972"/>
                    </a:ext>
                  </a:extLst>
                </a:gridCol>
                <a:gridCol w="719789">
                  <a:extLst>
                    <a:ext uri="{9D8B030D-6E8A-4147-A177-3AD203B41FA5}">
                      <a16:colId xmlns:a16="http://schemas.microsoft.com/office/drawing/2014/main" val="581869156"/>
                    </a:ext>
                  </a:extLst>
                </a:gridCol>
                <a:gridCol w="719789">
                  <a:extLst>
                    <a:ext uri="{9D8B030D-6E8A-4147-A177-3AD203B41FA5}">
                      <a16:colId xmlns:a16="http://schemas.microsoft.com/office/drawing/2014/main" val="3276015575"/>
                    </a:ext>
                  </a:extLst>
                </a:gridCol>
                <a:gridCol w="719789">
                  <a:extLst>
                    <a:ext uri="{9D8B030D-6E8A-4147-A177-3AD203B41FA5}">
                      <a16:colId xmlns:a16="http://schemas.microsoft.com/office/drawing/2014/main" val="532916198"/>
                    </a:ext>
                  </a:extLst>
                </a:gridCol>
                <a:gridCol w="719789">
                  <a:extLst>
                    <a:ext uri="{9D8B030D-6E8A-4147-A177-3AD203B41FA5}">
                      <a16:colId xmlns:a16="http://schemas.microsoft.com/office/drawing/2014/main" val="2496583447"/>
                    </a:ext>
                  </a:extLst>
                </a:gridCol>
                <a:gridCol w="719789">
                  <a:extLst>
                    <a:ext uri="{9D8B030D-6E8A-4147-A177-3AD203B41FA5}">
                      <a16:colId xmlns:a16="http://schemas.microsoft.com/office/drawing/2014/main" val="2252415228"/>
                    </a:ext>
                  </a:extLst>
                </a:gridCol>
                <a:gridCol w="719789">
                  <a:extLst>
                    <a:ext uri="{9D8B030D-6E8A-4147-A177-3AD203B41FA5}">
                      <a16:colId xmlns:a16="http://schemas.microsoft.com/office/drawing/2014/main" val="962280478"/>
                    </a:ext>
                  </a:extLst>
                </a:gridCol>
              </a:tblGrid>
              <a:tr h="25995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 dirty="0">
                          <a:effectLst/>
                        </a:rPr>
                        <a:t> 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Total Return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CAGR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Volatility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Sharpe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Max Drawdown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Max DD Duration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Profit Factor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Win Rate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Odds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Avg Win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Avg Loss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Avg Return (Exp)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Kelly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5043"/>
                  </a:ext>
                </a:extLst>
              </a:tr>
              <a:tr h="25995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 b="0">
                          <a:effectLst/>
                        </a:rPr>
                        <a:t>cointegration_basis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81.75%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6.83%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2.59%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2.64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-3.48%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356 days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4.14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55.61%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3.31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0.10%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-0.03%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0.04%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0.42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767388"/>
                  </a:ext>
                </a:extLst>
              </a:tr>
              <a:tr h="19896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 b="0">
                          <a:effectLst/>
                        </a:rPr>
                        <a:t>tx_daytrade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79.20%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9.94%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11.93%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0.83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-20.08%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587 days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1.26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54.13%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1.07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0.66%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-0.62%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0.07%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0.11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994617"/>
                  </a:ext>
                </a:extLst>
              </a:tr>
              <a:tr h="19896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 b="0" dirty="0">
                          <a:effectLst/>
                        </a:rPr>
                        <a:t>0050_buy_hold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310.06%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25.86%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22.36%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1.16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-36.38%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779 days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1.23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53.74%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1.06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1.04%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-0.99%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0.10%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0.10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031828"/>
                  </a:ext>
                </a:extLst>
              </a:tr>
              <a:tr h="25995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 b="0">
                          <a:effectLst/>
                        </a:rPr>
                        <a:t>sp500_buy_hold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130.80%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14.01%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20.55%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0.68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-33.92%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745 days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1.15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54.42%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0.97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0.83%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-0.86%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0.06%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0.07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377212"/>
                  </a:ext>
                </a:extLst>
              </a:tr>
              <a:tr h="19896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 b="0">
                          <a:effectLst/>
                        </a:rPr>
                        <a:t>gold_buy_hold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195.20%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18.48%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18.64%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0.99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-20.87%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1211 days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1.20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55.39%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0.97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0.81%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-0.84%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0.07%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0.09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346219"/>
                  </a:ext>
                </a:extLst>
              </a:tr>
              <a:tr h="19896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 b="0">
                          <a:effectLst/>
                        </a:rPr>
                        <a:t>qqq_buy_hold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250.56%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21.74%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24.93%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0.87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-35.12%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715 days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1.18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56.26%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0.92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1.06%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-1.16%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0.09%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0.09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983696"/>
                  </a:ext>
                </a:extLst>
              </a:tr>
              <a:tr h="25995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 b="0">
                          <a:effectLst/>
                        </a:rPr>
                        <a:t>bitcoin_buy_hold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985.48%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29.32%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50.17%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0.58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-76.63%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846 days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1.16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50.90%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1.12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2.23%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-2.00%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0.15%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0.07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448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4319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D27C4A3-4CB7-1277-E762-563078A833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920220"/>
              </p:ext>
            </p:extLst>
          </p:nvPr>
        </p:nvGraphicFramePr>
        <p:xfrm>
          <a:off x="1403758" y="681037"/>
          <a:ext cx="8553048" cy="1135239"/>
        </p:xfrm>
        <a:graphic>
          <a:graphicData uri="http://schemas.openxmlformats.org/drawingml/2006/table">
            <a:tbl>
              <a:tblPr/>
              <a:tblGrid>
                <a:gridCol w="610932">
                  <a:extLst>
                    <a:ext uri="{9D8B030D-6E8A-4147-A177-3AD203B41FA5}">
                      <a16:colId xmlns:a16="http://schemas.microsoft.com/office/drawing/2014/main" val="2323531790"/>
                    </a:ext>
                  </a:extLst>
                </a:gridCol>
                <a:gridCol w="610932">
                  <a:extLst>
                    <a:ext uri="{9D8B030D-6E8A-4147-A177-3AD203B41FA5}">
                      <a16:colId xmlns:a16="http://schemas.microsoft.com/office/drawing/2014/main" val="4114421623"/>
                    </a:ext>
                  </a:extLst>
                </a:gridCol>
                <a:gridCol w="610932">
                  <a:extLst>
                    <a:ext uri="{9D8B030D-6E8A-4147-A177-3AD203B41FA5}">
                      <a16:colId xmlns:a16="http://schemas.microsoft.com/office/drawing/2014/main" val="2508731945"/>
                    </a:ext>
                  </a:extLst>
                </a:gridCol>
                <a:gridCol w="610932">
                  <a:extLst>
                    <a:ext uri="{9D8B030D-6E8A-4147-A177-3AD203B41FA5}">
                      <a16:colId xmlns:a16="http://schemas.microsoft.com/office/drawing/2014/main" val="754889495"/>
                    </a:ext>
                  </a:extLst>
                </a:gridCol>
                <a:gridCol w="610932">
                  <a:extLst>
                    <a:ext uri="{9D8B030D-6E8A-4147-A177-3AD203B41FA5}">
                      <a16:colId xmlns:a16="http://schemas.microsoft.com/office/drawing/2014/main" val="2447670635"/>
                    </a:ext>
                  </a:extLst>
                </a:gridCol>
                <a:gridCol w="610932">
                  <a:extLst>
                    <a:ext uri="{9D8B030D-6E8A-4147-A177-3AD203B41FA5}">
                      <a16:colId xmlns:a16="http://schemas.microsoft.com/office/drawing/2014/main" val="3110021377"/>
                    </a:ext>
                  </a:extLst>
                </a:gridCol>
                <a:gridCol w="610932">
                  <a:extLst>
                    <a:ext uri="{9D8B030D-6E8A-4147-A177-3AD203B41FA5}">
                      <a16:colId xmlns:a16="http://schemas.microsoft.com/office/drawing/2014/main" val="1757040577"/>
                    </a:ext>
                  </a:extLst>
                </a:gridCol>
                <a:gridCol w="610932">
                  <a:extLst>
                    <a:ext uri="{9D8B030D-6E8A-4147-A177-3AD203B41FA5}">
                      <a16:colId xmlns:a16="http://schemas.microsoft.com/office/drawing/2014/main" val="3884956833"/>
                    </a:ext>
                  </a:extLst>
                </a:gridCol>
                <a:gridCol w="610932">
                  <a:extLst>
                    <a:ext uri="{9D8B030D-6E8A-4147-A177-3AD203B41FA5}">
                      <a16:colId xmlns:a16="http://schemas.microsoft.com/office/drawing/2014/main" val="298737934"/>
                    </a:ext>
                  </a:extLst>
                </a:gridCol>
                <a:gridCol w="610932">
                  <a:extLst>
                    <a:ext uri="{9D8B030D-6E8A-4147-A177-3AD203B41FA5}">
                      <a16:colId xmlns:a16="http://schemas.microsoft.com/office/drawing/2014/main" val="732469110"/>
                    </a:ext>
                  </a:extLst>
                </a:gridCol>
                <a:gridCol w="610932">
                  <a:extLst>
                    <a:ext uri="{9D8B030D-6E8A-4147-A177-3AD203B41FA5}">
                      <a16:colId xmlns:a16="http://schemas.microsoft.com/office/drawing/2014/main" val="1966173875"/>
                    </a:ext>
                  </a:extLst>
                </a:gridCol>
                <a:gridCol w="610932">
                  <a:extLst>
                    <a:ext uri="{9D8B030D-6E8A-4147-A177-3AD203B41FA5}">
                      <a16:colId xmlns:a16="http://schemas.microsoft.com/office/drawing/2014/main" val="329705397"/>
                    </a:ext>
                  </a:extLst>
                </a:gridCol>
                <a:gridCol w="610932">
                  <a:extLst>
                    <a:ext uri="{9D8B030D-6E8A-4147-A177-3AD203B41FA5}">
                      <a16:colId xmlns:a16="http://schemas.microsoft.com/office/drawing/2014/main" val="1924808191"/>
                    </a:ext>
                  </a:extLst>
                </a:gridCol>
                <a:gridCol w="610932">
                  <a:extLst>
                    <a:ext uri="{9D8B030D-6E8A-4147-A177-3AD203B41FA5}">
                      <a16:colId xmlns:a16="http://schemas.microsoft.com/office/drawing/2014/main" val="1625098389"/>
                    </a:ext>
                  </a:extLst>
                </a:gridCol>
              </a:tblGrid>
              <a:tr h="32723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 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Total Return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CAGR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Volatility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Sharpe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Max Drawdown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Max DD Duration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Profit Factor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Win Rate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Odds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Avg Win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Avg Loss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Avg Return (Exp)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Kelly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494527"/>
                  </a:ext>
                </a:extLst>
              </a:tr>
              <a:tr h="2504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 b="0" dirty="0">
                          <a:effectLst/>
                        </a:rPr>
                        <a:t>combined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332.48%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17.11%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11.79%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1.45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-27.55%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752 days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1.30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55.11%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1.06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0.52%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-0.49%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0.07%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0.13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964373"/>
                  </a:ext>
                </a:extLst>
              </a:tr>
              <a:tr h="5575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 b="0" dirty="0">
                          <a:effectLst/>
                        </a:rPr>
                        <a:t>fidelity_global_income_buy_hold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74.09%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8.76%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14.63%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0.60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-29.60%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712 days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1.13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53.90%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0.96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0.63%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-0.66%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0.04%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0.06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595455"/>
                  </a:ext>
                </a:extLst>
              </a:tr>
            </a:tbl>
          </a:graphicData>
        </a:graphic>
      </p:graphicFrame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CE0CB856-75D7-1049-9483-736D82DFC6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1474" y="1825625"/>
            <a:ext cx="8769052" cy="435133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C565F1B6-7170-D4CA-C69D-67A9A09923FA}"/>
              </a:ext>
            </a:extLst>
          </p:cNvPr>
          <p:cNvSpPr txBox="1"/>
          <p:nvPr/>
        </p:nvSpPr>
        <p:spPr>
          <a:xfrm>
            <a:off x="8022359" y="4001294"/>
            <a:ext cx="40729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用</a:t>
            </a:r>
            <a:r>
              <a:rPr lang="en-US" altLang="zh-TW" dirty="0"/>
              <a:t>equal weight</a:t>
            </a:r>
            <a:r>
              <a:rPr lang="zh-TW" altLang="en-US" dirty="0"/>
              <a:t>組合得到這個</a:t>
            </a:r>
            <a:r>
              <a:rPr lang="en-US" altLang="zh-TW" dirty="0"/>
              <a:t>combined</a:t>
            </a:r>
          </a:p>
          <a:p>
            <a:r>
              <a:rPr lang="zh-TW" altLang="en-US" dirty="0"/>
              <a:t>用富達全球入息當</a:t>
            </a:r>
            <a:r>
              <a:rPr lang="en-US" altLang="zh-TW" dirty="0"/>
              <a:t>bench mark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28679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6DCB8-A523-F8AA-7006-6F8F47DA1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0D9F5CB-CDAE-8C76-EEF5-3B619C792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174537"/>
              </p:ext>
            </p:extLst>
          </p:nvPr>
        </p:nvGraphicFramePr>
        <p:xfrm>
          <a:off x="625764" y="671138"/>
          <a:ext cx="5073073" cy="2453640"/>
        </p:xfrm>
        <a:graphic>
          <a:graphicData uri="http://schemas.openxmlformats.org/drawingml/2006/table">
            <a:tbl>
              <a:tblPr/>
              <a:tblGrid>
                <a:gridCol w="2336284">
                  <a:extLst>
                    <a:ext uri="{9D8B030D-6E8A-4147-A177-3AD203B41FA5}">
                      <a16:colId xmlns:a16="http://schemas.microsoft.com/office/drawing/2014/main" val="3287786220"/>
                    </a:ext>
                  </a:extLst>
                </a:gridCol>
                <a:gridCol w="2736789">
                  <a:extLst>
                    <a:ext uri="{9D8B030D-6E8A-4147-A177-3AD203B41FA5}">
                      <a16:colId xmlns:a16="http://schemas.microsoft.com/office/drawing/2014/main" val="222391572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weight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 w="12700" cmpd="sng">
                      <a:noFill/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4900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cointegration_basis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0.166667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748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tx_daytrade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0.166667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98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0050_buy_hold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0.166667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151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gold_buy_hold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0.166667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2445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qqq_buy_hold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0.166667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896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bitcoin_buy_hold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0.166667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428417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83CC0762-8E98-BD4A-E598-850A7F442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59032"/>
              </p:ext>
            </p:extLst>
          </p:nvPr>
        </p:nvGraphicFramePr>
        <p:xfrm>
          <a:off x="86286" y="3441123"/>
          <a:ext cx="12105714" cy="2944382"/>
        </p:xfrm>
        <a:graphic>
          <a:graphicData uri="http://schemas.openxmlformats.org/drawingml/2006/table">
            <a:tbl>
              <a:tblPr/>
              <a:tblGrid>
                <a:gridCol w="1688048">
                  <a:extLst>
                    <a:ext uri="{9D8B030D-6E8A-4147-A177-3AD203B41FA5}">
                      <a16:colId xmlns:a16="http://schemas.microsoft.com/office/drawing/2014/main" val="2487906935"/>
                    </a:ext>
                  </a:extLst>
                </a:gridCol>
                <a:gridCol w="1688048">
                  <a:extLst>
                    <a:ext uri="{9D8B030D-6E8A-4147-A177-3AD203B41FA5}">
                      <a16:colId xmlns:a16="http://schemas.microsoft.com/office/drawing/2014/main" val="1288440541"/>
                    </a:ext>
                  </a:extLst>
                </a:gridCol>
                <a:gridCol w="1688048">
                  <a:extLst>
                    <a:ext uri="{9D8B030D-6E8A-4147-A177-3AD203B41FA5}">
                      <a16:colId xmlns:a16="http://schemas.microsoft.com/office/drawing/2014/main" val="868022535"/>
                    </a:ext>
                  </a:extLst>
                </a:gridCol>
                <a:gridCol w="1688048">
                  <a:extLst>
                    <a:ext uri="{9D8B030D-6E8A-4147-A177-3AD203B41FA5}">
                      <a16:colId xmlns:a16="http://schemas.microsoft.com/office/drawing/2014/main" val="513285834"/>
                    </a:ext>
                  </a:extLst>
                </a:gridCol>
                <a:gridCol w="1688048">
                  <a:extLst>
                    <a:ext uri="{9D8B030D-6E8A-4147-A177-3AD203B41FA5}">
                      <a16:colId xmlns:a16="http://schemas.microsoft.com/office/drawing/2014/main" val="920130369"/>
                    </a:ext>
                  </a:extLst>
                </a:gridCol>
                <a:gridCol w="1688048">
                  <a:extLst>
                    <a:ext uri="{9D8B030D-6E8A-4147-A177-3AD203B41FA5}">
                      <a16:colId xmlns:a16="http://schemas.microsoft.com/office/drawing/2014/main" val="1657428417"/>
                    </a:ext>
                  </a:extLst>
                </a:gridCol>
                <a:gridCol w="1977426">
                  <a:extLst>
                    <a:ext uri="{9D8B030D-6E8A-4147-A177-3AD203B41FA5}">
                      <a16:colId xmlns:a16="http://schemas.microsoft.com/office/drawing/2014/main" val="1986534243"/>
                    </a:ext>
                  </a:extLst>
                </a:gridCol>
              </a:tblGrid>
              <a:tr h="485067">
                <a:tc gridSpan="7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400" dirty="0">
                          <a:effectLst/>
                        </a:rPr>
                        <a:t>Covariance matrix</a:t>
                      </a:r>
                      <a:endParaRPr lang="zh-TW" sz="1400" dirty="0">
                        <a:effectLst/>
                      </a:endParaRPr>
                    </a:p>
                  </a:txBody>
                  <a:tcPr marL="75807" marR="75807" marT="37904" marB="37904" anchor="ctr">
                    <a:lnL>
                      <a:noFill/>
                    </a:lnL>
                    <a:lnR w="12700" cmpd="sng">
                      <a:noFill/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zh-TW" sz="1400" dirty="0">
                        <a:effectLst/>
                      </a:endParaRP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zh-TW" sz="1400" dirty="0">
                        <a:effectLst/>
                      </a:endParaRP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zh-TW" sz="1400" dirty="0">
                        <a:effectLst/>
                      </a:endParaRP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zh-TW" sz="1400" dirty="0">
                        <a:effectLst/>
                      </a:endParaRP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zh-TW" sz="1400" dirty="0">
                        <a:effectLst/>
                      </a:endParaRP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zh-TW" sz="1400" dirty="0">
                        <a:effectLst/>
                      </a:endParaRPr>
                    </a:p>
                  </a:txBody>
                  <a:tcPr marL="75807" marR="75807" marT="37904" marB="37904" anchor="ctr">
                    <a:lnL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5675956"/>
                  </a:ext>
                </a:extLst>
              </a:tr>
              <a:tr h="48506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zh-TW" sz="1400" dirty="0">
                        <a:effectLst/>
                      </a:endParaRP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1400" dirty="0">
                          <a:effectLst/>
                        </a:rPr>
                        <a:t>cointegration_basis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1400" dirty="0">
                          <a:effectLst/>
                        </a:rPr>
                        <a:t>tx_daytrade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1400" dirty="0">
                          <a:effectLst/>
                        </a:rPr>
                        <a:t>0050_buy_hold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1400" dirty="0">
                          <a:effectLst/>
                        </a:rPr>
                        <a:t>gold_buy_hold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1400" dirty="0">
                          <a:effectLst/>
                        </a:rPr>
                        <a:t>qqq_buy_hold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1400" dirty="0">
                          <a:effectLst/>
                        </a:rPr>
                        <a:t>bitcoin_buy_hold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7599523"/>
                  </a:ext>
                </a:extLst>
              </a:tr>
              <a:tr h="33701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1400" b="0" dirty="0">
                          <a:effectLst/>
                        </a:rPr>
                        <a:t>cointegration_basis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1.000000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dirty="0">
                          <a:effectLst/>
                        </a:rPr>
                        <a:t>0.000345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dirty="0">
                          <a:effectLst/>
                        </a:rPr>
                        <a:t>0.003447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dirty="0">
                          <a:effectLst/>
                        </a:rPr>
                        <a:t>0.015841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-0.026136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-0.004634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421993"/>
                  </a:ext>
                </a:extLst>
              </a:tr>
              <a:tr h="1889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1400" b="0">
                          <a:effectLst/>
                        </a:rPr>
                        <a:t>tx_daytrade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0.000345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1.000000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0.379232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0.072160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0.121226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0.053838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1953"/>
                  </a:ext>
                </a:extLst>
              </a:tr>
              <a:tr h="33701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1400" b="0">
                          <a:effectLst/>
                        </a:rPr>
                        <a:t>0050_buy_hold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0.003447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0.379232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dirty="0">
                          <a:effectLst/>
                        </a:rPr>
                        <a:t>1.000000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0.086730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0.119741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0.010159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994862"/>
                  </a:ext>
                </a:extLst>
              </a:tr>
              <a:tr h="33701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1400" b="0">
                          <a:effectLst/>
                        </a:rPr>
                        <a:t>gold_buy_hold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0.015841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0.072160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0.086730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1.000000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0.121370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0.100832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411150"/>
                  </a:ext>
                </a:extLst>
              </a:tr>
              <a:tr h="33701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1400" b="0">
                          <a:effectLst/>
                        </a:rPr>
                        <a:t>qqq_buy_hold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-0.026136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0.121226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0.119741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dirty="0">
                          <a:effectLst/>
                        </a:rPr>
                        <a:t>0.121370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1.000000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0.371207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770228"/>
                  </a:ext>
                </a:extLst>
              </a:tr>
              <a:tr h="33701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1400" b="0" dirty="0">
                          <a:effectLst/>
                        </a:rPr>
                        <a:t>bitcoin_buy_hold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-0.004634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0.053838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0.010159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0.100832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effectLst/>
                        </a:rPr>
                        <a:t>0.371207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dirty="0">
                          <a:effectLst/>
                        </a:rPr>
                        <a:t>1.000000</a:t>
                      </a:r>
                    </a:p>
                  </a:txBody>
                  <a:tcPr marL="75807" marR="75807" marT="37904" marB="37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882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1946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A3DB5-6D24-F16A-7417-5FD933663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31258FF-D062-C092-A212-60D781DF0B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206675"/>
              </p:ext>
            </p:extLst>
          </p:nvPr>
        </p:nvGraphicFramePr>
        <p:xfrm>
          <a:off x="505691" y="394047"/>
          <a:ext cx="5073073" cy="2453640"/>
        </p:xfrm>
        <a:graphic>
          <a:graphicData uri="http://schemas.openxmlformats.org/drawingml/2006/table">
            <a:tbl>
              <a:tblPr/>
              <a:tblGrid>
                <a:gridCol w="2336284">
                  <a:extLst>
                    <a:ext uri="{9D8B030D-6E8A-4147-A177-3AD203B41FA5}">
                      <a16:colId xmlns:a16="http://schemas.microsoft.com/office/drawing/2014/main" val="3287786220"/>
                    </a:ext>
                  </a:extLst>
                </a:gridCol>
                <a:gridCol w="2736789">
                  <a:extLst>
                    <a:ext uri="{9D8B030D-6E8A-4147-A177-3AD203B41FA5}">
                      <a16:colId xmlns:a16="http://schemas.microsoft.com/office/drawing/2014/main" val="222391572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weight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 w="12700" cmpd="sng">
                      <a:noFill/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4900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b="0">
                          <a:effectLst/>
                        </a:rPr>
                        <a:t>on_basis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effectLst/>
                        </a:rPr>
                        <a:t>0.617864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748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b="0">
                          <a:effectLst/>
                        </a:rPr>
                        <a:t>tx_daytrade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>
                          <a:effectLst/>
                        </a:rPr>
                        <a:t>0.132459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98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b="0">
                          <a:effectLst/>
                        </a:rPr>
                        <a:t>0050_buy_hold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effectLst/>
                        </a:rPr>
                        <a:t>0.071635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151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b="0">
                          <a:effectLst/>
                        </a:rPr>
                        <a:t>gold_buy_hold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effectLst/>
                        </a:rPr>
                        <a:t>0.091073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2445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b="0">
                          <a:effectLst/>
                        </a:rPr>
                        <a:t>qqq_buy_hold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effectLst/>
                        </a:rPr>
                        <a:t>0.060186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896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b="0">
                          <a:effectLst/>
                        </a:rPr>
                        <a:t>bitcoin_buy_hold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>
                          <a:effectLst/>
                        </a:rPr>
                        <a:t>0.026783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428417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4D4A4E6-B4C2-18E3-781C-7A0B5599B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0084"/>
              </p:ext>
            </p:extLst>
          </p:nvPr>
        </p:nvGraphicFramePr>
        <p:xfrm>
          <a:off x="3869868" y="2360342"/>
          <a:ext cx="8109696" cy="974690"/>
        </p:xfrm>
        <a:graphic>
          <a:graphicData uri="http://schemas.openxmlformats.org/drawingml/2006/table">
            <a:tbl>
              <a:tblPr/>
              <a:tblGrid>
                <a:gridCol w="579264">
                  <a:extLst>
                    <a:ext uri="{9D8B030D-6E8A-4147-A177-3AD203B41FA5}">
                      <a16:colId xmlns:a16="http://schemas.microsoft.com/office/drawing/2014/main" val="2249823081"/>
                    </a:ext>
                  </a:extLst>
                </a:gridCol>
                <a:gridCol w="579264">
                  <a:extLst>
                    <a:ext uri="{9D8B030D-6E8A-4147-A177-3AD203B41FA5}">
                      <a16:colId xmlns:a16="http://schemas.microsoft.com/office/drawing/2014/main" val="741822972"/>
                    </a:ext>
                  </a:extLst>
                </a:gridCol>
                <a:gridCol w="579264">
                  <a:extLst>
                    <a:ext uri="{9D8B030D-6E8A-4147-A177-3AD203B41FA5}">
                      <a16:colId xmlns:a16="http://schemas.microsoft.com/office/drawing/2014/main" val="929265156"/>
                    </a:ext>
                  </a:extLst>
                </a:gridCol>
                <a:gridCol w="579264">
                  <a:extLst>
                    <a:ext uri="{9D8B030D-6E8A-4147-A177-3AD203B41FA5}">
                      <a16:colId xmlns:a16="http://schemas.microsoft.com/office/drawing/2014/main" val="1360855883"/>
                    </a:ext>
                  </a:extLst>
                </a:gridCol>
                <a:gridCol w="579264">
                  <a:extLst>
                    <a:ext uri="{9D8B030D-6E8A-4147-A177-3AD203B41FA5}">
                      <a16:colId xmlns:a16="http://schemas.microsoft.com/office/drawing/2014/main" val="1836429456"/>
                    </a:ext>
                  </a:extLst>
                </a:gridCol>
                <a:gridCol w="579264">
                  <a:extLst>
                    <a:ext uri="{9D8B030D-6E8A-4147-A177-3AD203B41FA5}">
                      <a16:colId xmlns:a16="http://schemas.microsoft.com/office/drawing/2014/main" val="3176361717"/>
                    </a:ext>
                  </a:extLst>
                </a:gridCol>
                <a:gridCol w="579264">
                  <a:extLst>
                    <a:ext uri="{9D8B030D-6E8A-4147-A177-3AD203B41FA5}">
                      <a16:colId xmlns:a16="http://schemas.microsoft.com/office/drawing/2014/main" val="1913736077"/>
                    </a:ext>
                  </a:extLst>
                </a:gridCol>
                <a:gridCol w="579264">
                  <a:extLst>
                    <a:ext uri="{9D8B030D-6E8A-4147-A177-3AD203B41FA5}">
                      <a16:colId xmlns:a16="http://schemas.microsoft.com/office/drawing/2014/main" val="4069673352"/>
                    </a:ext>
                  </a:extLst>
                </a:gridCol>
                <a:gridCol w="579264">
                  <a:extLst>
                    <a:ext uri="{9D8B030D-6E8A-4147-A177-3AD203B41FA5}">
                      <a16:colId xmlns:a16="http://schemas.microsoft.com/office/drawing/2014/main" val="3484517330"/>
                    </a:ext>
                  </a:extLst>
                </a:gridCol>
                <a:gridCol w="579264">
                  <a:extLst>
                    <a:ext uri="{9D8B030D-6E8A-4147-A177-3AD203B41FA5}">
                      <a16:colId xmlns:a16="http://schemas.microsoft.com/office/drawing/2014/main" val="1968192923"/>
                    </a:ext>
                  </a:extLst>
                </a:gridCol>
                <a:gridCol w="579264">
                  <a:extLst>
                    <a:ext uri="{9D8B030D-6E8A-4147-A177-3AD203B41FA5}">
                      <a16:colId xmlns:a16="http://schemas.microsoft.com/office/drawing/2014/main" val="3124879428"/>
                    </a:ext>
                  </a:extLst>
                </a:gridCol>
                <a:gridCol w="579264">
                  <a:extLst>
                    <a:ext uri="{9D8B030D-6E8A-4147-A177-3AD203B41FA5}">
                      <a16:colId xmlns:a16="http://schemas.microsoft.com/office/drawing/2014/main" val="924859663"/>
                    </a:ext>
                  </a:extLst>
                </a:gridCol>
                <a:gridCol w="579264">
                  <a:extLst>
                    <a:ext uri="{9D8B030D-6E8A-4147-A177-3AD203B41FA5}">
                      <a16:colId xmlns:a16="http://schemas.microsoft.com/office/drawing/2014/main" val="1709367397"/>
                    </a:ext>
                  </a:extLst>
                </a:gridCol>
                <a:gridCol w="579264">
                  <a:extLst>
                    <a:ext uri="{9D8B030D-6E8A-4147-A177-3AD203B41FA5}">
                      <a16:colId xmlns:a16="http://schemas.microsoft.com/office/drawing/2014/main" val="3486466745"/>
                    </a:ext>
                  </a:extLst>
                </a:gridCol>
              </a:tblGrid>
              <a:tr h="28095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 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Total Return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CAGR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Volatility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Sharpe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Max Drawdown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Max DD Duration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 dirty="0">
                          <a:effectLst/>
                        </a:rPr>
                        <a:t>Profit Factor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Win Rate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Odds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Avg Win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Avg Loss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Avg Return (Exp)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Kelly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399550"/>
                  </a:ext>
                </a:extLst>
              </a:tr>
              <a:tr h="2150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 b="0" dirty="0">
                          <a:effectLst/>
                        </a:rPr>
                        <a:t>combined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139.30%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9.87%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3.99%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2.47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-6.96%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481 days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1.62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57.72%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1.19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0.17%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-0.14%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0.04%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0.22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559865"/>
                  </a:ext>
                </a:extLst>
              </a:tr>
              <a:tr h="47869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 b="0" dirty="0">
                          <a:effectLst/>
                        </a:rPr>
                        <a:t>fidelity_global_income_buy_hold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74.09%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8.76%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14.63%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0.60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-29.60%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712 days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1.13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53.90%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0.96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0.63%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-0.66%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0.04%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0.06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05891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642132A1-8847-9D36-2A9E-299FFB71C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768" y="3522969"/>
            <a:ext cx="6429231" cy="319028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3087E7D5-0BE3-71A9-9F5E-CB63CD6782C3}"/>
              </a:ext>
            </a:extLst>
          </p:cNvPr>
          <p:cNvSpPr txBox="1"/>
          <p:nvPr/>
        </p:nvSpPr>
        <p:spPr>
          <a:xfrm>
            <a:off x="7509164" y="674255"/>
            <a:ext cx="3228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這裡是用</a:t>
            </a:r>
            <a:r>
              <a:rPr lang="en-US" altLang="zh-TW" dirty="0"/>
              <a:t>risk parity</a:t>
            </a:r>
            <a:r>
              <a:rPr lang="zh-TW" altLang="en-US" dirty="0"/>
              <a:t>做的長這樣</a:t>
            </a:r>
          </a:p>
        </p:txBody>
      </p:sp>
    </p:spTree>
    <p:extLst>
      <p:ext uri="{BB962C8B-B14F-4D97-AF65-F5344CB8AC3E}">
        <p14:creationId xmlns:p14="http://schemas.microsoft.com/office/powerpoint/2010/main" val="2200826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D5AD3-BC9A-E2D7-2D7C-0950B73E8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5D30103-1A1B-9E1C-D3DE-D45F913B95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017" y="4029259"/>
            <a:ext cx="5000765" cy="248145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839F0C4-D405-C0AF-2714-67C80337E7F5}"/>
              </a:ext>
            </a:extLst>
          </p:cNvPr>
          <p:cNvSpPr txBox="1"/>
          <p:nvPr/>
        </p:nvSpPr>
        <p:spPr>
          <a:xfrm>
            <a:off x="4533900" y="704850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這是自然飄移，不考慮再平衡的長相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7D61591-50E6-125E-8692-C33400A20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830267"/>
              </p:ext>
            </p:extLst>
          </p:nvPr>
        </p:nvGraphicFramePr>
        <p:xfrm>
          <a:off x="2651547" y="2346052"/>
          <a:ext cx="8437016" cy="482690"/>
        </p:xfrm>
        <a:graphic>
          <a:graphicData uri="http://schemas.openxmlformats.org/drawingml/2006/table">
            <a:tbl>
              <a:tblPr/>
              <a:tblGrid>
                <a:gridCol w="602644">
                  <a:extLst>
                    <a:ext uri="{9D8B030D-6E8A-4147-A177-3AD203B41FA5}">
                      <a16:colId xmlns:a16="http://schemas.microsoft.com/office/drawing/2014/main" val="11422483"/>
                    </a:ext>
                  </a:extLst>
                </a:gridCol>
                <a:gridCol w="602644">
                  <a:extLst>
                    <a:ext uri="{9D8B030D-6E8A-4147-A177-3AD203B41FA5}">
                      <a16:colId xmlns:a16="http://schemas.microsoft.com/office/drawing/2014/main" val="2861648765"/>
                    </a:ext>
                  </a:extLst>
                </a:gridCol>
                <a:gridCol w="602644">
                  <a:extLst>
                    <a:ext uri="{9D8B030D-6E8A-4147-A177-3AD203B41FA5}">
                      <a16:colId xmlns:a16="http://schemas.microsoft.com/office/drawing/2014/main" val="2299726696"/>
                    </a:ext>
                  </a:extLst>
                </a:gridCol>
                <a:gridCol w="602644">
                  <a:extLst>
                    <a:ext uri="{9D8B030D-6E8A-4147-A177-3AD203B41FA5}">
                      <a16:colId xmlns:a16="http://schemas.microsoft.com/office/drawing/2014/main" val="1956534305"/>
                    </a:ext>
                  </a:extLst>
                </a:gridCol>
                <a:gridCol w="602644">
                  <a:extLst>
                    <a:ext uri="{9D8B030D-6E8A-4147-A177-3AD203B41FA5}">
                      <a16:colId xmlns:a16="http://schemas.microsoft.com/office/drawing/2014/main" val="4264341084"/>
                    </a:ext>
                  </a:extLst>
                </a:gridCol>
                <a:gridCol w="602644">
                  <a:extLst>
                    <a:ext uri="{9D8B030D-6E8A-4147-A177-3AD203B41FA5}">
                      <a16:colId xmlns:a16="http://schemas.microsoft.com/office/drawing/2014/main" val="1720383061"/>
                    </a:ext>
                  </a:extLst>
                </a:gridCol>
                <a:gridCol w="602644">
                  <a:extLst>
                    <a:ext uri="{9D8B030D-6E8A-4147-A177-3AD203B41FA5}">
                      <a16:colId xmlns:a16="http://schemas.microsoft.com/office/drawing/2014/main" val="1948513812"/>
                    </a:ext>
                  </a:extLst>
                </a:gridCol>
                <a:gridCol w="602644">
                  <a:extLst>
                    <a:ext uri="{9D8B030D-6E8A-4147-A177-3AD203B41FA5}">
                      <a16:colId xmlns:a16="http://schemas.microsoft.com/office/drawing/2014/main" val="3276965381"/>
                    </a:ext>
                  </a:extLst>
                </a:gridCol>
                <a:gridCol w="602644">
                  <a:extLst>
                    <a:ext uri="{9D8B030D-6E8A-4147-A177-3AD203B41FA5}">
                      <a16:colId xmlns:a16="http://schemas.microsoft.com/office/drawing/2014/main" val="4082611965"/>
                    </a:ext>
                  </a:extLst>
                </a:gridCol>
                <a:gridCol w="602644">
                  <a:extLst>
                    <a:ext uri="{9D8B030D-6E8A-4147-A177-3AD203B41FA5}">
                      <a16:colId xmlns:a16="http://schemas.microsoft.com/office/drawing/2014/main" val="2349385722"/>
                    </a:ext>
                  </a:extLst>
                </a:gridCol>
                <a:gridCol w="602644">
                  <a:extLst>
                    <a:ext uri="{9D8B030D-6E8A-4147-A177-3AD203B41FA5}">
                      <a16:colId xmlns:a16="http://schemas.microsoft.com/office/drawing/2014/main" val="2655960043"/>
                    </a:ext>
                  </a:extLst>
                </a:gridCol>
                <a:gridCol w="602644">
                  <a:extLst>
                    <a:ext uri="{9D8B030D-6E8A-4147-A177-3AD203B41FA5}">
                      <a16:colId xmlns:a16="http://schemas.microsoft.com/office/drawing/2014/main" val="1458414331"/>
                    </a:ext>
                  </a:extLst>
                </a:gridCol>
                <a:gridCol w="602644">
                  <a:extLst>
                    <a:ext uri="{9D8B030D-6E8A-4147-A177-3AD203B41FA5}">
                      <a16:colId xmlns:a16="http://schemas.microsoft.com/office/drawing/2014/main" val="87424850"/>
                    </a:ext>
                  </a:extLst>
                </a:gridCol>
                <a:gridCol w="602644">
                  <a:extLst>
                    <a:ext uri="{9D8B030D-6E8A-4147-A177-3AD203B41FA5}">
                      <a16:colId xmlns:a16="http://schemas.microsoft.com/office/drawing/2014/main" val="2702154066"/>
                    </a:ext>
                  </a:extLst>
                </a:gridCol>
              </a:tblGrid>
              <a:tr h="27025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 dirty="0">
                          <a:effectLst/>
                        </a:rPr>
                        <a:t> 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Total Return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CAGR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Volatility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Sharpe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Max Drawdown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 dirty="0">
                          <a:effectLst/>
                        </a:rPr>
                        <a:t>Max DD Duration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Profit Factor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Win Rate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Odds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Avg Win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Avg Loss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Avg Return (Exp)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 dirty="0">
                          <a:effectLst/>
                        </a:rPr>
                        <a:t>Kelly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617320"/>
                  </a:ext>
                </a:extLst>
              </a:tr>
              <a:tr h="20685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 b="0" dirty="0">
                          <a:effectLst/>
                        </a:rPr>
                        <a:t>combined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146.72%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10.23%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6.70%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1.53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-15.10%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783 days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1.32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55.33%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1.06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0.30%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-0.28%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0.04%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0.13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42794"/>
                  </a:ext>
                </a:extLst>
              </a:tr>
            </a:tbl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46FD49C1-EE22-7EEA-7E2D-BF7851F1F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732" y="2994995"/>
            <a:ext cx="6629251" cy="328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82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B8DFD-56FD-AA1A-A733-979820E22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AF3C62E7-14D3-35F5-84A1-D646179ED6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6070221"/>
              </p:ext>
            </p:extLst>
          </p:nvPr>
        </p:nvGraphicFramePr>
        <p:xfrm>
          <a:off x="201578" y="73312"/>
          <a:ext cx="6605624" cy="6711376"/>
        </p:xfrm>
        <a:graphic>
          <a:graphicData uri="http://schemas.openxmlformats.org/drawingml/2006/table">
            <a:tbl>
              <a:tblPr/>
              <a:tblGrid>
                <a:gridCol w="825703">
                  <a:extLst>
                    <a:ext uri="{9D8B030D-6E8A-4147-A177-3AD203B41FA5}">
                      <a16:colId xmlns:a16="http://schemas.microsoft.com/office/drawing/2014/main" val="1252436489"/>
                    </a:ext>
                  </a:extLst>
                </a:gridCol>
                <a:gridCol w="825703">
                  <a:extLst>
                    <a:ext uri="{9D8B030D-6E8A-4147-A177-3AD203B41FA5}">
                      <a16:colId xmlns:a16="http://schemas.microsoft.com/office/drawing/2014/main" val="1125866761"/>
                    </a:ext>
                  </a:extLst>
                </a:gridCol>
                <a:gridCol w="825703">
                  <a:extLst>
                    <a:ext uri="{9D8B030D-6E8A-4147-A177-3AD203B41FA5}">
                      <a16:colId xmlns:a16="http://schemas.microsoft.com/office/drawing/2014/main" val="1123471050"/>
                    </a:ext>
                  </a:extLst>
                </a:gridCol>
                <a:gridCol w="825703">
                  <a:extLst>
                    <a:ext uri="{9D8B030D-6E8A-4147-A177-3AD203B41FA5}">
                      <a16:colId xmlns:a16="http://schemas.microsoft.com/office/drawing/2014/main" val="1208514543"/>
                    </a:ext>
                  </a:extLst>
                </a:gridCol>
                <a:gridCol w="825703">
                  <a:extLst>
                    <a:ext uri="{9D8B030D-6E8A-4147-A177-3AD203B41FA5}">
                      <a16:colId xmlns:a16="http://schemas.microsoft.com/office/drawing/2014/main" val="479659057"/>
                    </a:ext>
                  </a:extLst>
                </a:gridCol>
                <a:gridCol w="825703">
                  <a:extLst>
                    <a:ext uri="{9D8B030D-6E8A-4147-A177-3AD203B41FA5}">
                      <a16:colId xmlns:a16="http://schemas.microsoft.com/office/drawing/2014/main" val="3193688614"/>
                    </a:ext>
                  </a:extLst>
                </a:gridCol>
                <a:gridCol w="825703">
                  <a:extLst>
                    <a:ext uri="{9D8B030D-6E8A-4147-A177-3AD203B41FA5}">
                      <a16:colId xmlns:a16="http://schemas.microsoft.com/office/drawing/2014/main" val="1311808749"/>
                    </a:ext>
                  </a:extLst>
                </a:gridCol>
                <a:gridCol w="825703">
                  <a:extLst>
                    <a:ext uri="{9D8B030D-6E8A-4147-A177-3AD203B41FA5}">
                      <a16:colId xmlns:a16="http://schemas.microsoft.com/office/drawing/2014/main" val="3412156853"/>
                    </a:ext>
                  </a:extLst>
                </a:gridCol>
              </a:tblGrid>
              <a:tr h="18130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>
                          <a:effectLst/>
                        </a:rPr>
                        <a:t> 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>
                          <a:effectLst/>
                        </a:rPr>
                        <a:t>年化報酬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>
                          <a:effectLst/>
                        </a:rPr>
                        <a:t>年化波動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>
                          <a:effectLst/>
                        </a:rPr>
                        <a:t>Sharpe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>
                          <a:effectLst/>
                        </a:rPr>
                        <a:t>MDD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>
                          <a:effectLst/>
                        </a:rPr>
                        <a:t>Turnover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>
                          <a:effectLst/>
                        </a:rPr>
                        <a:t>再平衡次數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>
                          <a:effectLst/>
                        </a:rPr>
                        <a:t>平均 RC 偏離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163458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>
                          <a:effectLst/>
                        </a:rPr>
                        <a:t>Threshold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>
                          <a:effectLst/>
                        </a:rPr>
                        <a:t> 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>
                          <a:effectLst/>
                        </a:rPr>
                        <a:t> 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>
                          <a:effectLst/>
                        </a:rPr>
                        <a:t> 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>
                          <a:effectLst/>
                        </a:rPr>
                        <a:t> 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>
                          <a:effectLst/>
                        </a:rPr>
                        <a:t> 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>
                          <a:effectLst/>
                        </a:rPr>
                        <a:t> 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>
                          <a:effectLst/>
                        </a:rPr>
                        <a:t> 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767486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0.010000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0.147340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0.049309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2.99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-6.97%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1.88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67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0.009633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055478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0.015000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0.146423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0.049406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2.96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-7.19%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1.29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32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0.012767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913268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0.020000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0.149416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0.049748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3.00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-6.58%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1.23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0.017299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264859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0.025000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0.146803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0.050445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2.91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-7.82%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0.91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0.018674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457849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0.030000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0.147439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0.051013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2.89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-8.07%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1.01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14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0.022848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196330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0.035000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0.148134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0.051827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2.86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-8.28%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0.75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0.030109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879012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0.040000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0.150432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0.051433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2.92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-8.22%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0.94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0.028257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408771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0.045000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0.152346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0.051432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2.96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-7.62%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0.87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8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0.028135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7584800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0.050000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0.149908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0.051685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2.90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-8.20%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0.68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0.032569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170738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0.055000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0.152085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0.051390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2.96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-8.07%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0.76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0.034982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3703692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0.060000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0.152112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0.051886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2.93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-7.82%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0.64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0.034083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07792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0.065000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0.148398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0.050184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2.96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-7.54%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0.42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0.033118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063551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0.070000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0.149249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0.050083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2.98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-7.39%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0.45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0.034194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515422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0.075000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0.150422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0.051192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2.94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-7.18%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0.33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 dirty="0">
                          <a:effectLst/>
                        </a:rPr>
                        <a:t>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0.035199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692544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0.080000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0.150758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0.050881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2.96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-6.99%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0.34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0.034840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465640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0.085000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0.150466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0.050823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2.96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-6.99%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0.35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 dirty="0">
                          <a:effectLst/>
                        </a:rPr>
                        <a:t>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0.035110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163668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0.090000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0.152867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0.052035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2.94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-6.71%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0.39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0.034939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589112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0.095000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0.153369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0.052001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2.95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-6.71%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0.40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0.035223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37655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0.100000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0.153882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0.052125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2.95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-6.71%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0.41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0.035065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14962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0.105000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0.155745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0.052090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2.99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-6.57%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0.44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0.036928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514328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0.110000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0.155960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0.052128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2.99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-6.57%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0.45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0.037161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89183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0.115000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0.157588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0.052086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3.03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-6.52%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0.47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0.037044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753857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0.120000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0.158273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0.051995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3.04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-6.48%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0.49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0.037393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742496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0.125000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0.160376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0.053552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2.99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-6.53%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0.51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0.039906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829619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0.130000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0.160499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0.053491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3.00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-6.53%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0.52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0.039879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713937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0.135000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0.159088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0.073574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2.16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-15.33%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0.33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0.109910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801803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0.140000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0.159088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0.073574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2.16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-15.33%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0.33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0.109910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076791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0.145000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0.159088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0.073574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2.16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-15.33%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0.33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0.109910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618227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0.150000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0.159994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0.073663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2.17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-15.33%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0.33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0.110158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478945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0.155000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0.160989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0.073743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2.18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-15.33%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0.34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0.110381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8800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0.160000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0.162337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0.073790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2.20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-15.33%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0.35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0.110601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238207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0.165000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0.162855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0.074105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2.20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-15.33%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0.36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0.112484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1660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0.170000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0.163715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0.074277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2.20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-15.33%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0.37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0.113232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014090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0.175000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0.165167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0.077765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2.12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-15.33%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0.38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0.125277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180229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0.180000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0.165712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0.078283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2.12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-15.33%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0.39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0.129635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165718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0.185000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0.166855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0.078287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2.13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-15.33%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0.40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0.130107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61152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0.190000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0.165509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0.078820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2.10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-15.33%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0.42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0.135934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855362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0.195000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0.166383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0.078828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2.11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-15.33%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0.42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0.136089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278524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0.200000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0.151523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0.082987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1.83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-15.33%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0.151206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586755"/>
                  </a:ext>
                </a:extLst>
              </a:tr>
              <a:tr h="10170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b="0">
                          <a:effectLst/>
                        </a:rPr>
                        <a:t>0.205000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0.151523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0.082987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1.83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-15.33%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0.00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>
                          <a:effectLst/>
                        </a:rPr>
                        <a:t>0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900" dirty="0">
                          <a:effectLst/>
                        </a:rPr>
                        <a:t>0.151206</a:t>
                      </a:r>
                    </a:p>
                  </a:txBody>
                  <a:tcPr marL="22110" marR="22110" marT="11055" marB="110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807442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090BC289-6CA3-357A-330D-402434216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036" y="2521817"/>
            <a:ext cx="4959495" cy="2958647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C1465F9B-378C-C51F-B015-D07C9F196613}"/>
              </a:ext>
            </a:extLst>
          </p:cNvPr>
          <p:cNvSpPr txBox="1"/>
          <p:nvPr/>
        </p:nvSpPr>
        <p:spPr>
          <a:xfrm>
            <a:off x="7546109" y="646545"/>
            <a:ext cx="3906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所以我們訓練一個再平衡的</a:t>
            </a:r>
            <a:r>
              <a:rPr lang="en-US" altLang="zh-TW" dirty="0"/>
              <a:t>threshold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2235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129E5-EEC3-1A91-0C54-2B6D5F95E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A27BD3AB-494A-94E5-B5B3-E15310D0CC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2778751"/>
              </p:ext>
            </p:extLst>
          </p:nvPr>
        </p:nvGraphicFramePr>
        <p:xfrm>
          <a:off x="369370" y="767454"/>
          <a:ext cx="11453260" cy="1262693"/>
        </p:xfrm>
        <a:graphic>
          <a:graphicData uri="http://schemas.openxmlformats.org/drawingml/2006/table">
            <a:tbl>
              <a:tblPr/>
              <a:tblGrid>
                <a:gridCol w="818090">
                  <a:extLst>
                    <a:ext uri="{9D8B030D-6E8A-4147-A177-3AD203B41FA5}">
                      <a16:colId xmlns:a16="http://schemas.microsoft.com/office/drawing/2014/main" val="2667084865"/>
                    </a:ext>
                  </a:extLst>
                </a:gridCol>
                <a:gridCol w="818090">
                  <a:extLst>
                    <a:ext uri="{9D8B030D-6E8A-4147-A177-3AD203B41FA5}">
                      <a16:colId xmlns:a16="http://schemas.microsoft.com/office/drawing/2014/main" val="2329802748"/>
                    </a:ext>
                  </a:extLst>
                </a:gridCol>
                <a:gridCol w="818090">
                  <a:extLst>
                    <a:ext uri="{9D8B030D-6E8A-4147-A177-3AD203B41FA5}">
                      <a16:colId xmlns:a16="http://schemas.microsoft.com/office/drawing/2014/main" val="3621264508"/>
                    </a:ext>
                  </a:extLst>
                </a:gridCol>
                <a:gridCol w="818090">
                  <a:extLst>
                    <a:ext uri="{9D8B030D-6E8A-4147-A177-3AD203B41FA5}">
                      <a16:colId xmlns:a16="http://schemas.microsoft.com/office/drawing/2014/main" val="59986925"/>
                    </a:ext>
                  </a:extLst>
                </a:gridCol>
                <a:gridCol w="818090">
                  <a:extLst>
                    <a:ext uri="{9D8B030D-6E8A-4147-A177-3AD203B41FA5}">
                      <a16:colId xmlns:a16="http://schemas.microsoft.com/office/drawing/2014/main" val="2369276444"/>
                    </a:ext>
                  </a:extLst>
                </a:gridCol>
                <a:gridCol w="818090">
                  <a:extLst>
                    <a:ext uri="{9D8B030D-6E8A-4147-A177-3AD203B41FA5}">
                      <a16:colId xmlns:a16="http://schemas.microsoft.com/office/drawing/2014/main" val="2364135195"/>
                    </a:ext>
                  </a:extLst>
                </a:gridCol>
                <a:gridCol w="818090">
                  <a:extLst>
                    <a:ext uri="{9D8B030D-6E8A-4147-A177-3AD203B41FA5}">
                      <a16:colId xmlns:a16="http://schemas.microsoft.com/office/drawing/2014/main" val="3031430072"/>
                    </a:ext>
                  </a:extLst>
                </a:gridCol>
                <a:gridCol w="818090">
                  <a:extLst>
                    <a:ext uri="{9D8B030D-6E8A-4147-A177-3AD203B41FA5}">
                      <a16:colId xmlns:a16="http://schemas.microsoft.com/office/drawing/2014/main" val="1180292098"/>
                    </a:ext>
                  </a:extLst>
                </a:gridCol>
                <a:gridCol w="818090">
                  <a:extLst>
                    <a:ext uri="{9D8B030D-6E8A-4147-A177-3AD203B41FA5}">
                      <a16:colId xmlns:a16="http://schemas.microsoft.com/office/drawing/2014/main" val="1822730203"/>
                    </a:ext>
                  </a:extLst>
                </a:gridCol>
                <a:gridCol w="818090">
                  <a:extLst>
                    <a:ext uri="{9D8B030D-6E8A-4147-A177-3AD203B41FA5}">
                      <a16:colId xmlns:a16="http://schemas.microsoft.com/office/drawing/2014/main" val="2564485088"/>
                    </a:ext>
                  </a:extLst>
                </a:gridCol>
                <a:gridCol w="818090">
                  <a:extLst>
                    <a:ext uri="{9D8B030D-6E8A-4147-A177-3AD203B41FA5}">
                      <a16:colId xmlns:a16="http://schemas.microsoft.com/office/drawing/2014/main" val="2320578716"/>
                    </a:ext>
                  </a:extLst>
                </a:gridCol>
                <a:gridCol w="818090">
                  <a:extLst>
                    <a:ext uri="{9D8B030D-6E8A-4147-A177-3AD203B41FA5}">
                      <a16:colId xmlns:a16="http://schemas.microsoft.com/office/drawing/2014/main" val="3027245439"/>
                    </a:ext>
                  </a:extLst>
                </a:gridCol>
                <a:gridCol w="818090">
                  <a:extLst>
                    <a:ext uri="{9D8B030D-6E8A-4147-A177-3AD203B41FA5}">
                      <a16:colId xmlns:a16="http://schemas.microsoft.com/office/drawing/2014/main" val="4061200581"/>
                    </a:ext>
                  </a:extLst>
                </a:gridCol>
                <a:gridCol w="818090">
                  <a:extLst>
                    <a:ext uri="{9D8B030D-6E8A-4147-A177-3AD203B41FA5}">
                      <a16:colId xmlns:a16="http://schemas.microsoft.com/office/drawing/2014/main" val="255244957"/>
                    </a:ext>
                  </a:extLst>
                </a:gridCol>
              </a:tblGrid>
              <a:tr h="24122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 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Total Return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CAGR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Volatility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Sharpe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Max Drawdown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Max DD Duration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Profit Factor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Win Rate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Odds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Avg Win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Avg Loss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Avg Return (Exp)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>
                          <a:effectLst/>
                        </a:rPr>
                        <a:t>Kelly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706957"/>
                  </a:ext>
                </a:extLst>
              </a:tr>
              <a:tr h="18462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 b="0" dirty="0">
                          <a:effectLst/>
                        </a:rPr>
                        <a:t>combined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149.97%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15.40%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5.10%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3.02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-6.45%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487 days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1.64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57.08%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1.23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0.18%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-0.14%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0.04%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0.22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653347"/>
                  </a:ext>
                </a:extLst>
              </a:tr>
              <a:tr h="18462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 b="0" dirty="0">
                          <a:effectLst/>
                        </a:rPr>
                        <a:t>0050_buy_hold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310.06%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24.69%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21.89%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1.13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-36.38%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779 days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1.23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53.74%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1.06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1.04%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-0.99%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0.10%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0.10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073342"/>
                  </a:ext>
                </a:extLst>
              </a:tr>
              <a:tr h="24122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 b="0">
                          <a:effectLst/>
                        </a:rPr>
                        <a:t>sp500_buy_hold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130.80%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13.97%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20.51%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0.68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-33.92%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745 days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1.15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54.42%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0.97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0.83%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-0.86%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0.06%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0.07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143890"/>
                  </a:ext>
                </a:extLst>
              </a:tr>
              <a:tr h="41099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800" b="0" dirty="0">
                          <a:effectLst/>
                        </a:rPr>
                        <a:t>fidelity_global_income_buy_hold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74.09%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9.06%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14.85%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0.61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-29.60%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712 days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1.13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53.90%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0.96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0.63%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-0.66%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>
                          <a:effectLst/>
                        </a:rPr>
                        <a:t>0.04%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800" dirty="0">
                          <a:effectLst/>
                        </a:rPr>
                        <a:t>0.06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613811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3382001A-F031-6D12-0AD2-EECB1D015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69" y="2030147"/>
            <a:ext cx="7870104" cy="390526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27B83C5-5D9B-C0D4-C6ED-30770BA01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963" y="3039052"/>
            <a:ext cx="3085667" cy="1531155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854782C-C694-F66F-C5B5-31BAF3BD8F1A}"/>
              </a:ext>
            </a:extLst>
          </p:cNvPr>
          <p:cNvSpPr txBox="1"/>
          <p:nvPr/>
        </p:nvSpPr>
        <p:spPr>
          <a:xfrm>
            <a:off x="4211782" y="37869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這是最後結果</a:t>
            </a:r>
          </a:p>
        </p:txBody>
      </p:sp>
    </p:spTree>
    <p:extLst>
      <p:ext uri="{BB962C8B-B14F-4D97-AF65-F5344CB8AC3E}">
        <p14:creationId xmlns:p14="http://schemas.microsoft.com/office/powerpoint/2010/main" val="3973701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A289F-51B3-3707-1E18-860B1B219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8837E30-C307-9057-8267-FF23AEE342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𝑏𝑎𝑠𝑖𝑠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𝑓𝑢𝑡𝑢𝑟𝑒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𝑠𝑝𝑜𝑡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b="0" dirty="0"/>
              </a:p>
              <a:p>
                <a:pPr marL="0" indent="0">
                  <a:buNone/>
                </a:pPr>
                <a:endParaRPr lang="en-US" altLang="zh-TW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𝑏𝑎𝑠𝑖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𝑏𝑎𝑠𝑖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𝑏𝑎𝑠𝑖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𝑏𝑎𝑠𝑖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altLang="zh-TW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𝑠𝑝𝑟𝑒𝑎𝑑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𝑏𝑎𝑠𝑖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𝑏𝑎𝑠𝑖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𝑠𝑝𝑟𝑒𝑎</m:t>
                          </m:r>
                          <m:sSub>
                            <m:sSubPr>
                              <m:ctrlP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d>
                            <m:dPr>
                              <m:ctrlP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𝑠𝑝𝑟𝑒𝑎𝑑</m:t>
                              </m:r>
                            </m:e>
                          </m:d>
                        </m:num>
                        <m:den>
                          <m:r>
                            <a:rPr lang="zh-TW" altLang="en-US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𝑠𝑝𝑟𝑒𝑎𝑑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TW" b="0" dirty="0"/>
              </a:p>
              <a:p>
                <a:pPr marL="0" indent="0">
                  <a:buNone/>
                </a:pPr>
                <a:r>
                  <a:rPr lang="zh-TW" altLang="en-US" b="0" dirty="0"/>
                  <a:t>對 </a:t>
                </a:r>
                <a14:m>
                  <m:oMath xmlns:m="http://schemas.openxmlformats.org/officeDocument/2006/math"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TW" altLang="en-US" b="0" dirty="0"/>
                  <a:t> 做 </a:t>
                </a:r>
                <a:r>
                  <a:rPr lang="en-US" altLang="zh-TW" b="0" dirty="0" err="1"/>
                  <a:t>adf</a:t>
                </a:r>
                <a:r>
                  <a:rPr lang="zh-TW" altLang="en-US" b="0" dirty="0"/>
                  <a:t> 檢定，若是定態就判斷為共整合</a:t>
                </a:r>
                <a:endParaRPr lang="en-US" altLang="zh-TW" b="0" dirty="0"/>
              </a:p>
              <a:p>
                <a:endParaRPr lang="en-US" altLang="zh-TW" b="0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8837E30-C307-9057-8267-FF23AEE342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b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>
            <a:extLst>
              <a:ext uri="{FF2B5EF4-FFF2-40B4-BE49-F238E27FC236}">
                <a16:creationId xmlns:a16="http://schemas.microsoft.com/office/drawing/2014/main" id="{E2CA0A0D-E232-05C5-FEFF-A878549249B1}"/>
              </a:ext>
            </a:extLst>
          </p:cNvPr>
          <p:cNvSpPr txBox="1"/>
          <p:nvPr/>
        </p:nvSpPr>
        <p:spPr>
          <a:xfrm>
            <a:off x="4110182" y="757382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這裡解釋共整合是怎麼出來的</a:t>
            </a:r>
          </a:p>
        </p:txBody>
      </p:sp>
    </p:spTree>
    <p:extLst>
      <p:ext uri="{BB962C8B-B14F-4D97-AF65-F5344CB8AC3E}">
        <p14:creationId xmlns:p14="http://schemas.microsoft.com/office/powerpoint/2010/main" val="2380750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A7101-38F5-2422-321F-C64DCB240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ACDE84D5-EF7E-771C-1FD0-7E1B0E6CC925}"/>
              </a:ext>
            </a:extLst>
          </p:cNvPr>
          <p:cNvSpPr txBox="1"/>
          <p:nvPr/>
        </p:nvSpPr>
        <p:spPr>
          <a:xfrm>
            <a:off x="2152073" y="748970"/>
            <a:ext cx="6096000" cy="5745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zh-TW" altLang="zh-TW" sz="1200" b="0" dirty="0">
                <a:effectLst/>
                <a:latin typeface="Consolas" panose="020B0609020204030204" pitchFamily="49" charset="0"/>
              </a:rPr>
              <a:t>"Smart Contract Platform": {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sz="1200" b="0" dirty="0">
                <a:effectLst/>
                <a:latin typeface="Consolas" panose="020B0609020204030204" pitchFamily="49" charset="0"/>
              </a:rPr>
              <a:t>    "id": "smart-contract-platform",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sz="1200" b="0" dirty="0">
                <a:effectLst/>
                <a:latin typeface="Consolas" panose="020B0609020204030204" pitchFamily="49" charset="0"/>
              </a:rPr>
              <a:t>    "symbols": [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sz="1200" b="0" dirty="0">
                <a:effectLst/>
                <a:latin typeface="Consolas" panose="020B0609020204030204" pitchFamily="49" charset="0"/>
              </a:rPr>
              <a:t>      "0GUSDT",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sz="1200" b="0" dirty="0">
                <a:effectLst/>
                <a:latin typeface="Consolas" panose="020B0609020204030204" pitchFamily="49" charset="0"/>
              </a:rPr>
              <a:t>      "ABEYUSDT",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sz="1200" b="0" dirty="0">
                <a:effectLst/>
                <a:latin typeface="Consolas" panose="020B0609020204030204" pitchFamily="49" charset="0"/>
              </a:rPr>
              <a:t>      "ADAUSDT",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sz="1200" b="0" dirty="0">
                <a:effectLst/>
                <a:latin typeface="Consolas" panose="020B0609020204030204" pitchFamily="49" charset="0"/>
              </a:rPr>
              <a:t>      "AERGOUSDT",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sz="1200" b="0" dirty="0">
                <a:effectLst/>
                <a:latin typeface="Consolas" panose="020B0609020204030204" pitchFamily="49" charset="0"/>
              </a:rPr>
              <a:t>      "AEVOUSDT",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sz="1200" b="0" dirty="0">
                <a:effectLst/>
                <a:latin typeface="Consolas" panose="020B0609020204030204" pitchFamily="49" charset="0"/>
              </a:rPr>
              <a:t>      "AIOZUSDT",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sz="1200" b="0" dirty="0">
                <a:effectLst/>
                <a:latin typeface="Consolas" panose="020B0609020204030204" pitchFamily="49" charset="0"/>
              </a:rPr>
              <a:t>      "AIUSDT",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sz="1200" b="0" dirty="0">
                <a:effectLst/>
                <a:latin typeface="Consolas" panose="020B0609020204030204" pitchFamily="49" charset="0"/>
              </a:rPr>
              <a:t>      "AKTUSDT",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sz="1200" b="0" dirty="0">
                <a:effectLst/>
                <a:latin typeface="Consolas" panose="020B0609020204030204" pitchFamily="49" charset="0"/>
              </a:rPr>
              <a:t>      "ALEOUSDT",</a:t>
            </a:r>
            <a:endParaRPr lang="en-US" altLang="zh-TW" sz="12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TW" altLang="en-US" sz="1200" b="0" dirty="0">
                <a:effectLst/>
                <a:latin typeface="Consolas" panose="020B0609020204030204" pitchFamily="49" charset="0"/>
              </a:rPr>
              <a:t>    </a:t>
            </a:r>
            <a:r>
              <a:rPr lang="en-US" altLang="zh-TW" sz="1200" b="0" dirty="0"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zh-TW" altLang="en-US" sz="1200" dirty="0">
                <a:latin typeface="Consolas" panose="020B0609020204030204" pitchFamily="49" charset="0"/>
              </a:rPr>
              <a:t>  </a:t>
            </a:r>
            <a:r>
              <a:rPr lang="en-US" altLang="zh-TW" sz="1200" dirty="0">
                <a:latin typeface="Consolas" panose="020B0609020204030204" pitchFamily="49" charset="0"/>
              </a:rPr>
              <a:t>},</a:t>
            </a:r>
          </a:p>
          <a:p>
            <a:r>
              <a:rPr lang="en-US" altLang="zh-TW" sz="1200" dirty="0"/>
              <a:t>  </a:t>
            </a:r>
            <a:r>
              <a:rPr lang="zh-TW" altLang="zh-TW" sz="1200" dirty="0"/>
              <a:t>"Layer 1 (L1)": {</a:t>
            </a:r>
          </a:p>
          <a:p>
            <a:r>
              <a:rPr lang="zh-TW" altLang="zh-TW" sz="1200" dirty="0"/>
              <a:t>    "id": "layer-1",</a:t>
            </a:r>
          </a:p>
          <a:p>
            <a:r>
              <a:rPr lang="zh-TW" altLang="zh-TW" sz="1200" dirty="0"/>
              <a:t>    "symbols": [</a:t>
            </a:r>
          </a:p>
          <a:p>
            <a:r>
              <a:rPr lang="zh-TW" altLang="zh-TW" sz="1200" dirty="0"/>
              <a:t>      "0GUSDT",</a:t>
            </a:r>
          </a:p>
          <a:p>
            <a:r>
              <a:rPr lang="zh-TW" altLang="zh-TW" sz="1200" dirty="0"/>
              <a:t>      "ABEYUSDT",</a:t>
            </a:r>
          </a:p>
          <a:p>
            <a:r>
              <a:rPr lang="zh-TW" altLang="zh-TW" sz="1200" dirty="0"/>
              <a:t>      "ADAUSDT",</a:t>
            </a:r>
          </a:p>
          <a:p>
            <a:r>
              <a:rPr lang="zh-TW" altLang="zh-TW" sz="1200" dirty="0"/>
              <a:t>    ]</a:t>
            </a:r>
          </a:p>
          <a:p>
            <a:r>
              <a:rPr lang="zh-TW" altLang="zh-TW" sz="1200" dirty="0"/>
              <a:t>  },</a:t>
            </a:r>
          </a:p>
          <a:p>
            <a:r>
              <a:rPr lang="zh-TW" altLang="zh-TW" sz="1200" dirty="0"/>
              <a:t>  "Proof of Work (PoW)": {</a:t>
            </a:r>
          </a:p>
          <a:p>
            <a:r>
              <a:rPr lang="zh-TW" altLang="zh-TW" sz="1200" dirty="0"/>
              <a:t>    "id": "proof-of-work-pow",</a:t>
            </a:r>
          </a:p>
          <a:p>
            <a:r>
              <a:rPr lang="zh-TW" altLang="zh-TW" sz="1200" dirty="0"/>
              <a:t>    "symbols": [</a:t>
            </a:r>
          </a:p>
          <a:p>
            <a:r>
              <a:rPr lang="zh-TW" altLang="zh-TW" sz="1200" dirty="0"/>
              <a:t>      "0XBTCUSDT",</a:t>
            </a:r>
          </a:p>
          <a:p>
            <a:r>
              <a:rPr lang="zh-TW" altLang="zh-TW" sz="1200" dirty="0"/>
              <a:t>      "ABBCUSDT",</a:t>
            </a:r>
          </a:p>
          <a:p>
            <a:r>
              <a:rPr lang="zh-TW" altLang="zh-TW" sz="1200" dirty="0"/>
              <a:t>      "ABEYUSDT",</a:t>
            </a:r>
          </a:p>
          <a:p>
            <a:r>
              <a:rPr lang="zh-TW" altLang="zh-TW" sz="1200" dirty="0"/>
              <a:t>      "ABYUSDT",</a:t>
            </a:r>
          </a:p>
          <a:p>
            <a:r>
              <a:rPr lang="zh-TW" altLang="zh-TW" sz="1200" dirty="0"/>
              <a:t>      "AIONUSDT",</a:t>
            </a:r>
          </a:p>
          <a:p>
            <a:r>
              <a:rPr lang="zh-TW" altLang="zh-TW" sz="1200" dirty="0"/>
              <a:t>      "ALPHUSDT",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211AF71-84EE-43C6-98E7-58C9DB35B3B5}"/>
              </a:ext>
            </a:extLst>
          </p:cNvPr>
          <p:cNvSpPr txBox="1"/>
          <p:nvPr/>
        </p:nvSpPr>
        <p:spPr>
          <a:xfrm>
            <a:off x="5200073" y="1702824"/>
            <a:ext cx="6891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因為怕只是湊巧遇到定態，所以用板塊去做配對，避免</a:t>
            </a:r>
            <a:r>
              <a:rPr lang="en-US" altLang="zh-TW" dirty="0"/>
              <a:t>data mining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3035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E5017-EC81-A6A0-97CA-097F67101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D63835B8-997D-283E-F108-AA2F1D098074}"/>
              </a:ext>
            </a:extLst>
          </p:cNvPr>
          <p:cNvSpPr txBox="1"/>
          <p:nvPr/>
        </p:nvSpPr>
        <p:spPr>
          <a:xfrm>
            <a:off x="982745" y="1023180"/>
            <a:ext cx="6094428" cy="2098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這是用</a:t>
            </a:r>
            <a:r>
              <a:rPr lang="en-US" altLang="zh-TW" dirty="0"/>
              <a:t>rolling windows</a:t>
            </a:r>
            <a:r>
              <a:rPr lang="zh-TW" altLang="en-US" dirty="0"/>
              <a:t>去做的</a:t>
            </a:r>
            <a:endParaRPr lang="en-US" altLang="zh-TW" dirty="0"/>
          </a:p>
          <a:p>
            <a:r>
              <a:rPr lang="zh-TW" altLang="en-US" dirty="0"/>
              <a:t>這是參數</a:t>
            </a:r>
          </a:p>
          <a:p>
            <a:pPr>
              <a:lnSpc>
                <a:spcPts val="1425"/>
              </a:lnSpc>
              <a:buNone/>
            </a:pPr>
            <a:endParaRPr lang="en-US" altLang="zh-TW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TW" altLang="zh-TW" b="0" dirty="0">
                <a:effectLst/>
                <a:latin typeface="Consolas" panose="020B0609020204030204" pitchFamily="49" charset="0"/>
              </a:rPr>
              <a:t>FORMATION_WINDOW = "60D"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b="0" dirty="0">
                <a:effectLst/>
                <a:latin typeface="Consolas" panose="020B0609020204030204" pitchFamily="49" charset="0"/>
              </a:rPr>
              <a:t>TRADING_WINDOW = "30D"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b="0" dirty="0">
                <a:effectLst/>
                <a:latin typeface="Consolas" panose="020B0609020204030204" pitchFamily="49" charset="0"/>
              </a:rPr>
              <a:t>SCAN_STEP = "30D"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b="0" dirty="0">
                <a:effectLst/>
                <a:latin typeface="Consolas" panose="020B0609020204030204" pitchFamily="49" charset="0"/>
              </a:rPr>
              <a:t>FEE_RATE = 0.0004</a:t>
            </a:r>
            <a:endParaRPr lang="en-US" altLang="zh-TW" b="0" dirty="0">
              <a:effectLst/>
              <a:latin typeface="Consolas" panose="020B0609020204030204" pitchFamily="49" charset="0"/>
            </a:endParaRPr>
          </a:p>
          <a:p>
            <a:r>
              <a:rPr lang="zh-TW" altLang="zh-TW" dirty="0"/>
              <a:t>STOP_LOSS_RETURN = -0.02</a:t>
            </a:r>
          </a:p>
          <a:p>
            <a:r>
              <a:rPr lang="zh-TW" altLang="zh-TW" dirty="0"/>
              <a:t>STOP_LOSS_Z = 3.5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5BE0572-EBA1-8F86-5F1F-447CA4412F2E}"/>
              </a:ext>
            </a:extLst>
          </p:cNvPr>
          <p:cNvSpPr txBox="1"/>
          <p:nvPr/>
        </p:nvSpPr>
        <p:spPr>
          <a:xfrm>
            <a:off x="5096759" y="479552"/>
            <a:ext cx="65012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這是訓練的參數，</a:t>
            </a:r>
            <a:r>
              <a:rPr lang="en-US" altLang="zh-TW" dirty="0" err="1"/>
              <a:t>plateau_score</a:t>
            </a:r>
            <a:r>
              <a:rPr lang="en-US" altLang="zh-TW" dirty="0"/>
              <a:t> = </a:t>
            </a:r>
            <a:r>
              <a:rPr lang="en-US" altLang="zh-TW" dirty="0" err="1"/>
              <a:t>median_sharpe</a:t>
            </a:r>
            <a:r>
              <a:rPr lang="en-US" altLang="zh-TW" dirty="0"/>
              <a:t> - </a:t>
            </a:r>
            <a:r>
              <a:rPr lang="en-US" altLang="zh-TW" dirty="0" err="1"/>
              <a:t>sharpe_std</a:t>
            </a:r>
            <a:endParaRPr lang="en-US" altLang="zh-TW" dirty="0"/>
          </a:p>
          <a:p>
            <a:r>
              <a:rPr lang="zh-TW" altLang="zh-TW" dirty="0"/>
              <a:t>entry_z_values = np.arange(1.5, 3.1, 0.25)</a:t>
            </a:r>
          </a:p>
          <a:p>
            <a:r>
              <a:rPr lang="zh-TW" altLang="zh-TW" dirty="0"/>
              <a:t>exit_z_values = np.arange(0.25, 0.81, 0.05)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B2D6BA1-A742-0048-40A6-B9886BB11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002" y="1572564"/>
            <a:ext cx="71723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34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29227-0300-97ED-E31E-8B17CEF52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A340897-57ED-9914-A41D-B28E283183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3759" y="1825625"/>
            <a:ext cx="7504481" cy="4351338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D0513D5-0242-898D-B191-E7A50393F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61746"/>
              </p:ext>
            </p:extLst>
          </p:nvPr>
        </p:nvGraphicFramePr>
        <p:xfrm>
          <a:off x="339434" y="492817"/>
          <a:ext cx="12591473" cy="975360"/>
        </p:xfrm>
        <a:graphic>
          <a:graphicData uri="http://schemas.openxmlformats.org/drawingml/2006/table">
            <a:tbl>
              <a:tblPr/>
              <a:tblGrid>
                <a:gridCol w="1372902">
                  <a:extLst>
                    <a:ext uri="{9D8B030D-6E8A-4147-A177-3AD203B41FA5}">
                      <a16:colId xmlns:a16="http://schemas.microsoft.com/office/drawing/2014/main" val="1851354882"/>
                    </a:ext>
                  </a:extLst>
                </a:gridCol>
                <a:gridCol w="1372902">
                  <a:extLst>
                    <a:ext uri="{9D8B030D-6E8A-4147-A177-3AD203B41FA5}">
                      <a16:colId xmlns:a16="http://schemas.microsoft.com/office/drawing/2014/main" val="264681716"/>
                    </a:ext>
                  </a:extLst>
                </a:gridCol>
                <a:gridCol w="1372902">
                  <a:extLst>
                    <a:ext uri="{9D8B030D-6E8A-4147-A177-3AD203B41FA5}">
                      <a16:colId xmlns:a16="http://schemas.microsoft.com/office/drawing/2014/main" val="2548904752"/>
                    </a:ext>
                  </a:extLst>
                </a:gridCol>
                <a:gridCol w="1372902">
                  <a:extLst>
                    <a:ext uri="{9D8B030D-6E8A-4147-A177-3AD203B41FA5}">
                      <a16:colId xmlns:a16="http://schemas.microsoft.com/office/drawing/2014/main" val="12953022"/>
                    </a:ext>
                  </a:extLst>
                </a:gridCol>
                <a:gridCol w="1372902">
                  <a:extLst>
                    <a:ext uri="{9D8B030D-6E8A-4147-A177-3AD203B41FA5}">
                      <a16:colId xmlns:a16="http://schemas.microsoft.com/office/drawing/2014/main" val="1719807841"/>
                    </a:ext>
                  </a:extLst>
                </a:gridCol>
                <a:gridCol w="1372902">
                  <a:extLst>
                    <a:ext uri="{9D8B030D-6E8A-4147-A177-3AD203B41FA5}">
                      <a16:colId xmlns:a16="http://schemas.microsoft.com/office/drawing/2014/main" val="2297168082"/>
                    </a:ext>
                  </a:extLst>
                </a:gridCol>
                <a:gridCol w="1372902">
                  <a:extLst>
                    <a:ext uri="{9D8B030D-6E8A-4147-A177-3AD203B41FA5}">
                      <a16:colId xmlns:a16="http://schemas.microsoft.com/office/drawing/2014/main" val="1088306704"/>
                    </a:ext>
                  </a:extLst>
                </a:gridCol>
                <a:gridCol w="1372902">
                  <a:extLst>
                    <a:ext uri="{9D8B030D-6E8A-4147-A177-3AD203B41FA5}">
                      <a16:colId xmlns:a16="http://schemas.microsoft.com/office/drawing/2014/main" val="1196121421"/>
                    </a:ext>
                  </a:extLst>
                </a:gridCol>
                <a:gridCol w="1608257">
                  <a:extLst>
                    <a:ext uri="{9D8B030D-6E8A-4147-A177-3AD203B41FA5}">
                      <a16:colId xmlns:a16="http://schemas.microsoft.com/office/drawing/2014/main" val="2539612380"/>
                    </a:ext>
                  </a:extLst>
                </a:gridCol>
              </a:tblGrid>
              <a:tr h="40301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zh-TW" altLang="en-US" dirty="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br>
                        <a:rPr lang="zh-TW" altLang="en-US" dirty="0"/>
                      </a:br>
                      <a:r>
                        <a:rPr lang="en-US" altLang="zh-TW" dirty="0"/>
                        <a:t>total_return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dirty="0"/>
                        <a:t>annual_return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dirty="0"/>
                        <a:t>annual_volatility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dirty="0"/>
                        <a:t>sharpe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dirty="0"/>
                        <a:t>max_drawdown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dirty="0"/>
                        <a:t>trades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dirty="0"/>
                        <a:t>win_rate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dirty="0"/>
                        <a:t>avg_active_pairs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9933290"/>
                  </a:ext>
                </a:extLst>
              </a:tr>
              <a:tr h="1571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dirty="0"/>
                        <a:t>value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0.817525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0.100526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0.032676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3.076452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-0.035337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5596.0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0.870979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10.0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9341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E95057B-A0AC-8DC7-A66D-F02336DBD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323219"/>
              </p:ext>
            </p:extLst>
          </p:nvPr>
        </p:nvGraphicFramePr>
        <p:xfrm>
          <a:off x="727360" y="1864880"/>
          <a:ext cx="11353800" cy="1249680"/>
        </p:xfrm>
        <a:graphic>
          <a:graphicData uri="http://schemas.openxmlformats.org/drawingml/2006/table">
            <a:tbl>
              <a:tblPr/>
              <a:tblGrid>
                <a:gridCol w="1419225">
                  <a:extLst>
                    <a:ext uri="{9D8B030D-6E8A-4147-A177-3AD203B41FA5}">
                      <a16:colId xmlns:a16="http://schemas.microsoft.com/office/drawing/2014/main" val="4119166929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693312103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233966826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864344855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149955362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1523246118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4263759668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1495233800"/>
                    </a:ext>
                  </a:extLst>
                </a:gridCol>
              </a:tblGrid>
              <a:tr h="42159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1800" dirty="0">
                          <a:effectLst/>
                        </a:rPr>
                        <a:t>basis_rows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1800" dirty="0">
                          <a:effectLst/>
                        </a:rPr>
                        <a:t>basis_symbols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1800">
                          <a:effectLst/>
                        </a:rPr>
                        <a:t>funding_rows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1800" dirty="0">
                          <a:effectLst/>
                        </a:rPr>
                        <a:t>funding_symbols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1800" dirty="0">
                          <a:effectLst/>
                        </a:rPr>
                        <a:t>sectors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1800" dirty="0">
                          <a:effectLst/>
                        </a:rPr>
                        <a:t>rolling_pairs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1800" dirty="0">
                          <a:effectLst/>
                        </a:rPr>
                        <a:t>backtested_pair_windows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1800" dirty="0">
                          <a:effectLst/>
                        </a:rPr>
                        <a:t>trades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111114"/>
                  </a:ext>
                </a:extLst>
              </a:tr>
              <a:tr h="164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dirty="0">
                          <a:effectLst/>
                        </a:rPr>
                        <a:t>56075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effectLst/>
                        </a:rPr>
                        <a:t>192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dirty="0">
                          <a:effectLst/>
                        </a:rPr>
                        <a:t>14970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dirty="0">
                          <a:effectLst/>
                        </a:rPr>
                        <a:t>191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dirty="0">
                          <a:effectLst/>
                        </a:rPr>
                        <a:t>8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dirty="0">
                          <a:effectLst/>
                        </a:rPr>
                        <a:t>1627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dirty="0">
                          <a:effectLst/>
                        </a:rPr>
                        <a:t>760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dirty="0">
                          <a:effectLst/>
                        </a:rPr>
                        <a:t>5596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132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0238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B9D79-FBE4-6CEC-45F8-6B7C93B98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4A53E3A-13E2-CCA0-F5AF-D768471E2C24}"/>
              </a:ext>
            </a:extLst>
          </p:cNvPr>
          <p:cNvSpPr txBox="1"/>
          <p:nvPr/>
        </p:nvSpPr>
        <p:spPr>
          <a:xfrm>
            <a:off x="3454399" y="434109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這裡解釋台指期當沖怎麼做的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70BF91C-15B5-9F75-26E7-7DAC5A21889F}"/>
              </a:ext>
            </a:extLst>
          </p:cNvPr>
          <p:cNvSpPr txBox="1"/>
          <p:nvPr/>
        </p:nvSpPr>
        <p:spPr>
          <a:xfrm>
            <a:off x="3048000" y="2138648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dirty="0"/>
              <a:t>以因子作為排序依據，檢視因子值高低是否對後續當沖報酬具有方向性影響。</a:t>
            </a:r>
          </a:p>
          <a:p>
            <a:pPr>
              <a:buNone/>
            </a:pPr>
            <a:r>
              <a:rPr lang="zh-TW" altLang="zh-TW" dirty="0"/>
              <a:t>流程如下：</a:t>
            </a:r>
          </a:p>
          <a:p>
            <a:pPr>
              <a:buFont typeface="+mj-lt"/>
              <a:buAutoNum type="arabicPeriod"/>
            </a:pPr>
            <a:r>
              <a:rPr lang="zh-TW" altLang="zh-TW" dirty="0"/>
              <a:t>計算每筆交易時點的因子值 </a:t>
            </a:r>
          </a:p>
          <a:p>
            <a:pPr>
              <a:buFont typeface="+mj-lt"/>
              <a:buAutoNum type="arabicPeriod"/>
            </a:pPr>
            <a:r>
              <a:rPr lang="zh-TW" altLang="zh-TW" dirty="0"/>
              <a:t>配對後續當沖報酬率 </a:t>
            </a:r>
          </a:p>
          <a:p>
            <a:pPr>
              <a:buFont typeface="+mj-lt"/>
              <a:buAutoNum type="arabicPeriod"/>
            </a:pPr>
            <a:r>
              <a:rPr lang="zh-TW" altLang="zh-TW" dirty="0"/>
              <a:t>將報酬率扣除平均值，得到 demeaned return </a:t>
            </a:r>
          </a:p>
          <a:p>
            <a:pPr>
              <a:buFont typeface="+mj-lt"/>
              <a:buAutoNum type="arabicPeriod"/>
            </a:pPr>
            <a:r>
              <a:rPr lang="zh-TW" altLang="zh-TW" dirty="0"/>
              <a:t>依照因子值由小到大排序 </a:t>
            </a:r>
          </a:p>
          <a:p>
            <a:pPr>
              <a:buFont typeface="+mj-lt"/>
              <a:buAutoNum type="arabicPeriod"/>
            </a:pPr>
            <a:r>
              <a:rPr lang="zh-TW" altLang="zh-TW" dirty="0"/>
              <a:t>對排序後的 demeaned return 進行累積加總 </a:t>
            </a:r>
          </a:p>
          <a:p>
            <a:pPr>
              <a:buFont typeface="+mj-lt"/>
              <a:buAutoNum type="arabicPeriod"/>
            </a:pPr>
            <a:r>
              <a:rPr lang="zh-TW" altLang="zh-TW" dirty="0"/>
              <a:t>觀察累積曲線是否呈現穩定型態</a:t>
            </a:r>
          </a:p>
        </p:txBody>
      </p:sp>
    </p:spTree>
    <p:extLst>
      <p:ext uri="{BB962C8B-B14F-4D97-AF65-F5344CB8AC3E}">
        <p14:creationId xmlns:p14="http://schemas.microsoft.com/office/powerpoint/2010/main" val="4137724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21015-74FA-060C-82F9-1BF865348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AC1A5FD2-F36F-158E-DF99-62618D6634B4}"/>
              </a:ext>
            </a:extLst>
          </p:cNvPr>
          <p:cNvSpPr txBox="1"/>
          <p:nvPr/>
        </p:nvSpPr>
        <p:spPr>
          <a:xfrm>
            <a:off x="618836" y="100931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zh-TW" altLang="zh-TW" b="0" i="0">
                <a:solidFill>
                  <a:srgbClr val="183B23"/>
                </a:solidFill>
                <a:effectLst/>
              </a:rPr>
              <a:t>日、夜盤漲跌差很多</a:t>
            </a:r>
            <a:endParaRPr lang="zh-TW" altLang="zh-TW">
              <a:effectLst/>
            </a:endParaRPr>
          </a:p>
          <a:p>
            <a:pPr algn="l" rtl="0">
              <a:buNone/>
            </a:pPr>
            <a:r>
              <a:rPr lang="zh-TW" altLang="zh-TW" b="0" i="0">
                <a:solidFill>
                  <a:srgbClr val="183B23"/>
                </a:solidFill>
                <a:effectLst/>
              </a:rPr>
              <a:t>推測背後有不同的因子推動，所以分成日、夜盤策略</a:t>
            </a:r>
            <a:endParaRPr lang="zh-TW" altLang="zh-TW">
              <a:effectLst/>
            </a:endParaRPr>
          </a:p>
          <a:p>
            <a:pPr algn="ctr" rtl="0">
              <a:buNone/>
            </a:pPr>
            <a:r>
              <a:rPr lang="zh-TW" altLang="zh-TW" b="0" i="0">
                <a:solidFill>
                  <a:srgbClr val="183B23"/>
                </a:solidFill>
                <a:effectLst/>
              </a:rPr>
              <a:t>有後綴_a的是夜盤</a:t>
            </a:r>
            <a:endParaRPr lang="zh-TW" altLang="zh-TW">
              <a:effectLst/>
            </a:endParaRPr>
          </a:p>
          <a:p>
            <a:pPr algn="ctr" rtl="0">
              <a:buNone/>
            </a:pPr>
            <a:r>
              <a:rPr lang="zh-TW" altLang="zh-TW" b="0" i="0">
                <a:solidFill>
                  <a:srgbClr val="183B23"/>
                </a:solidFill>
                <a:effectLst/>
              </a:rPr>
              <a:t>綠線：夜盤開盤到收盤的累積報酬</a:t>
            </a:r>
            <a:endParaRPr lang="zh-TW" altLang="zh-TW">
              <a:effectLst/>
            </a:endParaRPr>
          </a:p>
          <a:p>
            <a:pPr algn="ctr" rtl="0">
              <a:buNone/>
            </a:pPr>
            <a:r>
              <a:rPr lang="zh-TW" altLang="zh-TW" b="0" i="0">
                <a:solidFill>
                  <a:srgbClr val="183B23"/>
                </a:solidFill>
                <a:effectLst/>
              </a:rPr>
              <a:t>藍線：日盤開盤到收盤的累積報酬</a:t>
            </a:r>
            <a:endParaRPr lang="zh-TW" altLang="zh-TW" dirty="0">
              <a:effectLst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B39CFE47-34E0-D0B2-944B-476491A0E3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82"/>
          <a:stretch>
            <a:fillRect/>
          </a:stretch>
        </p:blipFill>
        <p:spPr>
          <a:xfrm>
            <a:off x="2066132" y="2705100"/>
            <a:ext cx="8649493" cy="337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555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339DE-6370-DE73-279C-8D5272468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0583F5AE-13BC-FB4A-9BDD-C856406F75FD}"/>
              </a:ext>
            </a:extLst>
          </p:cNvPr>
          <p:cNvSpPr txBox="1"/>
          <p:nvPr/>
        </p:nvSpPr>
        <p:spPr>
          <a:xfrm>
            <a:off x="1773094" y="834159"/>
            <a:ext cx="6320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MOVE</a:t>
            </a:r>
            <a:r>
              <a:rPr lang="zh-TW" altLang="en-US" dirty="0"/>
              <a:t>因子</a:t>
            </a:r>
            <a:endParaRPr lang="en-US" altLang="zh-TW" dirty="0"/>
          </a:p>
          <a:p>
            <a:r>
              <a:rPr lang="zh-TW" altLang="zh-TW" b="1" dirty="0"/>
              <a:t>MOVE = 0.2 × IV_2Y + 0.2 × IV_5Y + 0.4 × IV_10Y + 0.2 × IV_30Y</a:t>
            </a:r>
            <a:endParaRPr lang="zh-TW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B23D46E-D769-3758-5A0E-48DD94A0E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897" y="1508739"/>
            <a:ext cx="7101678" cy="384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071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2F775-B0F2-90C7-0FAE-DEF74B031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7425D1C4-0976-A774-FA94-7CF6A665A67A}"/>
              </a:ext>
            </a:extLst>
          </p:cNvPr>
          <p:cNvSpPr txBox="1"/>
          <p:nvPr/>
        </p:nvSpPr>
        <p:spPr>
          <a:xfrm>
            <a:off x="1671782" y="10553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zh-TW" altLang="en-US" b="0" i="0" dirty="0">
                <a:solidFill>
                  <a:srgbClr val="183B23"/>
                </a:solidFill>
                <a:effectLst/>
              </a:rPr>
              <a:t>夜盤外資選擇權因子</a:t>
            </a:r>
            <a:endParaRPr lang="zh-TW" altLang="zh-TW" dirty="0">
              <a:effectLst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1C8C31C-C948-6A64-AA1C-DB1F131C579D}"/>
                  </a:ext>
                </a:extLst>
              </p:cNvPr>
              <p:cNvSpPr txBox="1"/>
              <p:nvPr/>
            </p:nvSpPr>
            <p:spPr>
              <a:xfrm>
                <a:off x="2871891" y="1597891"/>
                <a:ext cx="4895891" cy="5861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𝑙𝑜𝑛𝑔𝐶𝑎𝑙𝑙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𝑠h𝑜𝑟𝑡𝐶𝑎𝑙𝑙</m:t>
                              </m:r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𝑙𝑜𝑛𝑔𝑃𝑢𝑡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𝑠h𝑜𝑟𝑡𝑃𝑢𝑡</m:t>
                              </m:r>
                            </m:e>
                          </m:d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𝑙𝑜𝑛𝑔𝐶𝑎𝑙𝑙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𝑠h𝑜𝑟𝑡𝐶𝑎𝑙𝑙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𝑙𝑜𝑛𝑔𝑃𝑢𝑡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𝑠h𝑜𝑟𝑡𝑃𝑢𝑡</m:t>
                          </m:r>
                        </m:den>
                      </m:f>
                    </m:oMath>
                  </m:oMathPara>
                </a14:m>
                <a:endParaRPr lang="en-US" altLang="zh-TW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1C8C31C-C948-6A64-AA1C-DB1F131C5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891" y="1597891"/>
                <a:ext cx="4895891" cy="5861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圖片 7">
            <a:extLst>
              <a:ext uri="{FF2B5EF4-FFF2-40B4-BE49-F238E27FC236}">
                <a16:creationId xmlns:a16="http://schemas.microsoft.com/office/drawing/2014/main" id="{AD3CBE34-B054-B700-9F66-C7CDDED131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38"/>
          <a:stretch>
            <a:fillRect/>
          </a:stretch>
        </p:blipFill>
        <p:spPr>
          <a:xfrm>
            <a:off x="2376919" y="2357256"/>
            <a:ext cx="7016463" cy="365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011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D87DD-4371-4CEC-62A7-4981EEDE5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73A8E32-E2E2-6996-BB47-C11858CFBBC9}"/>
              </a:ext>
            </a:extLst>
          </p:cNvPr>
          <p:cNvSpPr txBox="1"/>
          <p:nvPr/>
        </p:nvSpPr>
        <p:spPr>
          <a:xfrm>
            <a:off x="1524000" y="55418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價格乖離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E35B929-B8FB-DAD7-8B65-C19C68B4F80D}"/>
                  </a:ext>
                </a:extLst>
              </p:cNvPr>
              <p:cNvSpPr txBox="1"/>
              <p:nvPr/>
            </p:nvSpPr>
            <p:spPr>
              <a:xfrm>
                <a:off x="2077998" y="1117600"/>
                <a:ext cx="718594" cy="572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𝐶𝑙𝑜𝑠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b="0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E35B929-B8FB-DAD7-8B65-C19C68B4F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998" y="1117600"/>
                <a:ext cx="718594" cy="5726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95E8BF7F-0B57-EE4B-73D4-298D07B8A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870" y="1755343"/>
            <a:ext cx="7007439" cy="382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782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CEAD9-227C-6458-1EEF-0E8956FD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46DB84C-5192-2355-BDAB-28B9688A3CBE}"/>
              </a:ext>
            </a:extLst>
          </p:cNvPr>
          <p:cNvSpPr txBox="1"/>
          <p:nvPr/>
        </p:nvSpPr>
        <p:spPr>
          <a:xfrm>
            <a:off x="1288472" y="2851961"/>
            <a:ext cx="9615055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zh-TW" altLang="zh-TW" b="0" dirty="0">
                <a:effectLst/>
                <a:latin typeface="Consolas" panose="020B0609020204030204" pitchFamily="49" charset="0"/>
              </a:rPr>
              <a:t>move_split = df['MOVE_ind'] &lt; 0.0001</a:t>
            </a:r>
            <a:endParaRPr lang="en-US" altLang="zh-TW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TW" altLang="zh-TW" b="0" dirty="0">
                <a:effectLst/>
                <a:latin typeface="Consolas" panose="020B0609020204030204" pitchFamily="49" charset="0"/>
              </a:rPr>
              <a:t>gap_s_l = df['gap'] &lt; 0.001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b="0" dirty="0">
                <a:effectLst/>
                <a:latin typeface="Consolas" panose="020B0609020204030204" pitchFamily="49" charset="0"/>
              </a:rPr>
              <a:t>foreign_split = df['Foreign_Opt_Signal_a'] &lt; -0.0035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b="0" dirty="0">
                <a:effectLst/>
                <a:latin typeface="Consolas" panose="020B0609020204030204" pitchFamily="49" charset="0"/>
              </a:rPr>
              <a:t>divergence_f_r = df['divergence'] &lt; -0.0015</a:t>
            </a:r>
          </a:p>
          <a:p>
            <a:pPr>
              <a:lnSpc>
                <a:spcPts val="1425"/>
              </a:lnSpc>
              <a:buNone/>
            </a:pPr>
            <a:br>
              <a:rPr lang="zh-TW" altLang="zh-TW" b="0" dirty="0">
                <a:effectLst/>
                <a:latin typeface="Consolas" panose="020B0609020204030204" pitchFamily="49" charset="0"/>
              </a:rPr>
            </a:br>
            <a:endParaRPr lang="zh-TW" altLang="zh-TW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TW" altLang="zh-TW" b="0" dirty="0">
                <a:effectLst/>
                <a:latin typeface="Consolas" panose="020B0609020204030204" pitchFamily="49" charset="0"/>
              </a:rPr>
              <a:t>            # --- execute Layers ---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b="0" dirty="0">
                <a:effectLst/>
                <a:latin typeface="Consolas" panose="020B0609020204030204" pitchFamily="49" charset="0"/>
              </a:rPr>
              <a:t>df.loc[move_split &amp; ~gap_s_l, 'pos_day'] = 1.0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b="0" dirty="0">
                <a:effectLst/>
                <a:latin typeface="Consolas" panose="020B0609020204030204" pitchFamily="49" charset="0"/>
              </a:rPr>
              <a:t>df.loc[move_split, 'pos_day'] = 1.0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b="0" dirty="0">
                <a:effectLst/>
                <a:latin typeface="Consolas" panose="020B0609020204030204" pitchFamily="49" charset="0"/>
              </a:rPr>
              <a:t>df.loc[~move_split &amp; foreign_split, 'pos_day'] = -1.0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b="0" dirty="0">
                <a:effectLst/>
                <a:latin typeface="Consolas" panose="020B0609020204030204" pitchFamily="49" charset="0"/>
              </a:rPr>
              <a:t>df.loc[~move_split &amp; ~foreign_split &amp; ~divergence_f_r, 'pos_day'] = 1.0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AC0E977-321D-91CA-3945-8A47BCF6AEEC}"/>
              </a:ext>
            </a:extLst>
          </p:cNvPr>
          <p:cNvSpPr txBox="1"/>
          <p:nvPr/>
        </p:nvSpPr>
        <p:spPr>
          <a:xfrm>
            <a:off x="3823855" y="8035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策略邏輯</a:t>
            </a:r>
          </a:p>
        </p:txBody>
      </p:sp>
    </p:spTree>
    <p:extLst>
      <p:ext uri="{BB962C8B-B14F-4D97-AF65-F5344CB8AC3E}">
        <p14:creationId xmlns:p14="http://schemas.microsoft.com/office/powerpoint/2010/main" val="1589999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0DB3A-5822-5018-1471-27FB59266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CEBAB91-6C81-39DA-C257-276AE6268D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2219" y="1825625"/>
            <a:ext cx="8547562" cy="435133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1A6EBDD-78FC-034A-C631-B4F0DB8BD067}"/>
              </a:ext>
            </a:extLst>
          </p:cNvPr>
          <p:cNvSpPr txBox="1"/>
          <p:nvPr/>
        </p:nvSpPr>
        <p:spPr>
          <a:xfrm>
            <a:off x="3743325" y="56197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回測結果</a:t>
            </a:r>
          </a:p>
        </p:txBody>
      </p:sp>
    </p:spTree>
    <p:extLst>
      <p:ext uri="{BB962C8B-B14F-4D97-AF65-F5344CB8AC3E}">
        <p14:creationId xmlns:p14="http://schemas.microsoft.com/office/powerpoint/2010/main" val="2515601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778A8-F011-A035-A95B-655430592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6A16C5-C793-687B-A349-3459781FE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C64508-D84C-EAAC-4443-997900ACE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3509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CA8D7-249B-B2B6-CAE9-2C696A9BB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A4B4D5-A81C-96E9-191D-083947A24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C2265C-21EB-EB8C-6561-41940A4EF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7403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9CAA5-86A9-1D7A-052C-1B610AAF9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B2C918-2206-6244-0117-CF4923240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1BFB39-464C-58D6-C872-929605D58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225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09ACC-7B2E-B45B-B431-9762FE33B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D49FF0-6111-0884-42F0-25D3CAE7B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62EED2-A71E-4141-6BE6-41F6322DF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906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3A21F-D25C-9213-9E12-BB8329674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9B6722-E939-C81A-CAA8-D6EADC7C6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40EEEB-B38C-DE64-3DB7-017786F42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1249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F6C22-96E3-DE1E-A85F-24FB724C6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3FEE24-EBE2-4A3D-CEA7-A8198447F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EA4FF8-842B-F88B-16B2-5204B0A61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1274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06DA0-FB9D-3533-3237-97B069474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F0F8D5-9618-6E9E-AD44-636CA0A3D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D06474-E0EF-7F01-6DCF-75A0CC7EB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21670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836F4-A482-1041-DC23-1EF439B00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706F3B-6E87-2B84-46E2-4EEDE40A1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DD612B-9813-F0F5-2D59-14635BE43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1463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2926</Words>
  <Application>Microsoft Office PowerPoint</Application>
  <PresentationFormat>寬螢幕</PresentationFormat>
  <Paragraphs>830</Paragraphs>
  <Slides>26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Cambria Math</vt:lpstr>
      <vt:lpstr>Consolas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陳信全</dc:creator>
  <cp:lastModifiedBy>陳信全</cp:lastModifiedBy>
  <cp:revision>2</cp:revision>
  <dcterms:created xsi:type="dcterms:W3CDTF">2026-06-09T07:33:59Z</dcterms:created>
  <dcterms:modified xsi:type="dcterms:W3CDTF">2026-06-09T13:40:29Z</dcterms:modified>
</cp:coreProperties>
</file>