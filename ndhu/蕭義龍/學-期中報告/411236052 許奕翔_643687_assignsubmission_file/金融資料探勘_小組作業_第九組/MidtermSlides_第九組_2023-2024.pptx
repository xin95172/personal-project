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77" r:id="rId4"/>
    <p:sldId id="278" r:id="rId5"/>
    <p:sldId id="260" r:id="rId6"/>
    <p:sldId id="267" r:id="rId7"/>
    <p:sldId id="269" r:id="rId8"/>
    <p:sldId id="263" r:id="rId9"/>
    <p:sldId id="264" r:id="rId10"/>
    <p:sldId id="271" r:id="rId11"/>
    <p:sldId id="259" r:id="rId12"/>
    <p:sldId id="270" r:id="rId13"/>
    <p:sldId id="272" r:id="rId14"/>
    <p:sldId id="273" r:id="rId15"/>
    <p:sldId id="274" r:id="rId16"/>
    <p:sldId id="268" r:id="rId17"/>
    <p:sldId id="261" r:id="rId18"/>
    <p:sldId id="275" r:id="rId19"/>
    <p:sldId id="262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BD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42" d="100"/>
          <a:sy n="42" d="100"/>
        </p:scale>
        <p:origin x="42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A5B76D1-23E2-4501-BA05-3F8ED82E3D79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7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7470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870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5566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893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2311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755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9359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1752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812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516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852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54987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5354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4022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1501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188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A5B76D1-23E2-4501-BA05-3F8ED82E3D79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5558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3E29F6-180C-A555-2825-C3B631D807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+mj-ea"/>
              </a:rPr>
              <a:t>金融資料探勘</a:t>
            </a:r>
            <a:r>
              <a:rPr lang="en-US" altLang="zh-TW" dirty="0">
                <a:latin typeface="+mj-ea"/>
              </a:rPr>
              <a:t>-</a:t>
            </a:r>
            <a:r>
              <a:rPr lang="zh-TW" altLang="en-US" dirty="0">
                <a:latin typeface="+mj-ea"/>
              </a:rPr>
              <a:t>第二組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10A96B2-7692-48F2-A457-E9E3306CED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  <a:ea typeface="+mj-ea"/>
              </a:rPr>
              <a:t>411236057</a:t>
            </a:r>
            <a:r>
              <a:rPr lang="zh-TW" altLang="en-US" dirty="0">
                <a:latin typeface="+mj-ea"/>
                <a:ea typeface="+mj-ea"/>
              </a:rPr>
              <a:t>黃柏崴</a:t>
            </a:r>
            <a:endParaRPr lang="en-US" altLang="zh-TW" dirty="0">
              <a:latin typeface="+mj-ea"/>
              <a:ea typeface="+mj-ea"/>
            </a:endParaRPr>
          </a:p>
          <a:p>
            <a:r>
              <a:rPr lang="en-US" altLang="zh-TW" dirty="0">
                <a:latin typeface="+mj-ea"/>
                <a:ea typeface="+mj-ea"/>
              </a:rPr>
              <a:t>411236052</a:t>
            </a:r>
            <a:r>
              <a:rPr lang="zh-TW" altLang="en-US" dirty="0">
                <a:latin typeface="+mj-ea"/>
                <a:ea typeface="+mj-ea"/>
              </a:rPr>
              <a:t>許奕翔</a:t>
            </a:r>
          </a:p>
        </p:txBody>
      </p:sp>
    </p:spTree>
    <p:extLst>
      <p:ext uri="{BB962C8B-B14F-4D97-AF65-F5344CB8AC3E}">
        <p14:creationId xmlns:p14="http://schemas.microsoft.com/office/powerpoint/2010/main" val="713001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4D82B7-45AB-3DA2-FFB5-4C6A74035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+mj-ea"/>
              </a:rPr>
              <a:t>研究年度</a:t>
            </a:r>
            <a:r>
              <a:rPr lang="en-US" altLang="zh-TW" dirty="0">
                <a:latin typeface="+mj-ea"/>
              </a:rPr>
              <a:t>2023~2024</a:t>
            </a:r>
            <a:endParaRPr lang="zh-TW" altLang="en-US" dirty="0">
              <a:latin typeface="+mj-ea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BC8765-FF0F-EF45-3ECB-B272ED269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/>
              <a:t>選擇原因：新冠疫情後的經濟復甦與</a:t>
            </a:r>
            <a:r>
              <a:rPr lang="en-US" altLang="zh-TW" dirty="0"/>
              <a:t>AI</a:t>
            </a:r>
            <a:r>
              <a:rPr lang="zh-TW" altLang="en-US" dirty="0"/>
              <a:t>浪潮帶來的影響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核心問題：透過樣本標準差、隱含波動率、乖離率、</a:t>
            </a:r>
            <a:r>
              <a:rPr lang="en-US" altLang="zh-TW" dirty="0"/>
              <a:t>put/call ratio</a:t>
            </a:r>
            <a:r>
              <a:rPr lang="zh-TW" altLang="en-US" dirty="0"/>
              <a:t>，比較</a:t>
            </a:r>
            <a:r>
              <a:rPr lang="en-US" altLang="zh-TW" dirty="0"/>
              <a:t>2023</a:t>
            </a:r>
            <a:r>
              <a:rPr lang="zh-TW" altLang="en-US" dirty="0"/>
              <a:t>與</a:t>
            </a:r>
            <a:r>
              <a:rPr lang="en-US" altLang="zh-TW" dirty="0"/>
              <a:t>2024</a:t>
            </a:r>
            <a:r>
              <a:rPr lang="zh-TW" altLang="en-US" dirty="0"/>
              <a:t>市場投資人心態之差別，再從過去新聞尋找可能原因。</a:t>
            </a:r>
          </a:p>
        </p:txBody>
      </p:sp>
    </p:spTree>
    <p:extLst>
      <p:ext uri="{BB962C8B-B14F-4D97-AF65-F5344CB8AC3E}">
        <p14:creationId xmlns:p14="http://schemas.microsoft.com/office/powerpoint/2010/main" val="775998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BF0FE-A9D9-E97C-80E1-0E8545079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937C64-62E8-0C7C-4F6B-6C3C8ECA9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+mj-ea"/>
              </a:rPr>
              <a:t>分工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116700-1B33-03FF-CD2D-C23F595B9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411236052</a:t>
            </a:r>
            <a:r>
              <a:rPr lang="zh-TW" altLang="en-US" dirty="0"/>
              <a:t> 許奕翔</a:t>
            </a:r>
            <a:r>
              <a:rPr lang="en-US" altLang="zh-TW" dirty="0"/>
              <a:t>(AI</a:t>
            </a:r>
            <a:r>
              <a:rPr lang="zh-TW" altLang="en-US" dirty="0"/>
              <a:t> 協作、財務統計與圖表製作、</a:t>
            </a:r>
            <a:r>
              <a:rPr lang="en-US" altLang="zh-TW" dirty="0"/>
              <a:t>2023</a:t>
            </a:r>
            <a:r>
              <a:rPr lang="zh-TW" altLang="en-US" dirty="0"/>
              <a:t>年資料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411236052</a:t>
            </a:r>
            <a:r>
              <a:rPr lang="zh-TW" altLang="en-US" dirty="0"/>
              <a:t> 黃柏崴</a:t>
            </a:r>
            <a:r>
              <a:rPr lang="en-US" altLang="zh-TW" dirty="0"/>
              <a:t>(</a:t>
            </a:r>
            <a:r>
              <a:rPr lang="zh-TW" altLang="en-US" dirty="0"/>
              <a:t>事件分析、問題與修正、資料處理、</a:t>
            </a:r>
            <a:r>
              <a:rPr lang="en-US" altLang="zh-TW" dirty="0"/>
              <a:t>2024</a:t>
            </a:r>
            <a:r>
              <a:rPr lang="zh-TW" altLang="en-US" dirty="0"/>
              <a:t>年資料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29271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87D8C-3C25-14D8-BBF7-41A1B8A4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6246CB-452C-BDA1-E94B-979E73E8E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年份資料系統整合</a:t>
            </a:r>
            <a:endParaRPr lang="zh-TW" altLang="en-US" dirty="0">
              <a:latin typeface="+mj-ea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964C27-6617-2C5B-2ED4-D27C26C27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238A4B8-5A05-041A-1361-06F4902CA7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6" r="1952"/>
          <a:stretch>
            <a:fillRect/>
          </a:stretch>
        </p:blipFill>
        <p:spPr>
          <a:xfrm>
            <a:off x="2286001" y="2074509"/>
            <a:ext cx="7904017" cy="393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592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08204D-E672-397C-C837-BE1B2265F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資料處理流程與方法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A763DF51-972D-F2F7-B9B6-CB2E9119DBC9}"/>
              </a:ext>
            </a:extLst>
          </p:cNvPr>
          <p:cNvSpPr/>
          <p:nvPr/>
        </p:nvSpPr>
        <p:spPr>
          <a:xfrm>
            <a:off x="1295401" y="2571752"/>
            <a:ext cx="2581274" cy="130386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rgbClr val="C00000"/>
                </a:solidFill>
              </a:rPr>
              <a:t>原始逐筆資料</a:t>
            </a:r>
            <a:br>
              <a:rPr lang="en-US" altLang="zh-TW" b="1" dirty="0">
                <a:solidFill>
                  <a:sysClr val="windowText" lastClr="000000"/>
                </a:solidFill>
              </a:rPr>
            </a:br>
            <a:r>
              <a:rPr lang="en-US" altLang="zh-TW" b="1" dirty="0">
                <a:solidFill>
                  <a:sysClr val="windowText" lastClr="000000"/>
                </a:solidFill>
              </a:rPr>
              <a:t>2023~2024</a:t>
            </a:r>
            <a:r>
              <a:rPr lang="zh-TW" altLang="en-US" b="1" dirty="0">
                <a:solidFill>
                  <a:sysClr val="windowText" lastClr="000000"/>
                </a:solidFill>
              </a:rPr>
              <a:t>台指選</a:t>
            </a:r>
            <a:br>
              <a:rPr lang="en-US" altLang="zh-TW" b="1" dirty="0">
                <a:solidFill>
                  <a:sysClr val="windowText" lastClr="000000"/>
                </a:solidFill>
              </a:rPr>
            </a:br>
            <a:r>
              <a:rPr lang="en-US" altLang="zh-TW" b="1" dirty="0">
                <a:solidFill>
                  <a:sysClr val="windowText" lastClr="000000"/>
                </a:solidFill>
              </a:rPr>
              <a:t>2023~2024</a:t>
            </a:r>
            <a:r>
              <a:rPr lang="zh-TW" altLang="en-US" b="1" dirty="0">
                <a:solidFill>
                  <a:sysClr val="windowText" lastClr="000000"/>
                </a:solidFill>
              </a:rPr>
              <a:t>大盤指數</a:t>
            </a:r>
            <a:r>
              <a:rPr lang="en-US" altLang="zh-TW" b="1" dirty="0">
                <a:solidFill>
                  <a:sysClr val="windowText" lastClr="000000"/>
                </a:solidFill>
              </a:rPr>
              <a:t>(S0)</a:t>
            </a:r>
            <a:br>
              <a:rPr lang="en-US" altLang="zh-TW" b="1" dirty="0">
                <a:solidFill>
                  <a:sysClr val="windowText" lastClr="000000"/>
                </a:solidFill>
              </a:rPr>
            </a:br>
            <a:r>
              <a:rPr lang="en-US" altLang="zh-TW" b="1" dirty="0">
                <a:solidFill>
                  <a:sysClr val="windowText" lastClr="000000"/>
                </a:solidFill>
              </a:rPr>
              <a:t>2023~2024</a:t>
            </a:r>
            <a:r>
              <a:rPr lang="zh-TW" altLang="en-US" b="1" dirty="0">
                <a:solidFill>
                  <a:sysClr val="windowText" lastClr="000000"/>
                </a:solidFill>
              </a:rPr>
              <a:t>台銀利率</a:t>
            </a:r>
            <a:r>
              <a:rPr lang="en-US" altLang="zh-TW" b="1" dirty="0">
                <a:solidFill>
                  <a:sysClr val="windowText" lastClr="000000"/>
                </a:solidFill>
              </a:rPr>
              <a:t>(Rf)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035A5158-C0D9-15D7-470C-00FA5ACD1BD0}"/>
              </a:ext>
            </a:extLst>
          </p:cNvPr>
          <p:cNvSpPr/>
          <p:nvPr/>
        </p:nvSpPr>
        <p:spPr>
          <a:xfrm>
            <a:off x="4652963" y="2571752"/>
            <a:ext cx="2581274" cy="130386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rgbClr val="C00000"/>
                </a:solidFill>
              </a:rPr>
              <a:t>篩選條件</a:t>
            </a:r>
            <a:br>
              <a:rPr lang="en-US" altLang="zh-TW" b="1" dirty="0">
                <a:solidFill>
                  <a:sysClr val="windowText" lastClr="000000"/>
                </a:solidFill>
              </a:rPr>
            </a:br>
            <a:r>
              <a:rPr lang="en-US" altLang="zh-TW" b="1" dirty="0">
                <a:solidFill>
                  <a:sysClr val="windowText" lastClr="000000"/>
                </a:solidFill>
              </a:rPr>
              <a:t>volume&gt;=30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D11F3A8A-53A0-3B0D-514B-B75431DA70A3}"/>
              </a:ext>
            </a:extLst>
          </p:cNvPr>
          <p:cNvSpPr/>
          <p:nvPr/>
        </p:nvSpPr>
        <p:spPr>
          <a:xfrm>
            <a:off x="8010526" y="2571752"/>
            <a:ext cx="2581274" cy="130386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rgbClr val="C00000"/>
                </a:solidFill>
              </a:rPr>
              <a:t>投資人分類方式：</a:t>
            </a:r>
            <a:br>
              <a:rPr lang="en-US" altLang="zh-TW" b="1" dirty="0">
                <a:solidFill>
                  <a:sysClr val="windowText" lastClr="000000"/>
                </a:solidFill>
              </a:rPr>
            </a:br>
            <a:r>
              <a:rPr lang="zh-TW" altLang="en-US" b="1" dirty="0">
                <a:solidFill>
                  <a:sysClr val="windowText" lastClr="000000"/>
                </a:solidFill>
              </a:rPr>
              <a:t>看漲：買方</a:t>
            </a:r>
            <a:r>
              <a:rPr lang="en-US" altLang="zh-TW" b="1" dirty="0">
                <a:solidFill>
                  <a:sysClr val="windowText" lastClr="000000"/>
                </a:solidFill>
              </a:rPr>
              <a:t>(Call)</a:t>
            </a:r>
            <a:br>
              <a:rPr lang="en-US" altLang="zh-TW" b="1" dirty="0">
                <a:solidFill>
                  <a:sysClr val="windowText" lastClr="000000"/>
                </a:solidFill>
              </a:rPr>
            </a:br>
            <a:r>
              <a:rPr lang="zh-TW" altLang="en-US" b="1" dirty="0">
                <a:solidFill>
                  <a:sysClr val="windowText" lastClr="000000"/>
                </a:solidFill>
              </a:rPr>
              <a:t>看跌：賣方</a:t>
            </a:r>
            <a:r>
              <a:rPr lang="en-US" altLang="zh-TW" b="1" dirty="0">
                <a:solidFill>
                  <a:sysClr val="windowText" lastClr="000000"/>
                </a:solidFill>
              </a:rPr>
              <a:t>(Put)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064FEE12-77CE-B9C4-C6E4-44AA48AD0DCC}"/>
              </a:ext>
            </a:extLst>
          </p:cNvPr>
          <p:cNvSpPr/>
          <p:nvPr/>
        </p:nvSpPr>
        <p:spPr>
          <a:xfrm>
            <a:off x="8010526" y="4572001"/>
            <a:ext cx="2581274" cy="157162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rgbClr val="C00000"/>
                </a:solidFill>
              </a:rPr>
              <a:t>財務模型：</a:t>
            </a:r>
            <a:br>
              <a:rPr lang="en-US" altLang="zh-TW" b="1" dirty="0">
                <a:solidFill>
                  <a:srgbClr val="C00000"/>
                </a:solidFill>
              </a:rPr>
            </a:br>
            <a:r>
              <a:rPr lang="zh-TW" altLang="en-US" b="1" dirty="0">
                <a:solidFill>
                  <a:schemeClr val="tx1"/>
                </a:solidFill>
              </a:rPr>
              <a:t>隱含波動率</a:t>
            </a:r>
            <a:r>
              <a:rPr lang="en-US" altLang="zh-TW" b="1" dirty="0">
                <a:solidFill>
                  <a:schemeClr val="tx1"/>
                </a:solidFill>
              </a:rPr>
              <a:t>(IV)</a:t>
            </a:r>
          </a:p>
          <a:p>
            <a:pPr algn="ctr"/>
            <a:r>
              <a:rPr lang="zh-TW" altLang="en-US" b="1" dirty="0">
                <a:solidFill>
                  <a:schemeClr val="tx1"/>
                </a:solidFill>
              </a:rPr>
              <a:t>標準差</a:t>
            </a:r>
            <a:br>
              <a:rPr lang="en-US" altLang="zh-TW" b="1" dirty="0">
                <a:solidFill>
                  <a:schemeClr val="tx1"/>
                </a:solidFill>
              </a:rPr>
            </a:br>
            <a:r>
              <a:rPr lang="zh-TW" altLang="en-US" b="1" dirty="0">
                <a:solidFill>
                  <a:schemeClr val="tx1"/>
                </a:solidFill>
              </a:rPr>
              <a:t>歷史波動率</a:t>
            </a:r>
            <a:r>
              <a:rPr lang="en-US" altLang="zh-TW" b="1" dirty="0">
                <a:solidFill>
                  <a:schemeClr val="tx1"/>
                </a:solidFill>
              </a:rPr>
              <a:t>(HV)</a:t>
            </a:r>
          </a:p>
          <a:p>
            <a:pPr algn="ctr"/>
            <a:r>
              <a:rPr lang="zh-TW" altLang="en-US" b="1" dirty="0">
                <a:solidFill>
                  <a:schemeClr val="tx1"/>
                </a:solidFill>
              </a:rPr>
              <a:t>波動風險溢酬</a:t>
            </a:r>
            <a:r>
              <a:rPr lang="en-US" altLang="zh-TW" b="1" dirty="0">
                <a:solidFill>
                  <a:schemeClr val="tx1"/>
                </a:solidFill>
              </a:rPr>
              <a:t>(VRP)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5912BE80-2D60-7796-58C0-8F26DF9AEC97}"/>
              </a:ext>
            </a:extLst>
          </p:cNvPr>
          <p:cNvSpPr/>
          <p:nvPr/>
        </p:nvSpPr>
        <p:spPr>
          <a:xfrm>
            <a:off x="4652963" y="4572002"/>
            <a:ext cx="2581274" cy="130386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rgbClr val="C00000"/>
                </a:solidFill>
              </a:rPr>
              <a:t>異常狀況處理：</a:t>
            </a:r>
            <a:br>
              <a:rPr lang="en-US" altLang="zh-TW" b="1" dirty="0">
                <a:solidFill>
                  <a:srgbClr val="C00000"/>
                </a:solidFill>
              </a:rPr>
            </a:br>
            <a:r>
              <a:rPr lang="zh-TW" altLang="en-US" dirty="0">
                <a:ln>
                  <a:solidFill>
                    <a:sysClr val="windowText" lastClr="000000"/>
                  </a:solidFill>
                </a:ln>
                <a:solidFill>
                  <a:srgbClr val="C00000"/>
                </a:solidFill>
              </a:rPr>
              <a:t>遇到空值會自動剔除</a:t>
            </a:r>
            <a:endParaRPr lang="en-US" altLang="zh-TW" dirty="0">
              <a:ln>
                <a:solidFill>
                  <a:sysClr val="windowText" lastClr="000000"/>
                </a:solidFill>
              </a:ln>
              <a:solidFill>
                <a:srgbClr val="C00000"/>
              </a:solidFill>
            </a:endParaRP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BE2FA17E-A45C-34BD-EB3D-D48B87B6C18C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876675" y="3223685"/>
            <a:ext cx="776288" cy="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AD76DEDD-BF7D-53A1-3ABB-A6FF31775D55}"/>
              </a:ext>
            </a:extLst>
          </p:cNvPr>
          <p:cNvCxnSpPr>
            <a:cxnSpLocks/>
          </p:cNvCxnSpPr>
          <p:nvPr/>
        </p:nvCxnSpPr>
        <p:spPr>
          <a:xfrm>
            <a:off x="7234238" y="3223685"/>
            <a:ext cx="776288" cy="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DB10BF3D-DA99-578E-49B1-E08413A8A762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9301163" y="3875618"/>
            <a:ext cx="0" cy="696383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F3EB5D4C-2826-4C71-CA72-17FCBB6B2DB4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7234237" y="5223935"/>
            <a:ext cx="776288" cy="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186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049EC-B572-7791-CDD8-7E047431A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C95BD-75B8-D144-6C1E-AC0A2139B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財務統計與意義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601F18-1271-B16A-EDB4-CA5CB7D3F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chemeClr val="accent4"/>
                </a:solidFill>
              </a:rPr>
              <a:t>平均數</a:t>
            </a:r>
            <a:r>
              <a:rPr lang="en-US" altLang="zh-TW" b="1" dirty="0">
                <a:solidFill>
                  <a:schemeClr val="accent4"/>
                </a:solidFill>
              </a:rPr>
              <a:t>(IV)</a:t>
            </a:r>
            <a:r>
              <a:rPr lang="zh-TW" altLang="en-US" b="1" dirty="0">
                <a:solidFill>
                  <a:schemeClr val="accent4"/>
                </a:solidFill>
              </a:rPr>
              <a:t>：</a:t>
            </a:r>
            <a:r>
              <a:rPr lang="zh-TW" altLang="en-US" dirty="0"/>
              <a:t>代表當下全體投資人</a:t>
            </a:r>
            <a:r>
              <a:rPr lang="zh-TW" altLang="en-US" b="1" dirty="0">
                <a:solidFill>
                  <a:schemeClr val="tx1"/>
                </a:solidFill>
              </a:rPr>
              <a:t>對未來大盤震盪幅度的平均預期</a:t>
            </a:r>
            <a:r>
              <a:rPr lang="zh-TW" altLang="en-US" dirty="0"/>
              <a:t>。數值越高，預期未來波動越劇烈。</a:t>
            </a:r>
            <a:endParaRPr lang="en-US" altLang="zh-TW" dirty="0"/>
          </a:p>
          <a:p>
            <a:r>
              <a:rPr lang="zh-TW" altLang="en-US" b="1" dirty="0">
                <a:solidFill>
                  <a:schemeClr val="accent4"/>
                </a:solidFill>
              </a:rPr>
              <a:t>樣本標準差：</a:t>
            </a:r>
            <a:r>
              <a:rPr lang="zh-TW" altLang="en-US" b="1" dirty="0"/>
              <a:t>代表「市場預期的分歧程度」，</a:t>
            </a:r>
            <a:r>
              <a:rPr lang="zh-TW" altLang="en-US" dirty="0"/>
              <a:t> 數值越大，表示投資人對未來越沒把握、看法越發散（離散程度高）。</a:t>
            </a:r>
            <a:endParaRPr lang="en-US" altLang="zh-TW" dirty="0"/>
          </a:p>
          <a:p>
            <a:r>
              <a:rPr lang="zh-TW" altLang="en-US" b="1" dirty="0">
                <a:solidFill>
                  <a:schemeClr val="accent2"/>
                </a:solidFill>
              </a:rPr>
              <a:t>當 </a:t>
            </a:r>
            <a:r>
              <a:rPr lang="en-US" altLang="zh-TW" b="1" dirty="0">
                <a:solidFill>
                  <a:schemeClr val="accent2"/>
                </a:solidFill>
              </a:rPr>
              <a:t>Put </a:t>
            </a:r>
            <a:r>
              <a:rPr lang="zh-TW" altLang="en-US" b="1" dirty="0">
                <a:solidFill>
                  <a:schemeClr val="accent2"/>
                </a:solidFill>
              </a:rPr>
              <a:t>的 </a:t>
            </a:r>
            <a:r>
              <a:rPr lang="en-US" altLang="zh-TW" b="1" dirty="0">
                <a:solidFill>
                  <a:schemeClr val="accent2"/>
                </a:solidFill>
              </a:rPr>
              <a:t>IV </a:t>
            </a:r>
            <a:r>
              <a:rPr lang="zh-TW" altLang="en-US" b="1" dirty="0">
                <a:solidFill>
                  <a:schemeClr val="accent2"/>
                </a:solidFill>
              </a:rPr>
              <a:t>平均數較高時 （下行風險溢酬）：</a:t>
            </a:r>
            <a:r>
              <a:rPr lang="zh-TW" altLang="en-US" dirty="0"/>
              <a:t>避險需求強烈。</a:t>
            </a:r>
            <a:endParaRPr lang="en-US" altLang="zh-TW" dirty="0"/>
          </a:p>
          <a:p>
            <a:r>
              <a:rPr lang="zh-TW" altLang="en-US" b="1" dirty="0">
                <a:solidFill>
                  <a:schemeClr val="accent5"/>
                </a:solidFill>
              </a:rPr>
              <a:t>當 </a:t>
            </a:r>
            <a:r>
              <a:rPr lang="en-US" altLang="zh-TW" b="1" dirty="0">
                <a:solidFill>
                  <a:schemeClr val="accent5"/>
                </a:solidFill>
              </a:rPr>
              <a:t>Put </a:t>
            </a:r>
            <a:r>
              <a:rPr lang="zh-TW" altLang="en-US" b="1" dirty="0">
                <a:solidFill>
                  <a:schemeClr val="accent5"/>
                </a:solidFill>
              </a:rPr>
              <a:t>的 </a:t>
            </a:r>
            <a:r>
              <a:rPr lang="en-US" altLang="zh-TW" b="1" dirty="0">
                <a:solidFill>
                  <a:schemeClr val="accent5"/>
                </a:solidFill>
              </a:rPr>
              <a:t>IV </a:t>
            </a:r>
            <a:r>
              <a:rPr lang="zh-TW" altLang="en-US" b="1" dirty="0">
                <a:solidFill>
                  <a:schemeClr val="accent5"/>
                </a:solidFill>
              </a:rPr>
              <a:t>樣本標準差較大時</a:t>
            </a:r>
            <a:r>
              <a:rPr lang="en-US" altLang="zh-TW" b="1" dirty="0">
                <a:solidFill>
                  <a:schemeClr val="accent5"/>
                </a:solidFill>
              </a:rPr>
              <a:t>(</a:t>
            </a:r>
            <a:r>
              <a:rPr lang="zh-TW" altLang="en-US" b="1" dirty="0">
                <a:solidFill>
                  <a:schemeClr val="accent5"/>
                </a:solidFill>
              </a:rPr>
              <a:t>預期極度發散）：</a:t>
            </a:r>
            <a:r>
              <a:rPr lang="zh-TW" altLang="en-US" dirty="0"/>
              <a:t>恐慌與分歧並存，導致定價極度混亂與充滿不確定性。。</a:t>
            </a:r>
          </a:p>
        </p:txBody>
      </p:sp>
    </p:spTree>
    <p:extLst>
      <p:ext uri="{BB962C8B-B14F-4D97-AF65-F5344CB8AC3E}">
        <p14:creationId xmlns:p14="http://schemas.microsoft.com/office/powerpoint/2010/main" val="3798121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1407A-EB64-DDC8-8564-CF4E7BABE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49E1CF-BA9D-D742-CC1B-E66711F6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財務統計與意義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89CCBC-3F18-8438-5ADF-85A0FBEBD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chemeClr val="accent4"/>
                </a:solidFill>
              </a:rPr>
              <a:t>歷史波動率 </a:t>
            </a:r>
            <a:r>
              <a:rPr lang="en-US" altLang="zh-TW" b="1" dirty="0">
                <a:solidFill>
                  <a:schemeClr val="accent4"/>
                </a:solidFill>
              </a:rPr>
              <a:t>(HV)</a:t>
            </a:r>
            <a:r>
              <a:rPr lang="zh-TW" altLang="en-US" b="1" dirty="0">
                <a:solidFill>
                  <a:schemeClr val="accent4"/>
                </a:solidFill>
              </a:rPr>
              <a:t>：</a:t>
            </a:r>
            <a:r>
              <a:rPr lang="zh-TW" altLang="en-US" b="1" dirty="0"/>
              <a:t>基於過去</a:t>
            </a:r>
            <a:r>
              <a:rPr lang="en-US" altLang="zh-TW" b="1" dirty="0"/>
              <a:t>20</a:t>
            </a:r>
            <a:r>
              <a:rPr lang="zh-TW" altLang="en-US" b="1" dirty="0"/>
              <a:t>天的</a:t>
            </a:r>
            <a:r>
              <a:rPr lang="en-US" altLang="zh-TW" b="1" dirty="0"/>
              <a:t>S0</a:t>
            </a:r>
            <a:r>
              <a:rPr lang="zh-TW" altLang="en-US" b="1" dirty="0"/>
              <a:t>的樣本標準差，代表已發生的震盪幅度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b="1" dirty="0">
                <a:solidFill>
                  <a:schemeClr val="accent4"/>
                </a:solidFill>
              </a:rPr>
              <a:t>波動率風險溢酬 </a:t>
            </a:r>
            <a:r>
              <a:rPr lang="en-US" altLang="zh-TW" b="1" dirty="0">
                <a:solidFill>
                  <a:schemeClr val="accent4"/>
                </a:solidFill>
              </a:rPr>
              <a:t>(VRP)</a:t>
            </a:r>
            <a:r>
              <a:rPr lang="zh-TW" altLang="en-US" b="1" dirty="0">
                <a:solidFill>
                  <a:schemeClr val="accent4"/>
                </a:solidFill>
              </a:rPr>
              <a:t>：</a:t>
            </a:r>
            <a:r>
              <a:rPr lang="zh-TW" altLang="en-US" b="1" dirty="0"/>
              <a:t>代表市場為了防範未來未知風險，願意比「歷史真實波動」多付出的溢價。</a:t>
            </a:r>
            <a:endParaRPr lang="en-US" altLang="zh-TW" b="1" dirty="0"/>
          </a:p>
          <a:p>
            <a:r>
              <a:rPr lang="zh-TW" altLang="en-US" b="1" dirty="0">
                <a:solidFill>
                  <a:schemeClr val="accent4"/>
                </a:solidFill>
              </a:rPr>
              <a:t>乖離率 </a:t>
            </a:r>
            <a:r>
              <a:rPr lang="en-US" altLang="zh-TW" b="1" dirty="0">
                <a:solidFill>
                  <a:schemeClr val="accent4"/>
                </a:solidFill>
              </a:rPr>
              <a:t>(BIAS)</a:t>
            </a:r>
            <a:r>
              <a:rPr lang="zh-TW" altLang="en-US" b="1" dirty="0">
                <a:solidFill>
                  <a:schemeClr val="accent4"/>
                </a:solidFill>
              </a:rPr>
              <a:t>：</a:t>
            </a:r>
            <a:r>
              <a:rPr lang="zh-TW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正乖離過大暗示超買（隨時回落）；負乖離過大暗示超賣（醞釀反彈）</a:t>
            </a:r>
            <a:br>
              <a:rPr lang="en-US" altLang="zh-TW" b="1" dirty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31422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BBE038-CD39-B7A3-1F0C-14C458A20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2023 </a:t>
            </a:r>
            <a:r>
              <a:rPr lang="zh-TW" altLang="en-US" dirty="0"/>
              <a:t>年：</a:t>
            </a:r>
            <a:r>
              <a:rPr lang="en-US" altLang="zh-TW" dirty="0"/>
              <a:t>AI </a:t>
            </a:r>
            <a:r>
              <a:rPr lang="zh-TW" altLang="en-US" dirty="0"/>
              <a:t>元年與強勁復甦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6969BE-48D7-733E-3919-1D90476A4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1 </a:t>
            </a:r>
            <a:r>
              <a:rPr lang="zh-TW" altLang="en-US" dirty="0"/>
              <a:t>月：</a:t>
            </a:r>
            <a:r>
              <a:rPr lang="en-US" altLang="zh-TW" dirty="0"/>
              <a:t>ChatGPT </a:t>
            </a:r>
            <a:r>
              <a:rPr lang="zh-TW" altLang="en-US" dirty="0"/>
              <a:t>熱潮啟動，台股 </a:t>
            </a:r>
            <a:r>
              <a:rPr lang="en-US" altLang="zh-TW" dirty="0"/>
              <a:t>AI </a:t>
            </a:r>
            <a:r>
              <a:rPr lang="zh-TW" altLang="en-US" dirty="0"/>
              <a:t>供應鏈成為全球焦點。</a:t>
            </a:r>
          </a:p>
          <a:p>
            <a:r>
              <a:rPr lang="en-US" altLang="zh-TW" dirty="0"/>
              <a:t> Q2-Q3</a:t>
            </a:r>
            <a:r>
              <a:rPr lang="zh-TW" altLang="en-US" dirty="0"/>
              <a:t>：</a:t>
            </a:r>
            <a:r>
              <a:rPr lang="en-US" altLang="zh-TW" dirty="0"/>
              <a:t>AI </a:t>
            </a:r>
            <a:r>
              <a:rPr lang="zh-TW" altLang="en-US" dirty="0"/>
              <a:t>概念股（緯創、廣達、技嘉）集體噴發，帶動電子族群。</a:t>
            </a:r>
          </a:p>
          <a:p>
            <a:r>
              <a:rPr lang="en-US" altLang="zh-TW" dirty="0"/>
              <a:t> </a:t>
            </a:r>
            <a:r>
              <a:rPr lang="zh-TW" altLang="en-US" dirty="0"/>
              <a:t>全年：高股息 </a:t>
            </a:r>
            <a:r>
              <a:rPr lang="en-US" altLang="zh-TW" dirty="0"/>
              <a:t>ETF</a:t>
            </a:r>
            <a:r>
              <a:rPr lang="zh-TW" altLang="en-US" dirty="0"/>
              <a:t>（</a:t>
            </a:r>
            <a:r>
              <a:rPr lang="en-US" altLang="zh-TW" dirty="0"/>
              <a:t>00878</a:t>
            </a:r>
            <a:r>
              <a:rPr lang="zh-TW" altLang="en-US" dirty="0"/>
              <a:t>、</a:t>
            </a:r>
            <a:r>
              <a:rPr lang="en-US" altLang="zh-TW" dirty="0"/>
              <a:t>00919</a:t>
            </a:r>
            <a:r>
              <a:rPr lang="zh-TW" altLang="en-US" dirty="0"/>
              <a:t>、</a:t>
            </a:r>
            <a:r>
              <a:rPr lang="en-US" altLang="zh-TW" dirty="0"/>
              <a:t>00929</a:t>
            </a:r>
            <a:r>
              <a:rPr lang="zh-TW" altLang="en-US" dirty="0"/>
              <a:t>）規模暴增，內資力量壯大。</a:t>
            </a:r>
          </a:p>
          <a:p>
            <a:r>
              <a:rPr lang="en-US" altLang="zh-TW" dirty="0"/>
              <a:t> 12 </a:t>
            </a:r>
            <a:r>
              <a:rPr lang="zh-TW" altLang="en-US" dirty="0"/>
              <a:t>月：美聯準會暗示升息尾聲，封關收在 </a:t>
            </a:r>
            <a:r>
              <a:rPr lang="en-US" altLang="zh-TW" dirty="0"/>
              <a:t>17,930 </a:t>
            </a:r>
            <a:r>
              <a:rPr lang="zh-TW" altLang="en-US" dirty="0"/>
              <a:t>點，全年漲 </a:t>
            </a:r>
            <a:r>
              <a:rPr lang="en-US" altLang="zh-TW" dirty="0"/>
              <a:t>26%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0039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8573C4-EB6B-5B3D-D556-1D1DD91D6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2024 </a:t>
            </a:r>
            <a:r>
              <a:rPr lang="zh-TW" altLang="en-US" dirty="0"/>
              <a:t>年：衝破兩萬點里程碑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D6D561-C909-45D1-C48D-E4C79D705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 3 </a:t>
            </a:r>
            <a:r>
              <a:rPr lang="zh-TW" altLang="en-US" dirty="0"/>
              <a:t>月：史上首次站上 </a:t>
            </a:r>
            <a:r>
              <a:rPr lang="en-US" altLang="zh-TW" dirty="0"/>
              <a:t>20,000 </a:t>
            </a:r>
            <a:r>
              <a:rPr lang="zh-TW" altLang="en-US" dirty="0"/>
              <a:t>點大關。</a:t>
            </a:r>
          </a:p>
          <a:p>
            <a:r>
              <a:rPr lang="en-US" altLang="zh-TW" dirty="0"/>
              <a:t> 6 </a:t>
            </a:r>
            <a:r>
              <a:rPr lang="zh-TW" altLang="en-US" dirty="0"/>
              <a:t>月：黃仁勳旋風與 </a:t>
            </a:r>
            <a:r>
              <a:rPr lang="en-US" altLang="zh-TW" dirty="0"/>
              <a:t>Computex </a:t>
            </a:r>
            <a:r>
              <a:rPr lang="zh-TW" altLang="en-US" dirty="0"/>
              <a:t>帶動 </a:t>
            </a:r>
            <a:r>
              <a:rPr lang="en-US" altLang="zh-TW" dirty="0"/>
              <a:t>AI </a:t>
            </a:r>
            <a:r>
              <a:rPr lang="zh-TW" altLang="en-US" dirty="0"/>
              <a:t>狂熱，台股直衝 </a:t>
            </a:r>
            <a:r>
              <a:rPr lang="en-US" altLang="zh-TW" dirty="0"/>
              <a:t>23,000 </a:t>
            </a:r>
            <a:r>
              <a:rPr lang="zh-TW" altLang="en-US" dirty="0"/>
              <a:t>點。</a:t>
            </a:r>
          </a:p>
          <a:p>
            <a:r>
              <a:rPr lang="en-US" altLang="zh-TW" dirty="0"/>
              <a:t>7 </a:t>
            </a:r>
            <a:r>
              <a:rPr lang="zh-TW" altLang="en-US" dirty="0"/>
              <a:t>月：台積電股價首度突破 </a:t>
            </a:r>
            <a:r>
              <a:rPr lang="en-US" altLang="zh-TW" dirty="0"/>
              <a:t>1,000 </a:t>
            </a:r>
            <a:r>
              <a:rPr lang="zh-TW" altLang="en-US" dirty="0"/>
              <a:t>元，晉升千金股行列。</a:t>
            </a:r>
          </a:p>
          <a:p>
            <a:r>
              <a:rPr lang="en-US" altLang="zh-TW" dirty="0"/>
              <a:t> 8 </a:t>
            </a:r>
            <a:r>
              <a:rPr lang="zh-TW" altLang="en-US" dirty="0"/>
              <a:t>月：美經濟衰退疑慮引發單日最大跌點（</a:t>
            </a:r>
            <a:r>
              <a:rPr lang="en-US" altLang="zh-TW" dirty="0"/>
              <a:t>1,807 </a:t>
            </a:r>
            <a:r>
              <a:rPr lang="zh-TW" altLang="en-US" dirty="0"/>
              <a:t>點），隨後報復性反彈。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53428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5651C-0A37-4A14-B1D7-64100FFCB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65BFF0-321E-240C-6776-4C0F63926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228" y="330198"/>
            <a:ext cx="9601196" cy="1303867"/>
          </a:xfrm>
        </p:spPr>
        <p:txBody>
          <a:bodyPr/>
          <a:lstStyle/>
          <a:p>
            <a:r>
              <a:rPr lang="zh-TW" altLang="en-US" dirty="0"/>
              <a:t>隱含波動率</a:t>
            </a:r>
            <a:r>
              <a:rPr lang="en-US" altLang="zh-TW" dirty="0"/>
              <a:t>(IV)</a:t>
            </a:r>
            <a:r>
              <a:rPr lang="zh-TW" altLang="en-US" dirty="0"/>
              <a:t>表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72E8D5E6-12DB-1364-0136-C17223BBA6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236"/>
          <a:stretch>
            <a:fillRect/>
          </a:stretch>
        </p:blipFill>
        <p:spPr>
          <a:xfrm>
            <a:off x="1126460" y="1308754"/>
            <a:ext cx="9703964" cy="4818995"/>
          </a:xfrm>
          <a:prstGeom prst="rect">
            <a:avLst/>
          </a:prstGeom>
        </p:spPr>
      </p:pic>
      <p:sp>
        <p:nvSpPr>
          <p:cNvPr id="3" name="矩形: 圓角 2">
            <a:extLst>
              <a:ext uri="{FF2B5EF4-FFF2-40B4-BE49-F238E27FC236}">
                <a16:creationId xmlns:a16="http://schemas.microsoft.com/office/drawing/2014/main" id="{658F30B7-AE46-69D6-6248-1182B2C8438B}"/>
              </a:ext>
            </a:extLst>
          </p:cNvPr>
          <p:cNvSpPr/>
          <p:nvPr/>
        </p:nvSpPr>
        <p:spPr>
          <a:xfrm>
            <a:off x="1930400" y="2851150"/>
            <a:ext cx="1123950" cy="2127250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3AAADB14-EA9B-B48C-20D6-356E6B988EBD}"/>
              </a:ext>
            </a:extLst>
          </p:cNvPr>
          <p:cNvSpPr/>
          <p:nvPr/>
        </p:nvSpPr>
        <p:spPr>
          <a:xfrm>
            <a:off x="3473450" y="3556000"/>
            <a:ext cx="1123950" cy="1555750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5942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F5FC18-2379-5A2A-D739-EB9622835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228" y="330198"/>
            <a:ext cx="9601196" cy="1303867"/>
          </a:xfrm>
        </p:spPr>
        <p:txBody>
          <a:bodyPr/>
          <a:lstStyle/>
          <a:p>
            <a:r>
              <a:rPr lang="zh-TW" altLang="en-US" dirty="0"/>
              <a:t>樣本標準差圖表</a:t>
            </a:r>
          </a:p>
        </p:txBody>
      </p:sp>
      <p:pic>
        <p:nvPicPr>
          <p:cNvPr id="8" name="內容版面配置區 6">
            <a:extLst>
              <a:ext uri="{FF2B5EF4-FFF2-40B4-BE49-F238E27FC236}">
                <a16:creationId xmlns:a16="http://schemas.microsoft.com/office/drawing/2014/main" id="{424FE332-09C6-E24D-6FBB-90941F605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6" t="33118" r="-3006" b="33118"/>
          <a:stretch>
            <a:fillRect/>
          </a:stretch>
        </p:blipFill>
        <p:spPr>
          <a:xfrm>
            <a:off x="1202827" y="1435754"/>
            <a:ext cx="9535023" cy="4735099"/>
          </a:xfrm>
          <a:prstGeom prst="rect">
            <a:avLst/>
          </a:prstGeom>
        </p:spPr>
      </p:pic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EC32157-940F-AD7D-8CD2-049F25DEA525}"/>
              </a:ext>
            </a:extLst>
          </p:cNvPr>
          <p:cNvSpPr/>
          <p:nvPr/>
        </p:nvSpPr>
        <p:spPr>
          <a:xfrm>
            <a:off x="6883400" y="3708053"/>
            <a:ext cx="3162300" cy="1555750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551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7BEE8-99B2-829E-89E4-17882EC52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669B16-FC13-4B41-8EAC-B2255ABC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228" y="330198"/>
            <a:ext cx="9601196" cy="1303867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A5B7CA92-71EA-A700-A076-CAC685E351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2222" b="78395"/>
          <a:stretch>
            <a:fillRect/>
          </a:stretch>
        </p:blipFill>
        <p:spPr>
          <a:xfrm>
            <a:off x="779852" y="1524000"/>
            <a:ext cx="10347441" cy="3955143"/>
          </a:xfrm>
          <a:prstGeom prst="rect">
            <a:avLst/>
          </a:prstGeom>
        </p:spPr>
      </p:pic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4BE357A2-A5AF-95A7-06E6-1B63CC3E4FDA}"/>
              </a:ext>
            </a:extLst>
          </p:cNvPr>
          <p:cNvSpPr/>
          <p:nvPr/>
        </p:nvSpPr>
        <p:spPr>
          <a:xfrm>
            <a:off x="4087090" y="3616036"/>
            <a:ext cx="1205345" cy="1537277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5578C8B5-9CA5-BF75-C86A-1591AEE77297}"/>
              </a:ext>
            </a:extLst>
          </p:cNvPr>
          <p:cNvSpPr/>
          <p:nvPr/>
        </p:nvSpPr>
        <p:spPr>
          <a:xfrm>
            <a:off x="6424468" y="2479964"/>
            <a:ext cx="1583458" cy="2570018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5585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0FF7E-5BEF-7961-641B-1B93206DD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311F94-98D6-881C-38D4-87D3CD596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228" y="330198"/>
            <a:ext cx="9601196" cy="1303867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7CC70908-75AF-D70D-A8E4-97B2C56398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0" t="24970" r="-1590" b="51203"/>
          <a:stretch>
            <a:fillRect/>
          </a:stretch>
        </p:blipFill>
        <p:spPr>
          <a:xfrm>
            <a:off x="779852" y="1524000"/>
            <a:ext cx="10347441" cy="3955143"/>
          </a:xfrm>
          <a:prstGeom prst="rect">
            <a:avLst/>
          </a:prstGeom>
        </p:spPr>
      </p:pic>
      <p:sp>
        <p:nvSpPr>
          <p:cNvPr id="3" name="矩形: 圓角 2">
            <a:extLst>
              <a:ext uri="{FF2B5EF4-FFF2-40B4-BE49-F238E27FC236}">
                <a16:creationId xmlns:a16="http://schemas.microsoft.com/office/drawing/2014/main" id="{ED3310C8-E5BE-F871-3B8A-5F29AD3A5A92}"/>
              </a:ext>
            </a:extLst>
          </p:cNvPr>
          <p:cNvSpPr/>
          <p:nvPr/>
        </p:nvSpPr>
        <p:spPr>
          <a:xfrm>
            <a:off x="4024745" y="2660361"/>
            <a:ext cx="1205345" cy="1537277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8440953C-4426-6B3D-B719-5A07C0C37620}"/>
              </a:ext>
            </a:extLst>
          </p:cNvPr>
          <p:cNvSpPr/>
          <p:nvPr/>
        </p:nvSpPr>
        <p:spPr>
          <a:xfrm>
            <a:off x="6438323" y="2219929"/>
            <a:ext cx="1583458" cy="2570018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7472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91F9C-8A0D-FD39-4FB6-663F27031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AF96E8-D23A-3E48-4C3D-31183F610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228" y="330198"/>
            <a:ext cx="9601196" cy="1303867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41CF0310-6F24-DD99-38FC-B5EFD44B02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737" t="51945" r="737" b="24228"/>
          <a:stretch>
            <a:fillRect/>
          </a:stretch>
        </p:blipFill>
        <p:spPr>
          <a:xfrm>
            <a:off x="779852" y="1524000"/>
            <a:ext cx="10347441" cy="395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229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7E365-A93D-E4E1-3757-68000BEFC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3E736C-21AE-FFC6-5BA1-2FF289FD7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228" y="330198"/>
            <a:ext cx="9601196" cy="1303867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B9FAA3F4-B3CD-D298-D13B-DED0076060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6" t="78789" r="-806" b="-2616"/>
          <a:stretch>
            <a:fillRect/>
          </a:stretch>
        </p:blipFill>
        <p:spPr>
          <a:xfrm>
            <a:off x="779852" y="1524000"/>
            <a:ext cx="10347441" cy="395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135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10579-E1F7-C253-C4DB-64ED978AA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083D8D-68AC-D6D4-C749-2F83032F5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問題與修正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C3E407-3C6B-CF95-0570-33BCC0A18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問題：部分交易日因流動性不足或系統因素，缺乏特定履約價的買權 </a:t>
            </a:r>
            <a:r>
              <a:rPr lang="en-US" altLang="zh-TW" dirty="0"/>
              <a:t>(Call) </a:t>
            </a:r>
            <a:r>
              <a:rPr lang="zh-TW" altLang="en-US" dirty="0"/>
              <a:t>或賣權 </a:t>
            </a:r>
            <a:r>
              <a:rPr lang="en-US" altLang="zh-TW" dirty="0"/>
              <a:t>(Put) </a:t>
            </a:r>
            <a:r>
              <a:rPr lang="zh-TW" altLang="en-US" dirty="0"/>
              <a:t>數值，從而造成重複出現或缺值。</a:t>
            </a:r>
            <a:endParaRPr lang="en-US" altLang="zh-TW" dirty="0"/>
          </a:p>
          <a:p>
            <a:r>
              <a:rPr lang="zh-TW" altLang="en-US" dirty="0"/>
              <a:t>解決：</a:t>
            </a:r>
            <a:endParaRPr lang="en-US" altLang="zh-TW" dirty="0"/>
          </a:p>
          <a:p>
            <a:r>
              <a:rPr lang="zh-TW" altLang="en-US" dirty="0"/>
              <a:t>重複值處理： 採取「先存後整」策略。同日出現多次資料時，先完整保留並進行加權相加，確保數據不遺漏。</a:t>
            </a:r>
            <a:endParaRPr lang="en-US" altLang="zh-TW" dirty="0"/>
          </a:p>
          <a:p>
            <a:r>
              <a:rPr lang="zh-TW" altLang="en-US" dirty="0"/>
              <a:t>缺失值過濾：初步保留： 偵測到缺值時先予保留，避免截斷時間序列。</a:t>
            </a:r>
          </a:p>
        </p:txBody>
      </p:sp>
    </p:spTree>
    <p:extLst>
      <p:ext uri="{BB962C8B-B14F-4D97-AF65-F5344CB8AC3E}">
        <p14:creationId xmlns:p14="http://schemas.microsoft.com/office/powerpoint/2010/main" val="32400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CC3F12-AF63-45B2-A97C-FF89FFD11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AI</a:t>
            </a:r>
            <a:r>
              <a:rPr lang="zh-TW" altLang="en-US" dirty="0"/>
              <a:t>協作摘要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9CB983-275F-0BBD-71F1-C3B76B21E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/>
          <a:lstStyle/>
          <a:p>
            <a:pPr marL="0" indent="0">
              <a:buNone/>
            </a:pPr>
            <a:r>
              <a:rPr lang="zh-TW" altLang="en-US" b="1" dirty="0"/>
              <a:t>初始 </a:t>
            </a:r>
            <a:r>
              <a:rPr lang="en-US" altLang="zh-TW" b="1" dirty="0"/>
              <a:t>Prompt</a:t>
            </a:r>
            <a:r>
              <a:rPr lang="zh-TW" altLang="en-US" b="1" dirty="0"/>
              <a:t>：「</a:t>
            </a:r>
            <a:r>
              <a:rPr lang="zh-TW" altLang="en-US" dirty="0"/>
              <a:t>請幫我寫 </a:t>
            </a:r>
            <a:r>
              <a:rPr lang="en-US" altLang="zh-TW" dirty="0"/>
              <a:t>Python </a:t>
            </a:r>
            <a:r>
              <a:rPr lang="zh-TW" altLang="en-US" dirty="0"/>
              <a:t>代碼，讀取兩個 </a:t>
            </a:r>
            <a:r>
              <a:rPr lang="en-US" altLang="zh-TW" dirty="0"/>
              <a:t>CSV </a:t>
            </a:r>
            <a:r>
              <a:rPr lang="zh-TW" altLang="en-US" dirty="0"/>
              <a:t>檔並畫出 </a:t>
            </a:r>
            <a:r>
              <a:rPr lang="en-US" altLang="zh-TW" dirty="0"/>
              <a:t>IV </a:t>
            </a:r>
            <a:r>
              <a:rPr lang="zh-TW" altLang="en-US" dirty="0"/>
              <a:t>與標準差的對比圖。」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b="1" dirty="0"/>
              <a:t>結果</a:t>
            </a:r>
            <a:r>
              <a:rPr lang="zh-TW" altLang="en-US" dirty="0"/>
              <a:t>：產出基本圖形，但缺乏細節，且發生路徑錯誤與標籤重疊問題，且雲端硬碟經常斷線。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b="1" dirty="0"/>
              <a:t>中間修正歷程：</a:t>
            </a:r>
            <a:r>
              <a:rPr lang="zh-TW" altLang="en-US" dirty="0"/>
              <a:t>手動要求解除 </a:t>
            </a:r>
            <a:r>
              <a:rPr lang="en-US" altLang="zh-TW" dirty="0" err="1"/>
              <a:t>sharex</a:t>
            </a:r>
            <a:r>
              <a:rPr lang="en-US" altLang="zh-TW" dirty="0"/>
              <a:t> </a:t>
            </a:r>
            <a:r>
              <a:rPr lang="zh-TW" altLang="en-US" dirty="0"/>
              <a:t>限制、修正 </a:t>
            </a:r>
            <a:r>
              <a:rPr lang="en-US" altLang="zh-TW" dirty="0" err="1"/>
              <a:t>OSError</a:t>
            </a:r>
            <a:r>
              <a:rPr lang="zh-TW" altLang="en-US" dirty="0"/>
              <a:t>（雲端硬碟斷線），加入自動路徑偵測與防錯機制、由單純折線圖進階為「原始數據（淡化）</a:t>
            </a:r>
            <a:r>
              <a:rPr lang="en-US" altLang="zh-TW" dirty="0"/>
              <a:t>+ </a:t>
            </a:r>
            <a:r>
              <a:rPr lang="zh-TW" altLang="en-US" dirty="0"/>
              <a:t>趨勢均線（加粗）」的層次感。</a:t>
            </a:r>
            <a:endParaRPr lang="en-US" altLang="zh-TW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5741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6D00D-0C23-DAC3-6658-AD0FF1B75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FEA00C-9237-8B4E-636F-B3C094F39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AI</a:t>
            </a:r>
            <a:r>
              <a:rPr lang="zh-TW" altLang="en-US" dirty="0"/>
              <a:t>協作摘要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2A3F30-3D1A-D4BF-BB6B-FF1B08226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/>
          <a:lstStyle/>
          <a:p>
            <a:pPr marL="0" indent="0">
              <a:buNone/>
            </a:pPr>
            <a:r>
              <a:rPr lang="zh-TW" altLang="en-US" b="1" dirty="0"/>
              <a:t>中間修正歷程：</a:t>
            </a:r>
            <a:r>
              <a:rPr lang="zh-TW" altLang="en-US" dirty="0"/>
              <a:t>手動要求解除 </a:t>
            </a:r>
            <a:r>
              <a:rPr lang="en-US" altLang="zh-TW" dirty="0" err="1"/>
              <a:t>sharex</a:t>
            </a:r>
            <a:r>
              <a:rPr lang="en-US" altLang="zh-TW" dirty="0"/>
              <a:t> </a:t>
            </a:r>
            <a:r>
              <a:rPr lang="zh-TW" altLang="en-US" dirty="0"/>
              <a:t>限制、修正 </a:t>
            </a:r>
            <a:r>
              <a:rPr lang="en-US" altLang="zh-TW" dirty="0" err="1"/>
              <a:t>OSError</a:t>
            </a:r>
            <a:r>
              <a:rPr lang="zh-TW" altLang="en-US" dirty="0"/>
              <a:t>（雲端硬碟斷線），加入自動路徑偵測與防錯機制、由單純折線圖進階為「原始數據（淡化）</a:t>
            </a:r>
            <a:r>
              <a:rPr lang="en-US" altLang="zh-TW" dirty="0"/>
              <a:t>+ </a:t>
            </a:r>
            <a:r>
              <a:rPr lang="zh-TW" altLang="en-US" dirty="0"/>
              <a:t>趨勢均線（加粗）」的層次感。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b="1" dirty="0"/>
              <a:t>最後最佳 </a:t>
            </a:r>
            <a:r>
              <a:rPr lang="en-US" altLang="zh-TW" b="1" dirty="0"/>
              <a:t>Prompt </a:t>
            </a:r>
            <a:r>
              <a:rPr lang="zh-TW" altLang="en-US" b="1" dirty="0"/>
              <a:t>改進點：請</a:t>
            </a:r>
            <a:r>
              <a:rPr lang="zh-TW" altLang="en-US" dirty="0"/>
              <a:t>使用雲端硬碟及特定路徑，計算出</a:t>
            </a:r>
            <a:r>
              <a:rPr lang="en-US" altLang="zh-TW" dirty="0"/>
              <a:t>VI</a:t>
            </a:r>
            <a:r>
              <a:rPr lang="zh-TW" altLang="en-US" dirty="0"/>
              <a:t>和</a:t>
            </a:r>
            <a:r>
              <a:rPr lang="en-US" altLang="zh-TW" dirty="0"/>
              <a:t>HV</a:t>
            </a:r>
            <a:r>
              <a:rPr lang="zh-TW" altLang="en-US" dirty="0"/>
              <a:t>的比較圖、</a:t>
            </a:r>
            <a:r>
              <a:rPr lang="en-US" altLang="zh-TW" dirty="0"/>
              <a:t>VRP</a:t>
            </a:r>
            <a:r>
              <a:rPr lang="zh-TW" altLang="en-US" dirty="0"/>
              <a:t>、</a:t>
            </a:r>
            <a:r>
              <a:rPr lang="en-US" altLang="zh-TW" dirty="0"/>
              <a:t>PC</a:t>
            </a:r>
            <a:r>
              <a:rPr lang="zh-TW" altLang="en-US" dirty="0"/>
              <a:t> </a:t>
            </a:r>
            <a:r>
              <a:rPr lang="en-US" altLang="zh-TW" dirty="0"/>
              <a:t>Ratio </a:t>
            </a:r>
            <a:r>
              <a:rPr lang="zh-TW" altLang="en-US" dirty="0"/>
              <a:t>乖離率的 </a:t>
            </a:r>
            <a:r>
              <a:rPr lang="en-US" altLang="zh-TW" dirty="0"/>
              <a:t>5MA </a:t>
            </a:r>
            <a:r>
              <a:rPr lang="zh-TW" altLang="en-US" dirty="0"/>
              <a:t>與 </a:t>
            </a:r>
            <a:r>
              <a:rPr lang="en-US" altLang="zh-TW" dirty="0"/>
              <a:t>30MA</a:t>
            </a:r>
            <a:r>
              <a:rPr lang="zh-TW" altLang="en-US" dirty="0"/>
              <a:t>，生成四連圖並強制每半月顯示日期標籤，確保網格清晰。</a:t>
            </a:r>
            <a:endParaRPr lang="en-US" altLang="zh-TW" b="1" dirty="0"/>
          </a:p>
        </p:txBody>
      </p:sp>
    </p:spTree>
    <p:extLst>
      <p:ext uri="{BB962C8B-B14F-4D97-AF65-F5344CB8AC3E}">
        <p14:creationId xmlns:p14="http://schemas.microsoft.com/office/powerpoint/2010/main" val="2805451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7B98D4-3453-53BC-2BE7-10B44CB5B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F5A87B-F9F7-10C9-AEDB-CAAFEB19B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b="1" dirty="0"/>
              <a:t>情緒與現實的共振： </a:t>
            </a:r>
            <a:r>
              <a:rPr lang="en-US" altLang="zh-TW" b="1" dirty="0"/>
              <a:t>2023-2024 </a:t>
            </a:r>
            <a:r>
              <a:rPr lang="zh-TW" altLang="en-US" b="1" dirty="0"/>
              <a:t>年台股漲幅雖大，但隱含波動率 </a:t>
            </a:r>
            <a:r>
              <a:rPr lang="en-US" altLang="zh-TW" b="1" dirty="0"/>
              <a:t>(IV) </a:t>
            </a:r>
            <a:r>
              <a:rPr lang="zh-TW" altLang="en-US" b="1" dirty="0"/>
              <a:t>卻呈現「結構性收斂」，顯示此波 </a:t>
            </a:r>
            <a:r>
              <a:rPr lang="en-US" altLang="zh-TW" b="1" dirty="0"/>
              <a:t>AI </a:t>
            </a:r>
            <a:r>
              <a:rPr lang="zh-TW" altLang="en-US" b="1" dirty="0"/>
              <a:t>狂潮具有紮實的產業基本面支撐，</a:t>
            </a:r>
            <a:endParaRPr lang="en-US" altLang="zh-TW" b="1" dirty="0"/>
          </a:p>
          <a:p>
            <a:r>
              <a:rPr lang="en-US" altLang="zh-TW" b="1" dirty="0"/>
              <a:t>PCR </a:t>
            </a:r>
            <a:r>
              <a:rPr lang="zh-TW" altLang="en-US" b="1" dirty="0"/>
              <a:t>的預警價值： 透過 </a:t>
            </a:r>
            <a:r>
              <a:rPr lang="en-US" altLang="zh-TW" b="1" dirty="0"/>
              <a:t>Put-Call Ratio </a:t>
            </a:r>
            <a:r>
              <a:rPr lang="zh-TW" altLang="en-US" b="1" dirty="0"/>
              <a:t>發現，當指數衝破 </a:t>
            </a:r>
            <a:r>
              <a:rPr lang="en-US" altLang="zh-TW" b="1" dirty="0"/>
              <a:t>23,000 </a:t>
            </a:r>
            <a:r>
              <a:rPr lang="zh-TW" altLang="en-US" b="1" dirty="0"/>
              <a:t>點等關鍵心理水位時，市場情緒往往趨於極端（</a:t>
            </a:r>
            <a:r>
              <a:rPr lang="en-US" altLang="zh-TW" b="1" dirty="0"/>
              <a:t>PCR </a:t>
            </a:r>
            <a:r>
              <a:rPr lang="zh-TW" altLang="en-US" b="1" dirty="0"/>
              <a:t>過低），成為 </a:t>
            </a:r>
            <a:r>
              <a:rPr lang="en-US" altLang="zh-TW" b="1" dirty="0"/>
              <a:t>8 </a:t>
            </a:r>
            <a:r>
              <a:rPr lang="zh-TW" altLang="en-US" b="1" dirty="0"/>
              <a:t>月單日最大跌點前的關鍵預警訊號。</a:t>
            </a:r>
            <a:endParaRPr lang="en-US" altLang="zh-TW" b="1" dirty="0"/>
          </a:p>
          <a:p>
            <a:r>
              <a:rPr lang="zh-TW" altLang="en-US" b="1" dirty="0"/>
              <a:t>避險成本常態化： </a:t>
            </a:r>
            <a:r>
              <a:rPr lang="en-US" altLang="zh-TW" b="1" dirty="0"/>
              <a:t>IV Skew</a:t>
            </a:r>
            <a:r>
              <a:rPr lang="zh-TW" altLang="en-US" b="1" dirty="0"/>
              <a:t>（買賣權價差）長期為正值，反映台股投資人即便在多頭市場中，仍維持高度的風險意識與避險需求</a:t>
            </a:r>
            <a:endParaRPr lang="en-US" altLang="zh-TW" b="1" dirty="0"/>
          </a:p>
          <a:p>
            <a:r>
              <a:rPr lang="en-US" altLang="zh-TW" b="1" dirty="0"/>
              <a:t>AI </a:t>
            </a:r>
            <a:r>
              <a:rPr lang="zh-TW" altLang="en-US" b="1" dirty="0"/>
              <a:t>協作反思： 透過 </a:t>
            </a:r>
            <a:r>
              <a:rPr lang="en-US" altLang="zh-TW" b="1" dirty="0"/>
              <a:t>AI </a:t>
            </a:r>
            <a:r>
              <a:rPr lang="zh-TW" altLang="en-US" b="1" dirty="0"/>
              <a:t>輔助處理大量期權數據，能有效將枯燥的數位轉化為具備「情緒溫度」的分析報告，提升決策的時效性與準確度。</a:t>
            </a:r>
          </a:p>
        </p:txBody>
      </p:sp>
    </p:spTree>
    <p:extLst>
      <p:ext uri="{BB962C8B-B14F-4D97-AF65-F5344CB8AC3E}">
        <p14:creationId xmlns:p14="http://schemas.microsoft.com/office/powerpoint/2010/main" val="3118882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211CE8-EAA9-EA89-703C-477A8FC9A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報告結束 謝謝大家！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BC1B3A-C98D-879A-2066-E89054135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72658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有機">
  <a:themeElements>
    <a:clrScheme name="有機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有機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有機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1134</TotalTime>
  <Words>1070</Words>
  <Application>Microsoft Office PowerPoint</Application>
  <PresentationFormat>寬螢幕</PresentationFormat>
  <Paragraphs>59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3" baseType="lpstr">
      <vt:lpstr>Arial</vt:lpstr>
      <vt:lpstr>Garamond</vt:lpstr>
      <vt:lpstr>有機</vt:lpstr>
      <vt:lpstr>金融資料探勘-第二組</vt:lpstr>
      <vt:lpstr>研究年度2023~2024</vt:lpstr>
      <vt:lpstr>分工</vt:lpstr>
      <vt:lpstr>年份資料系統整合</vt:lpstr>
      <vt:lpstr>資料處理流程與方法</vt:lpstr>
      <vt:lpstr>財務統計與意義</vt:lpstr>
      <vt:lpstr>財務統計與意義</vt:lpstr>
      <vt:lpstr>2023 年：AI 元年與強勁復甦</vt:lpstr>
      <vt:lpstr>2024 年：衝破兩萬點里程碑</vt:lpstr>
      <vt:lpstr>隱含波動率(IV)表</vt:lpstr>
      <vt:lpstr>樣本標準差圖表</vt:lpstr>
      <vt:lpstr>PowerPoint 簡報</vt:lpstr>
      <vt:lpstr>PowerPoint 簡報</vt:lpstr>
      <vt:lpstr>PowerPoint 簡報</vt:lpstr>
      <vt:lpstr>PowerPoint 簡報</vt:lpstr>
      <vt:lpstr>問題與修正</vt:lpstr>
      <vt:lpstr>AI協作摘要</vt:lpstr>
      <vt:lpstr>AI協作摘要</vt:lpstr>
      <vt:lpstr>結論</vt:lpstr>
      <vt:lpstr>報告結束 謝謝大家！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BOWEI 黃</dc:creator>
  <cp:lastModifiedBy>許奕翔</cp:lastModifiedBy>
  <cp:revision>9</cp:revision>
  <dcterms:created xsi:type="dcterms:W3CDTF">2026-04-22T17:17:45Z</dcterms:created>
  <dcterms:modified xsi:type="dcterms:W3CDTF">2026-04-23T14:26:25Z</dcterms:modified>
</cp:coreProperties>
</file>